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2"/>
  </p:notesMasterIdLst>
  <p:sldIdLst>
    <p:sldId id="315" r:id="rId2"/>
    <p:sldId id="381" r:id="rId3"/>
    <p:sldId id="316" r:id="rId4"/>
    <p:sldId id="258" r:id="rId5"/>
    <p:sldId id="348" r:id="rId6"/>
    <p:sldId id="260" r:id="rId7"/>
    <p:sldId id="261" r:id="rId8"/>
    <p:sldId id="262" r:id="rId9"/>
    <p:sldId id="398" r:id="rId10"/>
    <p:sldId id="263" r:id="rId11"/>
    <p:sldId id="388" r:id="rId12"/>
    <p:sldId id="389" r:id="rId13"/>
    <p:sldId id="415" r:id="rId14"/>
    <p:sldId id="416" r:id="rId15"/>
    <p:sldId id="417" r:id="rId16"/>
    <p:sldId id="418" r:id="rId17"/>
    <p:sldId id="419" r:id="rId18"/>
    <p:sldId id="420" r:id="rId19"/>
    <p:sldId id="421" r:id="rId20"/>
    <p:sldId id="422" r:id="rId21"/>
    <p:sldId id="266" r:id="rId22"/>
    <p:sldId id="330" r:id="rId23"/>
    <p:sldId id="329" r:id="rId24"/>
    <p:sldId id="331" r:id="rId25"/>
    <p:sldId id="349" r:id="rId26"/>
    <p:sldId id="350" r:id="rId27"/>
    <p:sldId id="332" r:id="rId28"/>
    <p:sldId id="351" r:id="rId29"/>
    <p:sldId id="333" r:id="rId30"/>
    <p:sldId id="334" r:id="rId31"/>
    <p:sldId id="335" r:id="rId32"/>
    <p:sldId id="376" r:id="rId33"/>
    <p:sldId id="423" r:id="rId34"/>
    <p:sldId id="424" r:id="rId35"/>
    <p:sldId id="426" r:id="rId36"/>
    <p:sldId id="425" r:id="rId37"/>
    <p:sldId id="427" r:id="rId38"/>
    <p:sldId id="428" r:id="rId39"/>
    <p:sldId id="297" r:id="rId40"/>
    <p:sldId id="317" r:id="rId41"/>
    <p:sldId id="410" r:id="rId42"/>
    <p:sldId id="411" r:id="rId43"/>
    <p:sldId id="412" r:id="rId44"/>
    <p:sldId id="413" r:id="rId45"/>
    <p:sldId id="414" r:id="rId46"/>
    <p:sldId id="337" r:id="rId47"/>
    <p:sldId id="284" r:id="rId48"/>
    <p:sldId id="285" r:id="rId49"/>
    <p:sldId id="409" r:id="rId50"/>
    <p:sldId id="287"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434" autoAdjust="0"/>
  </p:normalViewPr>
  <p:slideViewPr>
    <p:cSldViewPr snapToGrid="0">
      <p:cViewPr varScale="1">
        <p:scale>
          <a:sx n="82" d="100"/>
          <a:sy n="82" d="100"/>
        </p:scale>
        <p:origin x="691"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CE501F-CD1C-4216-AE69-36E606679034}" type="datetimeFigureOut">
              <a:rPr lang="en-IN" smtClean="0"/>
              <a:t>25-02-2025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0FFE07-7815-44DB-B341-7D7708DAFEF0}" type="slidenum">
              <a:rPr lang="en-IN" smtClean="0"/>
              <a:t>‹#›</a:t>
            </a:fld>
            <a:endParaRPr lang="en-IN"/>
          </a:p>
        </p:txBody>
      </p:sp>
    </p:spTree>
    <p:extLst>
      <p:ext uri="{BB962C8B-B14F-4D97-AF65-F5344CB8AC3E}">
        <p14:creationId xmlns:p14="http://schemas.microsoft.com/office/powerpoint/2010/main" val="1779099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AC61B8BA-8C01-4062-BDEE-CF2683840E9A}" type="datetimeFigureOut">
              <a:rPr lang="en-IN" smtClean="0"/>
              <a:t>25-02-2025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6A2DE6C-0E8E-4FF2-9EF3-9145EE6F7FF6}" type="slidenum">
              <a:rPr lang="en-IN" smtClean="0"/>
              <a:t>‹#›</a:t>
            </a:fld>
            <a:endParaRPr lang="en-IN"/>
          </a:p>
        </p:txBody>
      </p:sp>
    </p:spTree>
    <p:extLst>
      <p:ext uri="{BB962C8B-B14F-4D97-AF65-F5344CB8AC3E}">
        <p14:creationId xmlns:p14="http://schemas.microsoft.com/office/powerpoint/2010/main" val="17472112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C61B8BA-8C01-4062-BDEE-CF2683840E9A}" type="datetimeFigureOut">
              <a:rPr lang="en-IN" smtClean="0"/>
              <a:t>25-02-2025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6A2DE6C-0E8E-4FF2-9EF3-9145EE6F7FF6}" type="slidenum">
              <a:rPr lang="en-IN" smtClean="0"/>
              <a:t>‹#›</a:t>
            </a:fld>
            <a:endParaRPr lang="en-IN"/>
          </a:p>
        </p:txBody>
      </p:sp>
    </p:spTree>
    <p:extLst>
      <p:ext uri="{BB962C8B-B14F-4D97-AF65-F5344CB8AC3E}">
        <p14:creationId xmlns:p14="http://schemas.microsoft.com/office/powerpoint/2010/main" val="28839319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C61B8BA-8C01-4062-BDEE-CF2683840E9A}" type="datetimeFigureOut">
              <a:rPr lang="en-IN" smtClean="0"/>
              <a:t>25-02-2025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6A2DE6C-0E8E-4FF2-9EF3-9145EE6F7FF6}" type="slidenum">
              <a:rPr lang="en-IN" smtClean="0"/>
              <a:t>‹#›</a:t>
            </a:fld>
            <a:endParaRPr lang="en-IN"/>
          </a:p>
        </p:txBody>
      </p:sp>
    </p:spTree>
    <p:extLst>
      <p:ext uri="{BB962C8B-B14F-4D97-AF65-F5344CB8AC3E}">
        <p14:creationId xmlns:p14="http://schemas.microsoft.com/office/powerpoint/2010/main" val="12019394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AC61B8BA-8C01-4062-BDEE-CF2683840E9A}" type="datetimeFigureOut">
              <a:rPr lang="en-IN" smtClean="0"/>
              <a:t>25-02-2025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6A2DE6C-0E8E-4FF2-9EF3-9145EE6F7FF6}" type="slidenum">
              <a:rPr lang="en-IN" smtClean="0"/>
              <a:t>‹#›</a:t>
            </a:fld>
            <a:endParaRPr lang="en-IN"/>
          </a:p>
        </p:txBody>
      </p:sp>
    </p:spTree>
    <p:extLst>
      <p:ext uri="{BB962C8B-B14F-4D97-AF65-F5344CB8AC3E}">
        <p14:creationId xmlns:p14="http://schemas.microsoft.com/office/powerpoint/2010/main" val="10798823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AC61B8BA-8C01-4062-BDEE-CF2683840E9A}" type="datetimeFigureOut">
              <a:rPr lang="en-IN" smtClean="0"/>
              <a:t>25-02-2025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6A2DE6C-0E8E-4FF2-9EF3-9145EE6F7FF6}" type="slidenum">
              <a:rPr lang="en-IN" smtClean="0"/>
              <a:t>‹#›</a:t>
            </a:fld>
            <a:endParaRPr lang="en-IN"/>
          </a:p>
        </p:txBody>
      </p:sp>
    </p:spTree>
    <p:extLst>
      <p:ext uri="{BB962C8B-B14F-4D97-AF65-F5344CB8AC3E}">
        <p14:creationId xmlns:p14="http://schemas.microsoft.com/office/powerpoint/2010/main" val="2770759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AC61B8BA-8C01-4062-BDEE-CF2683840E9A}" type="datetimeFigureOut">
              <a:rPr lang="en-IN" smtClean="0"/>
              <a:t>25-02-2025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6A2DE6C-0E8E-4FF2-9EF3-9145EE6F7FF6}" type="slidenum">
              <a:rPr lang="en-IN" smtClean="0"/>
              <a:t>‹#›</a:t>
            </a:fld>
            <a:endParaRPr lang="en-IN"/>
          </a:p>
        </p:txBody>
      </p:sp>
    </p:spTree>
    <p:extLst>
      <p:ext uri="{BB962C8B-B14F-4D97-AF65-F5344CB8AC3E}">
        <p14:creationId xmlns:p14="http://schemas.microsoft.com/office/powerpoint/2010/main" val="53702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61B8BA-8C01-4062-BDEE-CF2683840E9A}" type="datetimeFigureOut">
              <a:rPr lang="en-IN" smtClean="0"/>
              <a:t>25-02-2025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6A2DE6C-0E8E-4FF2-9EF3-9145EE6F7FF6}" type="slidenum">
              <a:rPr lang="en-IN" smtClean="0"/>
              <a:t>‹#›</a:t>
            </a:fld>
            <a:endParaRPr lang="en-IN"/>
          </a:p>
        </p:txBody>
      </p:sp>
    </p:spTree>
    <p:extLst>
      <p:ext uri="{BB962C8B-B14F-4D97-AF65-F5344CB8AC3E}">
        <p14:creationId xmlns:p14="http://schemas.microsoft.com/office/powerpoint/2010/main" val="37370127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C61B8BA-8C01-4062-BDEE-CF2683840E9A}" type="datetimeFigureOut">
              <a:rPr lang="en-IN" smtClean="0"/>
              <a:t>25-02-2025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6A2DE6C-0E8E-4FF2-9EF3-9145EE6F7FF6}" type="slidenum">
              <a:rPr lang="en-IN" smtClean="0"/>
              <a:t>‹#›</a:t>
            </a:fld>
            <a:endParaRPr lang="en-IN"/>
          </a:p>
        </p:txBody>
      </p:sp>
    </p:spTree>
    <p:extLst>
      <p:ext uri="{BB962C8B-B14F-4D97-AF65-F5344CB8AC3E}">
        <p14:creationId xmlns:p14="http://schemas.microsoft.com/office/powerpoint/2010/main" val="39274244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C61B8BA-8C01-4062-BDEE-CF2683840E9A}" type="datetimeFigureOut">
              <a:rPr lang="en-IN" smtClean="0"/>
              <a:t>25-02-2025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6A2DE6C-0E8E-4FF2-9EF3-9145EE6F7FF6}" type="slidenum">
              <a:rPr lang="en-IN" smtClean="0"/>
              <a:t>‹#›</a:t>
            </a:fld>
            <a:endParaRPr lang="en-IN"/>
          </a:p>
        </p:txBody>
      </p:sp>
    </p:spTree>
    <p:extLst>
      <p:ext uri="{BB962C8B-B14F-4D97-AF65-F5344CB8AC3E}">
        <p14:creationId xmlns:p14="http://schemas.microsoft.com/office/powerpoint/2010/main" val="39979558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C61B8BA-8C01-4062-BDEE-CF2683840E9A}" type="datetimeFigureOut">
              <a:rPr lang="en-IN" smtClean="0"/>
              <a:t>25-02-2025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6A2DE6C-0E8E-4FF2-9EF3-9145EE6F7FF6}" type="slidenum">
              <a:rPr lang="en-IN" smtClean="0"/>
              <a:t>‹#›</a:t>
            </a:fld>
            <a:endParaRPr lang="en-IN"/>
          </a:p>
        </p:txBody>
      </p:sp>
    </p:spTree>
    <p:extLst>
      <p:ext uri="{BB962C8B-B14F-4D97-AF65-F5344CB8AC3E}">
        <p14:creationId xmlns:p14="http://schemas.microsoft.com/office/powerpoint/2010/main" val="18009985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C61B8BA-8C01-4062-BDEE-CF2683840E9A}" type="datetimeFigureOut">
              <a:rPr lang="en-IN" smtClean="0"/>
              <a:t>25-02-2025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6A2DE6C-0E8E-4FF2-9EF3-9145EE6F7FF6}" type="slidenum">
              <a:rPr lang="en-IN" smtClean="0"/>
              <a:t>‹#›</a:t>
            </a:fld>
            <a:endParaRPr lang="en-IN"/>
          </a:p>
        </p:txBody>
      </p:sp>
    </p:spTree>
    <p:extLst>
      <p:ext uri="{BB962C8B-B14F-4D97-AF65-F5344CB8AC3E}">
        <p14:creationId xmlns:p14="http://schemas.microsoft.com/office/powerpoint/2010/main" val="28868452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C61B8BA-8C01-4062-BDEE-CF2683840E9A}" type="datetimeFigureOut">
              <a:rPr lang="en-IN" smtClean="0"/>
              <a:t>25-02-2025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6A2DE6C-0E8E-4FF2-9EF3-9145EE6F7FF6}" type="slidenum">
              <a:rPr lang="en-IN" smtClean="0"/>
              <a:t>‹#›</a:t>
            </a:fld>
            <a:endParaRPr lang="en-IN"/>
          </a:p>
        </p:txBody>
      </p:sp>
    </p:spTree>
    <p:extLst>
      <p:ext uri="{BB962C8B-B14F-4D97-AF65-F5344CB8AC3E}">
        <p14:creationId xmlns:p14="http://schemas.microsoft.com/office/powerpoint/2010/main" val="11220051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hyperlink" Target="https://www.researchgate.net/" TargetMode="External"/><Relationship Id="rId2" Type="http://schemas.openxmlformats.org/officeDocument/2006/relationships/hyperlink" Target="https://scholar.google.com/" TargetMode="External"/><Relationship Id="rId1" Type="http://schemas.openxmlformats.org/officeDocument/2006/relationships/slideLayout" Target="../slideLayouts/slideLayout2.xml"/><Relationship Id="rId6" Type="http://schemas.openxmlformats.org/officeDocument/2006/relationships/hyperlink" Target="https://www.sciencedirect.com/" TargetMode="External"/><Relationship Id="rId5" Type="http://schemas.openxmlformats.org/officeDocument/2006/relationships/hyperlink" Target="https://link.springer.com/" TargetMode="External"/><Relationship Id="rId4" Type="http://schemas.openxmlformats.org/officeDocument/2006/relationships/hyperlink" Target="https://arxiv.org/"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2963" y="2238408"/>
            <a:ext cx="10515600" cy="2063135"/>
          </a:xfrm>
        </p:spPr>
        <p:txBody>
          <a:bodyPr>
            <a:noAutofit/>
          </a:bodyPr>
          <a:lstStyle/>
          <a:p>
            <a:pPr algn="ctr">
              <a:lnSpc>
                <a:spcPct val="150000"/>
              </a:lnSpc>
            </a:pPr>
            <a:r>
              <a:rPr lang="en-IN" sz="4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E-Commerce Detection and Deletion of Fake Product and Service Review</a:t>
            </a: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591657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64540"/>
            <a:ext cx="10515600" cy="1325563"/>
          </a:xfrm>
        </p:spPr>
        <p:txBody>
          <a:bodyPr>
            <a:normAutofit/>
          </a:bodyPr>
          <a:lstStyle/>
          <a:p>
            <a:pPr algn="ctr"/>
            <a:r>
              <a:rPr lang="en-IN" b="1" dirty="0">
                <a:latin typeface="Times New Roman" panose="02020603050405020304" pitchFamily="18" charset="0"/>
                <a:cs typeface="Times New Roman" panose="02020603050405020304" pitchFamily="18" charset="0"/>
              </a:rPr>
              <a:t>Domain Introduction</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12124" y="1326524"/>
            <a:ext cx="11311407" cy="5225119"/>
          </a:xfrm>
        </p:spPr>
        <p:txBody>
          <a:bodyPr>
            <a:normAutofit lnSpcReduction="10000"/>
          </a:bodyPr>
          <a:lstStyle/>
          <a:p>
            <a:pPr marL="342900" indent="-342900" algn="just">
              <a:lnSpc>
                <a:spcPct val="150000"/>
              </a:lnSpc>
            </a:pPr>
            <a:r>
              <a:rPr lang="en-IN" sz="2000" b="1" i="1" dirty="0">
                <a:latin typeface="Times New Roman" panose="02020603050405020304" pitchFamily="18" charset="0"/>
                <a:ea typeface="Tahoma" panose="020B0604030504040204" pitchFamily="34" charset="0"/>
                <a:cs typeface="Times New Roman" panose="02020603050405020304" pitchFamily="18" charset="0"/>
              </a:rPr>
              <a:t>Machine learning and data mining </a:t>
            </a:r>
            <a:r>
              <a:rPr lang="en-IN" sz="2000" dirty="0">
                <a:latin typeface="Times New Roman" panose="02020603050405020304" pitchFamily="18" charset="0"/>
                <a:ea typeface="Tahoma" panose="020B0604030504040204" pitchFamily="34" charset="0"/>
                <a:cs typeface="Times New Roman" panose="02020603050405020304" pitchFamily="18" charset="0"/>
              </a:rPr>
              <a:t>are interconnected domains that play a pivotal role in extracting meaningful patterns and insights from vast amounts of data. </a:t>
            </a:r>
          </a:p>
          <a:p>
            <a:pPr marL="342900" indent="-342900" algn="just">
              <a:lnSpc>
                <a:spcPct val="150000"/>
              </a:lnSpc>
            </a:pPr>
            <a:r>
              <a:rPr lang="en-IN" sz="2000" dirty="0">
                <a:latin typeface="Times New Roman" panose="02020603050405020304" pitchFamily="18" charset="0"/>
                <a:ea typeface="Tahoma" panose="020B0604030504040204" pitchFamily="34" charset="0"/>
                <a:cs typeface="Times New Roman" panose="02020603050405020304" pitchFamily="18" charset="0"/>
              </a:rPr>
              <a:t>Machine learning, a subset of artificial intelligence, involves the development of algorithms that enable computers to learn from and make predictions or decisions based on data. It focuses on building models that improve their performance as they are exposed to more data over time. </a:t>
            </a:r>
          </a:p>
          <a:p>
            <a:pPr marL="342900" indent="-342900" algn="just">
              <a:lnSpc>
                <a:spcPct val="150000"/>
              </a:lnSpc>
            </a:pPr>
            <a:r>
              <a:rPr lang="en-IN" sz="2000" dirty="0">
                <a:latin typeface="Times New Roman" panose="02020603050405020304" pitchFamily="18" charset="0"/>
                <a:ea typeface="Tahoma" panose="020B0604030504040204" pitchFamily="34" charset="0"/>
                <a:cs typeface="Times New Roman" panose="02020603050405020304" pitchFamily="18" charset="0"/>
              </a:rPr>
              <a:t>Data mining, on the other hand, involves exploring and analyzing large datasets to discover patterns, trends, and relationships that were previously unknown. It uses techniques from statistics, machine learning, and database systems to identify these insights.</a:t>
            </a:r>
          </a:p>
          <a:p>
            <a:pPr marL="342900" indent="-342900" algn="just">
              <a:lnSpc>
                <a:spcPct val="150000"/>
              </a:lnSpc>
            </a:pPr>
            <a:r>
              <a:rPr lang="en-IN" sz="2000" dirty="0">
                <a:latin typeface="Times New Roman" panose="02020603050405020304" pitchFamily="18" charset="0"/>
                <a:ea typeface="Tahoma" panose="020B0604030504040204" pitchFamily="34" charset="0"/>
                <a:cs typeface="Times New Roman" panose="02020603050405020304" pitchFamily="18" charset="0"/>
              </a:rPr>
              <a:t>Together, machine learning and data mining drive advancements in various fields such as healthcare, finance, marketing, and social media analytics by enabling predictive modeling, customer segmentation, anomaly detection, and much more, ultimately facilitating data-driven decision-making and innovation.</a:t>
            </a:r>
            <a:endParaRPr lang="en-US" sz="200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35079497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64540"/>
            <a:ext cx="10515600" cy="1325563"/>
          </a:xfrm>
        </p:spPr>
        <p:txBody>
          <a:bodyPr>
            <a:normAutofit/>
          </a:bodyPr>
          <a:lstStyle/>
          <a:p>
            <a:pPr algn="ctr"/>
            <a:r>
              <a:rPr lang="en-IN" b="1" dirty="0">
                <a:latin typeface="Times New Roman" panose="02020603050405020304" pitchFamily="18" charset="0"/>
                <a:cs typeface="Times New Roman" panose="02020603050405020304" pitchFamily="18" charset="0"/>
              </a:rPr>
              <a:t>Abstract</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99246" y="1339403"/>
            <a:ext cx="11324286" cy="5212240"/>
          </a:xfrm>
        </p:spPr>
        <p:txBody>
          <a:bodyPr>
            <a:normAutofit/>
          </a:bodyPr>
          <a:lstStyle/>
          <a:p>
            <a:pPr marL="342900" indent="-342900" algn="just">
              <a:lnSpc>
                <a:spcPct val="150000"/>
              </a:lnSpc>
            </a:pPr>
            <a:r>
              <a:rPr lang="en-IN" sz="2000" dirty="0">
                <a:latin typeface="Times New Roman" panose="02020603050405020304" pitchFamily="18" charset="0"/>
                <a:ea typeface="Tahoma" panose="020B0604030504040204" pitchFamily="34" charset="0"/>
                <a:cs typeface="Times New Roman" panose="02020603050405020304" pitchFamily="18" charset="0"/>
              </a:rPr>
              <a:t>The project focuses on detecting and deleting fake product and service reviews from e-commerce platforms, specifically using the Amazon product review dataset. It aims to enhance the credibility of product reviews by identifying and removing misleading or fraudulent feedback.</a:t>
            </a:r>
          </a:p>
          <a:p>
            <a:pPr marL="342900" indent="-342900" algn="just">
              <a:lnSpc>
                <a:spcPct val="150000"/>
              </a:lnSpc>
            </a:pPr>
            <a:r>
              <a:rPr lang="en-IN" sz="2000" dirty="0">
                <a:latin typeface="Times New Roman" panose="02020603050405020304" pitchFamily="18" charset="0"/>
                <a:ea typeface="Tahoma" panose="020B0604030504040204" pitchFamily="34" charset="0"/>
                <a:cs typeface="Times New Roman" panose="02020603050405020304" pitchFamily="18" charset="0"/>
              </a:rPr>
              <a:t>The approach employs three machine learning algorithms for classification—Logistic Regression, a hybrid model combining Decision Tree and Random Forest, and an additional classification technique. These algorithms are trained to distinguish between fake and genuine reviews based on various features extracted from the dataset.</a:t>
            </a:r>
          </a:p>
          <a:p>
            <a:pPr marL="342900" indent="-342900" algn="just">
              <a:lnSpc>
                <a:spcPct val="150000"/>
              </a:lnSpc>
            </a:pPr>
            <a:r>
              <a:rPr lang="en-IN" sz="2000" dirty="0">
                <a:latin typeface="Times New Roman" panose="02020603050405020304" pitchFamily="18" charset="0"/>
                <a:ea typeface="Tahoma" panose="020B0604030504040204" pitchFamily="34" charset="0"/>
                <a:cs typeface="Times New Roman" panose="02020603050405020304" pitchFamily="18" charset="0"/>
              </a:rPr>
              <a:t>The system classifies reviews into 'fake' or 'real' categories. Fake reviews are flagged and removed from the dataset, ensuring that only authentic feedback remains, which contributes to more reliable consumer decision-making in the e-commerce ecosystem.</a:t>
            </a: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5791647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b="1" dirty="0">
                <a:latin typeface="Times New Roman" panose="02020603050405020304" pitchFamily="18" charset="0"/>
                <a:cs typeface="Times New Roman" panose="02020603050405020304" pitchFamily="18" charset="0"/>
              </a:rPr>
              <a:t>Objectives</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28033" y="1690688"/>
            <a:ext cx="11191741" cy="4658597"/>
          </a:xfrm>
        </p:spPr>
        <p:txBody>
          <a:bodyPr>
            <a:normAutofit lnSpcReduction="10000"/>
          </a:bodyPr>
          <a:lstStyle/>
          <a:p>
            <a:pPr marL="0" indent="0" algn="just">
              <a:lnSpc>
                <a:spcPct val="150000"/>
              </a:lnSpc>
              <a:buClr>
                <a:schemeClr val="tx1"/>
              </a:buClr>
              <a:buNone/>
            </a:pPr>
            <a:r>
              <a:rPr lang="en-US" sz="2000" dirty="0">
                <a:latin typeface="Times New Roman" panose="02020603050405020304" pitchFamily="18" charset="0"/>
                <a:ea typeface="Tahoma" panose="020B0604030504040204" pitchFamily="34" charset="0"/>
                <a:cs typeface="Times New Roman" panose="02020603050405020304" pitchFamily="18" charset="0"/>
              </a:rPr>
              <a:t>The main objective of our process is, </a:t>
            </a:r>
            <a:endParaRPr lang="en-IN" sz="2000" dirty="0">
              <a:latin typeface="Times New Roman" panose="02020603050405020304" pitchFamily="18" charset="0"/>
              <a:ea typeface="Tahoma" panose="020B0604030504040204" pitchFamily="34" charset="0"/>
              <a:cs typeface="Times New Roman" panose="02020603050405020304" pitchFamily="18" charset="0"/>
            </a:endParaRPr>
          </a:p>
          <a:p>
            <a:pPr algn="just">
              <a:lnSpc>
                <a:spcPct val="150000"/>
              </a:lnSpc>
              <a:buClr>
                <a:schemeClr val="tx1"/>
              </a:buClr>
            </a:pPr>
            <a:r>
              <a:rPr lang="en-IN" sz="2000" dirty="0">
                <a:latin typeface="Times New Roman" panose="02020603050405020304" pitchFamily="18" charset="0"/>
                <a:ea typeface="Tahoma" panose="020B0604030504040204" pitchFamily="34" charset="0"/>
                <a:cs typeface="Times New Roman" panose="02020603050405020304" pitchFamily="18" charset="0"/>
              </a:rPr>
              <a:t>To develop a system that can accurately classify product reviews as either fake or real using machine learning algorithms.</a:t>
            </a:r>
          </a:p>
          <a:p>
            <a:pPr algn="just">
              <a:lnSpc>
                <a:spcPct val="150000"/>
              </a:lnSpc>
              <a:buClr>
                <a:schemeClr val="tx1"/>
              </a:buClr>
            </a:pPr>
            <a:r>
              <a:rPr lang="en-IN" sz="2000" dirty="0">
                <a:latin typeface="Times New Roman" panose="02020603050405020304" pitchFamily="18" charset="0"/>
                <a:ea typeface="Tahoma" panose="020B0604030504040204" pitchFamily="34" charset="0"/>
                <a:cs typeface="Times New Roman" panose="02020603050405020304" pitchFamily="18" charset="0"/>
              </a:rPr>
              <a:t>To implement and compare the performance of three different machine learning models—Logistic Regression, Hybrid Decision Tree and Random Forest—on the Amazon product review dataset.</a:t>
            </a:r>
          </a:p>
          <a:p>
            <a:pPr algn="just">
              <a:lnSpc>
                <a:spcPct val="150000"/>
              </a:lnSpc>
              <a:buClr>
                <a:schemeClr val="tx1"/>
              </a:buClr>
            </a:pPr>
            <a:r>
              <a:rPr lang="en-IN" sz="2000" dirty="0">
                <a:latin typeface="Times New Roman" panose="02020603050405020304" pitchFamily="18" charset="0"/>
                <a:ea typeface="Tahoma" panose="020B0604030504040204" pitchFamily="34" charset="0"/>
                <a:cs typeface="Times New Roman" panose="02020603050405020304" pitchFamily="18" charset="0"/>
              </a:rPr>
              <a:t>To automatically identify and delete fake reviews from the dataset, improving the authenticity and reliability of product feedback.</a:t>
            </a:r>
          </a:p>
          <a:p>
            <a:pPr algn="just">
              <a:lnSpc>
                <a:spcPct val="150000"/>
              </a:lnSpc>
              <a:buClr>
                <a:schemeClr val="tx1"/>
              </a:buClr>
            </a:pPr>
            <a:r>
              <a:rPr lang="en-IN" sz="2000" dirty="0">
                <a:latin typeface="Times New Roman" panose="02020603050405020304" pitchFamily="18" charset="0"/>
                <a:ea typeface="Tahoma" panose="020B0604030504040204" pitchFamily="34" charset="0"/>
                <a:cs typeface="Times New Roman" panose="02020603050405020304" pitchFamily="18" charset="0"/>
              </a:rPr>
              <a:t>To contribute to improving the trustworthiness of online product reviews, enabling consumers to make better purchasing decisions based on genuine reviews.</a:t>
            </a: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9190392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64540"/>
            <a:ext cx="10515600" cy="1325563"/>
          </a:xfrm>
        </p:spPr>
        <p:txBody>
          <a:bodyPr>
            <a:normAutofit/>
          </a:bodyPr>
          <a:lstStyle/>
          <a:p>
            <a:pPr algn="ctr"/>
            <a:r>
              <a:rPr lang="en-IN" b="1" dirty="0">
                <a:latin typeface="Times New Roman" panose="02020603050405020304" pitchFamily="18" charset="0"/>
                <a:cs typeface="Times New Roman" panose="02020603050405020304" pitchFamily="18" charset="0"/>
              </a:rPr>
              <a:t>Introduction</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33857" y="1416675"/>
            <a:ext cx="11324286" cy="4971245"/>
          </a:xfrm>
        </p:spPr>
        <p:txBody>
          <a:bodyPr>
            <a:normAutofit lnSpcReduction="10000"/>
          </a:bodyPr>
          <a:lstStyle/>
          <a:p>
            <a:pPr marL="342900" indent="-342900" algn="just">
              <a:lnSpc>
                <a:spcPct val="150000"/>
              </a:lnSpc>
            </a:pPr>
            <a:r>
              <a:rPr lang="en-IN" sz="2000" dirty="0">
                <a:latin typeface="Times New Roman" panose="02020603050405020304" pitchFamily="18" charset="0"/>
                <a:cs typeface="Times New Roman" panose="02020603050405020304" pitchFamily="18" charset="0"/>
              </a:rPr>
              <a:t>In the digital age, online reviews have become an essential part of the consumer decision-making process. E-commerce platforms, such as Amazon, rely heavily on customer reviews to provide potential buyers with insights into product quality and seller performance.</a:t>
            </a:r>
          </a:p>
          <a:p>
            <a:pPr marL="342900" indent="-342900" algn="just">
              <a:lnSpc>
                <a:spcPct val="150000"/>
              </a:lnSpc>
            </a:pPr>
            <a:r>
              <a:rPr lang="en-IN" sz="2000" dirty="0">
                <a:latin typeface="Times New Roman" panose="02020603050405020304" pitchFamily="18" charset="0"/>
                <a:cs typeface="Times New Roman" panose="02020603050405020304" pitchFamily="18" charset="0"/>
              </a:rPr>
              <a:t>In the age of e-commerce, online product reviews play a crucial role in shaping consumer decisions. However, the increasing prevalence of fake and misleading reviews has become a major concern for both consumers and businesses. </a:t>
            </a:r>
          </a:p>
          <a:p>
            <a:pPr marL="342900" indent="-342900" algn="just">
              <a:lnSpc>
                <a:spcPct val="150000"/>
              </a:lnSpc>
            </a:pPr>
            <a:r>
              <a:rPr lang="en-IN" sz="2000" dirty="0">
                <a:latin typeface="Times New Roman" panose="02020603050405020304" pitchFamily="18" charset="0"/>
                <a:cs typeface="Times New Roman" panose="02020603050405020304" pitchFamily="18" charset="0"/>
              </a:rPr>
              <a:t>Fake reviews can significantly distort product ratings, leading to skewed perceptions and potentially damaging the reputation of sellers and platforms. </a:t>
            </a:r>
          </a:p>
          <a:p>
            <a:pPr marL="342900" indent="-342900" algn="just">
              <a:lnSpc>
                <a:spcPct val="150000"/>
              </a:lnSpc>
            </a:pPr>
            <a:r>
              <a:rPr lang="en-IN" sz="2000" dirty="0">
                <a:latin typeface="Times New Roman" panose="02020603050405020304" pitchFamily="18" charset="0"/>
                <a:cs typeface="Times New Roman" panose="02020603050405020304" pitchFamily="18" charset="0"/>
              </a:rPr>
              <a:t>This project aims to address this issue by developing a system for detecting and eliminating fake reviews from e-commerce platforms, specifically focusing on the Amazon product review dataset.</a:t>
            </a:r>
          </a:p>
          <a:p>
            <a:pPr marL="342900" indent="-342900" algn="just">
              <a:lnSpc>
                <a:spcPct val="150000"/>
              </a:lnSpc>
            </a:pPr>
            <a:endParaRPr lang="en-US" sz="200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158487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7462"/>
            <a:ext cx="10515600" cy="1325563"/>
          </a:xfrm>
        </p:spPr>
        <p:txBody>
          <a:bodyPr>
            <a:normAutofit/>
          </a:bodyPr>
          <a:lstStyle/>
          <a:p>
            <a:pPr algn="ctr"/>
            <a:r>
              <a:rPr lang="en-US" b="1" dirty="0">
                <a:latin typeface="Times New Roman" panose="02020603050405020304" pitchFamily="18" charset="0"/>
                <a:cs typeface="Times New Roman" panose="02020603050405020304" pitchFamily="18" charset="0"/>
              </a:rPr>
              <a:t>Existing system</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74523" y="1503025"/>
            <a:ext cx="11283887" cy="4794744"/>
          </a:xfrm>
        </p:spPr>
        <p:txBody>
          <a:bodyPr>
            <a:normAutofit/>
          </a:bodyPr>
          <a:lstStyle/>
          <a:p>
            <a:pPr algn="just">
              <a:lnSpc>
                <a:spcPct val="150000"/>
              </a:lnSpc>
              <a:buClr>
                <a:schemeClr val="tx1"/>
              </a:buClr>
            </a:pPr>
            <a:r>
              <a:rPr lang="en-IN" sz="2000" dirty="0">
                <a:latin typeface="Times New Roman" panose="02020603050405020304" pitchFamily="18" charset="0"/>
                <a:cs typeface="Times New Roman" panose="02020603050405020304" pitchFamily="18" charset="0"/>
              </a:rPr>
              <a:t>In existing system, Fake product review of social media has evolved through various approaches, each with its strengths and limitations.</a:t>
            </a:r>
          </a:p>
          <a:p>
            <a:pPr algn="just">
              <a:lnSpc>
                <a:spcPct val="150000"/>
              </a:lnSpc>
              <a:buClr>
                <a:schemeClr val="tx1"/>
              </a:buClr>
            </a:pPr>
            <a:r>
              <a:rPr lang="en-IN" sz="2000" dirty="0">
                <a:latin typeface="Times New Roman" panose="02020603050405020304" pitchFamily="18" charset="0"/>
                <a:cs typeface="Times New Roman" panose="02020603050405020304" pitchFamily="18" charset="0"/>
              </a:rPr>
              <a:t> Traditional review analysis systems often rely on rule-based methods or simpler machine learning algorithms. </a:t>
            </a:r>
          </a:p>
          <a:p>
            <a:pPr algn="just">
              <a:lnSpc>
                <a:spcPct val="150000"/>
              </a:lnSpc>
              <a:buClr>
                <a:schemeClr val="tx1"/>
              </a:buClr>
            </a:pPr>
            <a:r>
              <a:rPr lang="en-IN" sz="2000" dirty="0">
                <a:latin typeface="Times New Roman" panose="02020603050405020304" pitchFamily="18" charset="0"/>
                <a:cs typeface="Times New Roman" panose="02020603050405020304" pitchFamily="18" charset="0"/>
              </a:rPr>
              <a:t>Rule-based systems use predefined lists of words and phrases associated with fake or real product reviews. </a:t>
            </a:r>
          </a:p>
          <a:p>
            <a:pPr algn="just">
              <a:lnSpc>
                <a:spcPct val="150000"/>
              </a:lnSpc>
              <a:buClr>
                <a:schemeClr val="tx1"/>
              </a:buClr>
            </a:pPr>
            <a:r>
              <a:rPr lang="en-IN" sz="2000" dirty="0">
                <a:latin typeface="Times New Roman" panose="02020603050405020304" pitchFamily="18" charset="0"/>
                <a:cs typeface="Times New Roman" panose="02020603050405020304" pitchFamily="18" charset="0"/>
              </a:rPr>
              <a:t>These systems, while straightforward and easy to implement, face significant limitations. </a:t>
            </a:r>
          </a:p>
          <a:p>
            <a:pPr algn="just">
              <a:lnSpc>
                <a:spcPct val="150000"/>
              </a:lnSpc>
              <a:buClr>
                <a:schemeClr val="tx1"/>
              </a:buClr>
            </a:pPr>
            <a:r>
              <a:rPr lang="en-IN" sz="2000" dirty="0">
                <a:latin typeface="Times New Roman" panose="02020603050405020304" pitchFamily="18" charset="0"/>
                <a:cs typeface="Times New Roman" panose="02020603050405020304" pitchFamily="18" charset="0"/>
              </a:rPr>
              <a:t>They struggle with the informal and diverse nature of social media language, such as slang, abbreviations, and </a:t>
            </a:r>
            <a:r>
              <a:rPr lang="en-IN" sz="2000" dirty="0" err="1">
                <a:latin typeface="Times New Roman" panose="02020603050405020304" pitchFamily="18" charset="0"/>
                <a:cs typeface="Times New Roman" panose="02020603050405020304" pitchFamily="18" charset="0"/>
              </a:rPr>
              <a:t>emojis</a:t>
            </a:r>
            <a:r>
              <a:rPr lang="en-IN" sz="2000" dirty="0">
                <a:latin typeface="Times New Roman" panose="02020603050405020304" pitchFamily="18" charset="0"/>
                <a:cs typeface="Times New Roman" panose="02020603050405020304" pitchFamily="18" charset="0"/>
              </a:rPr>
              <a:t>, which can lead to inaccurate review classification</a:t>
            </a: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24842681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a:latin typeface="Times New Roman" panose="02020603050405020304" pitchFamily="18" charset="0"/>
                <a:cs typeface="Times New Roman" panose="02020603050405020304" pitchFamily="18" charset="0"/>
              </a:rPr>
              <a:t>Disadvantages</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86367" y="1403798"/>
            <a:ext cx="11333408" cy="5074276"/>
          </a:xfrm>
        </p:spPr>
        <p:txBody>
          <a:bodyPr/>
          <a:lstStyle/>
          <a:p>
            <a:pPr lvl="0" algn="just">
              <a:lnSpc>
                <a:spcPct val="150000"/>
              </a:lnSpc>
            </a:pPr>
            <a:r>
              <a:rPr lang="en-IN" sz="2000" dirty="0">
                <a:latin typeface="Times New Roman" panose="02020603050405020304" pitchFamily="18" charset="0"/>
                <a:cs typeface="Times New Roman" panose="02020603050405020304" pitchFamily="18" charset="0"/>
              </a:rPr>
              <a:t>Struggle with informal language, slang, abbreviations, and </a:t>
            </a:r>
            <a:r>
              <a:rPr lang="en-IN" sz="2000" dirty="0" err="1">
                <a:latin typeface="Times New Roman" panose="02020603050405020304" pitchFamily="18" charset="0"/>
                <a:cs typeface="Times New Roman" panose="02020603050405020304" pitchFamily="18" charset="0"/>
              </a:rPr>
              <a:t>emojis</a:t>
            </a:r>
            <a:r>
              <a:rPr lang="en-IN" sz="2000" dirty="0">
                <a:latin typeface="Times New Roman" panose="02020603050405020304" pitchFamily="18" charset="0"/>
                <a:cs typeface="Times New Roman" panose="02020603050405020304" pitchFamily="18" charset="0"/>
              </a:rPr>
              <a:t> commonly used in social media.</a:t>
            </a:r>
          </a:p>
          <a:p>
            <a:pPr lvl="0" algn="just">
              <a:lnSpc>
                <a:spcPct val="150000"/>
              </a:lnSpc>
            </a:pPr>
            <a:r>
              <a:rPr lang="en-IN" sz="2000" dirty="0">
                <a:latin typeface="Times New Roman" panose="02020603050405020304" pitchFamily="18" charset="0"/>
                <a:cs typeface="Times New Roman" panose="02020603050405020304" pitchFamily="18" charset="0"/>
              </a:rPr>
              <a:t>Lack the ability to understand the context or nuances of sentiment expressions, leading to potential misclassifications.</a:t>
            </a:r>
          </a:p>
          <a:p>
            <a:pPr lvl="0" algn="just">
              <a:lnSpc>
                <a:spcPct val="150000"/>
              </a:lnSpc>
            </a:pPr>
            <a:r>
              <a:rPr lang="en-IN" sz="2000" dirty="0">
                <a:latin typeface="Times New Roman" panose="02020603050405020304" pitchFamily="18" charset="0"/>
                <a:cs typeface="Times New Roman" panose="02020603050405020304" pitchFamily="18" charset="0"/>
              </a:rPr>
              <a:t>Require extensive manual effort to create and maintain sentiment lexicons and rules.</a:t>
            </a:r>
          </a:p>
          <a:p>
            <a:pPr lvl="0" algn="just">
              <a:lnSpc>
                <a:spcPct val="150000"/>
              </a:lnSpc>
            </a:pPr>
            <a:r>
              <a:rPr lang="en-IN" sz="2000" dirty="0">
                <a:latin typeface="Times New Roman" panose="02020603050405020304" pitchFamily="18" charset="0"/>
                <a:cs typeface="Times New Roman" panose="02020603050405020304" pitchFamily="18" charset="0"/>
              </a:rPr>
              <a:t>Difficulty in scaling to handle large volumes of diverse text data efficiently.</a:t>
            </a:r>
          </a:p>
          <a:p>
            <a:pPr lvl="0" algn="just">
              <a:lnSpc>
                <a:spcPct val="150000"/>
              </a:lnSpc>
            </a:pPr>
            <a:r>
              <a:rPr lang="en-IN" sz="2000" dirty="0">
                <a:latin typeface="Times New Roman" panose="02020603050405020304" pitchFamily="18" charset="0"/>
                <a:cs typeface="Times New Roman" panose="02020603050405020304" pitchFamily="18" charset="0"/>
              </a:rPr>
              <a:t>Can be slow and resource-heavy, especially with large datasets or high-dimensional feature spaces.</a:t>
            </a:r>
          </a:p>
          <a:p>
            <a:pPr lvl="0" algn="just">
              <a:lnSpc>
                <a:spcPct val="150000"/>
              </a:lnSpc>
            </a:pPr>
            <a:r>
              <a:rPr lang="en-IN" sz="2000" dirty="0">
                <a:latin typeface="Times New Roman" panose="02020603050405020304" pitchFamily="18" charset="0"/>
                <a:cs typeface="Times New Roman" panose="02020603050405020304" pitchFamily="18" charset="0"/>
              </a:rPr>
              <a:t>The decision boundary created by SVMs can be complex, making it hard to interpret how classifications are made.</a:t>
            </a:r>
          </a:p>
          <a:p>
            <a:pPr lvl="0" algn="just">
              <a:lnSpc>
                <a:spcPct val="150000"/>
              </a:lnSpc>
            </a:pPr>
            <a:r>
              <a:rPr lang="en-IN" sz="2000" dirty="0">
                <a:latin typeface="Times New Roman" panose="02020603050405020304" pitchFamily="18" charset="0"/>
                <a:cs typeface="Times New Roman" panose="02020603050405020304" pitchFamily="18" charset="0"/>
              </a:rPr>
              <a:t>May struggle with very large datasets, leading to longer training times and decreased efficiency.</a:t>
            </a:r>
          </a:p>
          <a:p>
            <a:pPr lvl="0" algn="just">
              <a:lnSpc>
                <a:spcPct val="150000"/>
              </a:lnSpc>
            </a:pPr>
            <a:endParaRPr lang="en-IN" sz="20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8774797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a:latin typeface="Times New Roman" panose="02020603050405020304" pitchFamily="18" charset="0"/>
                <a:cs typeface="Times New Roman" panose="02020603050405020304" pitchFamily="18" charset="0"/>
              </a:rPr>
              <a:t>Proposed system</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25002" y="1262130"/>
            <a:ext cx="11410683" cy="5267459"/>
          </a:xfrm>
        </p:spPr>
        <p:txBody>
          <a:bodyPr>
            <a:noAutofit/>
          </a:bodyPr>
          <a:lstStyle/>
          <a:p>
            <a:pPr algn="just">
              <a:lnSpc>
                <a:spcPct val="150000"/>
              </a:lnSpc>
            </a:pPr>
            <a:r>
              <a:rPr lang="en-IN" sz="2000" dirty="0">
                <a:latin typeface="Times New Roman" panose="02020603050405020304" pitchFamily="18" charset="0"/>
                <a:cs typeface="Times New Roman" panose="02020603050405020304" pitchFamily="18" charset="0"/>
              </a:rPr>
              <a:t>In proposed system, the input data as fake product review dataset is taken from dataset repository. In pre-processing, we can check missing values for avoid wrong prediction and label encoding for convert the strings into numeric integer value. </a:t>
            </a:r>
          </a:p>
          <a:p>
            <a:pPr algn="just">
              <a:lnSpc>
                <a:spcPct val="150000"/>
              </a:lnSpc>
            </a:pPr>
            <a:r>
              <a:rPr lang="en-IN" sz="2000" dirty="0">
                <a:latin typeface="Times New Roman" panose="02020603050405020304" pitchFamily="18" charset="0"/>
                <a:cs typeface="Times New Roman" panose="02020603050405020304" pitchFamily="18" charset="0"/>
              </a:rPr>
              <a:t>Then, we can implement the NLP techniques for cleaning the text such as stop words, stem words, and remove punctuations, tokenization and padding. After that, we can implement the different vectorization techniques such as count vectorization. </a:t>
            </a:r>
          </a:p>
          <a:p>
            <a:pPr algn="just">
              <a:lnSpc>
                <a:spcPct val="150000"/>
              </a:lnSpc>
            </a:pPr>
            <a:r>
              <a:rPr lang="en-IN" sz="2000" dirty="0">
                <a:latin typeface="Times New Roman" panose="02020603050405020304" pitchFamily="18" charset="0"/>
                <a:cs typeface="Times New Roman" panose="02020603050405020304" pitchFamily="18" charset="0"/>
              </a:rPr>
              <a:t>Then, we can split the cleaned text into test data and train data. Test data is used for prediction and train data is used for evaluation. </a:t>
            </a:r>
          </a:p>
          <a:p>
            <a:pPr algn="just">
              <a:lnSpc>
                <a:spcPct val="150000"/>
              </a:lnSpc>
            </a:pPr>
            <a:r>
              <a:rPr lang="en-IN" sz="2000" dirty="0">
                <a:latin typeface="Times New Roman" panose="02020603050405020304" pitchFamily="18" charset="0"/>
                <a:cs typeface="Times New Roman" panose="02020603050405020304" pitchFamily="18" charset="0"/>
              </a:rPr>
              <a:t>The </a:t>
            </a:r>
            <a:r>
              <a:rPr lang="en-IN" sz="2000" dirty="0" err="1">
                <a:latin typeface="Times New Roman" panose="02020603050405020304" pitchFamily="18" charset="0"/>
                <a:cs typeface="Times New Roman" panose="02020603050405020304" pitchFamily="18" charset="0"/>
              </a:rPr>
              <a:t>splitted</a:t>
            </a:r>
            <a:r>
              <a:rPr lang="en-IN" sz="2000" dirty="0">
                <a:latin typeface="Times New Roman" panose="02020603050405020304" pitchFamily="18" charset="0"/>
                <a:cs typeface="Times New Roman" panose="02020603050405020304" pitchFamily="18" charset="0"/>
              </a:rPr>
              <a:t> data is carried out to ML algorithms such as logistic regression and hybrid such as Decision Tree and random forest. </a:t>
            </a: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42830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a:latin typeface="Times New Roman" panose="02020603050405020304" pitchFamily="18" charset="0"/>
                <a:cs typeface="Times New Roman" panose="02020603050405020304" pitchFamily="18" charset="0"/>
              </a:rPr>
              <a:t>Proposed system contd..</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25002" y="1262130"/>
            <a:ext cx="11410683" cy="5267459"/>
          </a:xfrm>
        </p:spPr>
        <p:txBody>
          <a:bodyPr>
            <a:noAutofit/>
          </a:bodyPr>
          <a:lstStyle/>
          <a:p>
            <a:pPr algn="just">
              <a:lnSpc>
                <a:spcPct val="150000"/>
              </a:lnSpc>
            </a:pPr>
            <a:r>
              <a:rPr lang="en-IN" sz="2000" dirty="0">
                <a:latin typeface="Times New Roman" panose="02020603050405020304" pitchFamily="18" charset="0"/>
                <a:cs typeface="Times New Roman" panose="02020603050405020304" pitchFamily="18" charset="0"/>
              </a:rPr>
              <a:t>Finally, the system can estimate some performance metrics such as accuracy, precision, recall, f1-score and error rate. </a:t>
            </a:r>
          </a:p>
          <a:p>
            <a:pPr algn="just">
              <a:lnSpc>
                <a:spcPct val="150000"/>
              </a:lnSpc>
            </a:pPr>
            <a:r>
              <a:rPr lang="en-IN" sz="2000" dirty="0">
                <a:latin typeface="Times New Roman" panose="02020603050405020304" pitchFamily="18" charset="0"/>
                <a:cs typeface="Times New Roman" panose="02020603050405020304" pitchFamily="18" charset="0"/>
              </a:rPr>
              <a:t>The effectiveness of the proposed method was confirmed by comparing accuracy improvement. Here, we can predict the sentiment from user’s input such as fake or real.</a:t>
            </a: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36637080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5003" y="365125"/>
            <a:ext cx="11204619" cy="938861"/>
          </a:xfrm>
        </p:spPr>
        <p:txBody>
          <a:bodyPr>
            <a:normAutofit/>
          </a:bodyPr>
          <a:lstStyle/>
          <a:p>
            <a:pPr algn="ctr"/>
            <a:r>
              <a:rPr lang="en-US" b="1" dirty="0">
                <a:latin typeface="Times New Roman" panose="02020603050405020304" pitchFamily="18" charset="0"/>
                <a:cs typeface="Times New Roman" panose="02020603050405020304" pitchFamily="18" charset="0"/>
              </a:rPr>
              <a:t>Advantages</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25003" y="965915"/>
            <a:ext cx="11359166" cy="5499279"/>
          </a:xfrm>
        </p:spPr>
        <p:txBody>
          <a:bodyPr>
            <a:noAutofit/>
          </a:bodyPr>
          <a:lstStyle/>
          <a:p>
            <a:pPr lvl="0" algn="just">
              <a:lnSpc>
                <a:spcPct val="150000"/>
              </a:lnSpc>
            </a:pPr>
            <a:r>
              <a:rPr lang="en-IN" sz="2000" dirty="0">
                <a:latin typeface="Times New Roman" panose="02020603050405020304" pitchFamily="18" charset="0"/>
                <a:cs typeface="Times New Roman" panose="02020603050405020304" pitchFamily="18" charset="0"/>
              </a:rPr>
              <a:t>Decision Tree can handle large datasets efficiently. </a:t>
            </a:r>
          </a:p>
          <a:p>
            <a:pPr lvl="0" algn="just">
              <a:lnSpc>
                <a:spcPct val="150000"/>
              </a:lnSpc>
            </a:pPr>
            <a:r>
              <a:rPr lang="en-IN" sz="2000" dirty="0">
                <a:latin typeface="Times New Roman" panose="02020603050405020304" pitchFamily="18" charset="0"/>
                <a:cs typeface="Times New Roman" panose="02020603050405020304" pitchFamily="18" charset="0"/>
              </a:rPr>
              <a:t>The experimental result is high when compared with existing system.</a:t>
            </a:r>
          </a:p>
          <a:p>
            <a:pPr lvl="0" algn="just">
              <a:lnSpc>
                <a:spcPct val="150000"/>
              </a:lnSpc>
            </a:pPr>
            <a:r>
              <a:rPr lang="en-IN" sz="2000" dirty="0">
                <a:latin typeface="Times New Roman" panose="02020603050405020304" pitchFamily="18" charset="0"/>
                <a:cs typeface="Times New Roman" panose="02020603050405020304" pitchFamily="18" charset="0"/>
              </a:rPr>
              <a:t>Time consumption is low.</a:t>
            </a:r>
          </a:p>
          <a:p>
            <a:pPr lvl="0" algn="just">
              <a:lnSpc>
                <a:spcPct val="150000"/>
              </a:lnSpc>
            </a:pPr>
            <a:r>
              <a:rPr lang="en-IN" sz="2000" dirty="0">
                <a:latin typeface="Times New Roman" panose="02020603050405020304" pitchFamily="18" charset="0"/>
                <a:cs typeface="Times New Roman" panose="02020603050405020304" pitchFamily="18" charset="0"/>
              </a:rPr>
              <a:t>Lack of ability to be spatially invariant to the input data.</a:t>
            </a:r>
          </a:p>
          <a:p>
            <a:pPr lvl="0" algn="just">
              <a:lnSpc>
                <a:spcPct val="150000"/>
              </a:lnSpc>
            </a:pPr>
            <a:r>
              <a:rPr lang="en-IN" sz="2000" dirty="0">
                <a:latin typeface="Times New Roman" panose="02020603050405020304" pitchFamily="18" charset="0"/>
                <a:cs typeface="Times New Roman" panose="02020603050405020304" pitchFamily="18" charset="0"/>
              </a:rPr>
              <a:t>Implementing text cleaning techniques like removing stop words, stemming, punctuation removal, tokenization, and padding enhances the quality of the text data, making it more suitable for analysis.</a:t>
            </a:r>
          </a:p>
          <a:p>
            <a:pPr lvl="0" algn="just">
              <a:lnSpc>
                <a:spcPct val="150000"/>
              </a:lnSpc>
            </a:pPr>
            <a:r>
              <a:rPr lang="en-IN" sz="2000" dirty="0">
                <a:latin typeface="Times New Roman" panose="02020603050405020304" pitchFamily="18" charset="0"/>
                <a:cs typeface="Times New Roman" panose="02020603050405020304" pitchFamily="18" charset="0"/>
              </a:rPr>
              <a:t>Integration of Hybrid Models: By combining Decision Tree with Logistic Regression, the proposed system benefits from the strengths of both models. Decision Trees handle non-linear relationships and complex feature interactions well, while Logistic Regression adds robustness to classification tasks, leading to more accurate and reliable predictions.</a:t>
            </a: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409026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78271" y="138180"/>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134" name="Title 1"/>
          <p:cNvSpPr>
            <a:spLocks noGrp="1"/>
          </p:cNvSpPr>
          <p:nvPr>
            <p:ph type="title"/>
          </p:nvPr>
        </p:nvSpPr>
        <p:spPr>
          <a:xfrm>
            <a:off x="731687" y="334044"/>
            <a:ext cx="10515600" cy="984247"/>
          </a:xfrm>
        </p:spPr>
        <p:txBody>
          <a:bodyPr/>
          <a:lstStyle/>
          <a:p>
            <a:pPr algn="ctr"/>
            <a:r>
              <a:rPr lang="en-US" b="1" dirty="0">
                <a:latin typeface="Times New Roman" panose="02020603050405020304" pitchFamily="18" charset="0"/>
                <a:cs typeface="Times New Roman" panose="02020603050405020304" pitchFamily="18" charset="0"/>
              </a:rPr>
              <a:t>Architecture diagram</a:t>
            </a:r>
            <a:endParaRPr lang="en-IN" b="1" dirty="0">
              <a:latin typeface="Times New Roman" panose="02020603050405020304" pitchFamily="18" charset="0"/>
              <a:cs typeface="Times New Roman" panose="02020603050405020304" pitchFamily="18" charset="0"/>
            </a:endParaRPr>
          </a:p>
        </p:txBody>
      </p:sp>
      <p:grpSp>
        <p:nvGrpSpPr>
          <p:cNvPr id="5" name="Group 4"/>
          <p:cNvGrpSpPr/>
          <p:nvPr/>
        </p:nvGrpSpPr>
        <p:grpSpPr>
          <a:xfrm>
            <a:off x="578345" y="1427653"/>
            <a:ext cx="10822284" cy="4816664"/>
            <a:chOff x="578345" y="1427653"/>
            <a:chExt cx="10822284" cy="4816664"/>
          </a:xfrm>
        </p:grpSpPr>
        <p:sp>
          <p:nvSpPr>
            <p:cNvPr id="63" name="TextBox 4"/>
            <p:cNvSpPr txBox="1"/>
            <p:nvPr/>
          </p:nvSpPr>
          <p:spPr>
            <a:xfrm>
              <a:off x="741444" y="2665077"/>
              <a:ext cx="1733322" cy="619058"/>
            </a:xfrm>
            <a:prstGeom prst="rect">
              <a:avLst/>
            </a:prstGeom>
            <a:noFill/>
          </p:spPr>
          <p:txBody>
            <a:bodyPr wrap="square" rtlCol="0">
              <a:noAutofit/>
            </a:bodyPr>
            <a:lstStyle/>
            <a:p>
              <a:pPr algn="ctr">
                <a:spcAft>
                  <a:spcPts val="0"/>
                </a:spcAft>
                <a:defRPr/>
              </a:pPr>
              <a:r>
                <a:rPr lang="en-IN" sz="1400" b="1" dirty="0">
                  <a:latin typeface="Times New Roman" panose="02020603050405020304" pitchFamily="18" charset="0"/>
                  <a:ea typeface="Times New Roman" panose="02020603050405020304" pitchFamily="18" charset="0"/>
                  <a:cs typeface="Times New Roman" panose="02020603050405020304" pitchFamily="18" charset="0"/>
                </a:rPr>
                <a:t>Fake product review CSV Dataset</a:t>
              </a:r>
            </a:p>
          </p:txBody>
        </p:sp>
        <p:pic>
          <p:nvPicPr>
            <p:cNvPr id="27" name="Picture 2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2705" y="1717293"/>
              <a:ext cx="1218251" cy="907339"/>
            </a:xfrm>
            <a:prstGeom prst="rect">
              <a:avLst/>
            </a:prstGeom>
          </p:spPr>
        </p:pic>
        <p:pic>
          <p:nvPicPr>
            <p:cNvPr id="3" name="Picture 2"/>
            <p:cNvPicPr>
              <a:picLocks noChangeAspect="1"/>
            </p:cNvPicPr>
            <p:nvPr/>
          </p:nvPicPr>
          <p:blipFill>
            <a:blip r:embed="rId3"/>
            <a:stretch>
              <a:fillRect/>
            </a:stretch>
          </p:blipFill>
          <p:spPr>
            <a:xfrm>
              <a:off x="3329322" y="1584466"/>
              <a:ext cx="1126475" cy="1172274"/>
            </a:xfrm>
            <a:prstGeom prst="rect">
              <a:avLst/>
            </a:prstGeom>
          </p:spPr>
        </p:pic>
        <p:sp>
          <p:nvSpPr>
            <p:cNvPr id="28" name="TextBox 4"/>
            <p:cNvSpPr txBox="1"/>
            <p:nvPr/>
          </p:nvSpPr>
          <p:spPr>
            <a:xfrm>
              <a:off x="2914846" y="2676062"/>
              <a:ext cx="2367144" cy="786603"/>
            </a:xfrm>
            <a:prstGeom prst="rect">
              <a:avLst/>
            </a:prstGeom>
            <a:noFill/>
          </p:spPr>
          <p:txBody>
            <a:bodyPr wrap="square" rtlCol="0">
              <a:noAutofit/>
            </a:bodyPr>
            <a:lstStyle/>
            <a:p>
              <a:pPr algn="ctr">
                <a:spcAft>
                  <a:spcPts val="0"/>
                </a:spcAft>
                <a:defRPr/>
              </a:pPr>
              <a:r>
                <a:rPr lang="en-US" sz="1400" b="1" dirty="0">
                  <a:latin typeface="Times New Roman" panose="02020603050405020304" pitchFamily="18" charset="0"/>
                  <a:ea typeface="Times New Roman" panose="02020603050405020304" pitchFamily="18" charset="0"/>
                  <a:cs typeface="Times New Roman" panose="02020603050405020304" pitchFamily="18" charset="0"/>
                </a:rPr>
                <a:t>Preliminary Process</a:t>
              </a:r>
            </a:p>
            <a:p>
              <a:pPr algn="ctr">
                <a:spcAft>
                  <a:spcPts val="0"/>
                </a:spcAft>
                <a:defRPr/>
              </a:pPr>
              <a:r>
                <a:rPr lang="en-US" sz="1400" dirty="0">
                  <a:latin typeface="Times New Roman" panose="02020603050405020304" pitchFamily="18" charset="0"/>
                  <a:ea typeface="Times New Roman" panose="02020603050405020304" pitchFamily="18" charset="0"/>
                  <a:cs typeface="Times New Roman" panose="02020603050405020304" pitchFamily="18" charset="0"/>
                </a:rPr>
                <a:t>( Handling missing values, Label encoding)</a:t>
              </a:r>
            </a:p>
          </p:txBody>
        </p:sp>
        <p:cxnSp>
          <p:nvCxnSpPr>
            <p:cNvPr id="7" name="Straight Arrow Connector 6"/>
            <p:cNvCxnSpPr>
              <a:stCxn id="27" idx="3"/>
              <a:endCxn id="3" idx="1"/>
            </p:cNvCxnSpPr>
            <p:nvPr/>
          </p:nvCxnSpPr>
          <p:spPr>
            <a:xfrm flipV="1">
              <a:off x="2180956" y="2170603"/>
              <a:ext cx="1148366" cy="3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8" name="Picture 7"/>
            <p:cNvPicPr>
              <a:picLocks noChangeAspect="1"/>
            </p:cNvPicPr>
            <p:nvPr/>
          </p:nvPicPr>
          <p:blipFill>
            <a:blip r:embed="rId4"/>
            <a:stretch>
              <a:fillRect/>
            </a:stretch>
          </p:blipFill>
          <p:spPr>
            <a:xfrm>
              <a:off x="8055205" y="1614487"/>
              <a:ext cx="1711604" cy="1152575"/>
            </a:xfrm>
            <a:prstGeom prst="rect">
              <a:avLst/>
            </a:prstGeom>
          </p:spPr>
        </p:pic>
        <p:sp>
          <p:nvSpPr>
            <p:cNvPr id="31" name="TextBox 4"/>
            <p:cNvSpPr txBox="1"/>
            <p:nvPr/>
          </p:nvSpPr>
          <p:spPr>
            <a:xfrm>
              <a:off x="7907643" y="2757100"/>
              <a:ext cx="1880095" cy="475986"/>
            </a:xfrm>
            <a:prstGeom prst="rect">
              <a:avLst/>
            </a:prstGeom>
            <a:noFill/>
          </p:spPr>
          <p:txBody>
            <a:bodyPr wrap="square" rtlCol="0">
              <a:noAutofit/>
            </a:bodyPr>
            <a:lstStyle/>
            <a:p>
              <a:pPr algn="ctr">
                <a:spcAft>
                  <a:spcPts val="0"/>
                </a:spcAft>
                <a:defRPr/>
              </a:pPr>
              <a:r>
                <a:rPr lang="en-US" sz="1400" b="1" dirty="0">
                  <a:latin typeface="Times New Roman" panose="02020603050405020304" pitchFamily="18" charset="0"/>
                  <a:ea typeface="Times New Roman" panose="02020603050405020304" pitchFamily="18" charset="0"/>
                  <a:cs typeface="Times New Roman" panose="02020603050405020304" pitchFamily="18" charset="0"/>
                </a:rPr>
                <a:t>Data Slicing</a:t>
              </a:r>
            </a:p>
            <a:p>
              <a:pPr algn="ctr">
                <a:spcAft>
                  <a:spcPts val="0"/>
                </a:spcAft>
                <a:defRPr/>
              </a:pPr>
              <a:r>
                <a:rPr lang="en-US" sz="1400" dirty="0">
                  <a:latin typeface="Times New Roman" panose="02020603050405020304" pitchFamily="18" charset="0"/>
                  <a:ea typeface="Times New Roman" panose="02020603050405020304" pitchFamily="18" charset="0"/>
                  <a:cs typeface="Times New Roman" panose="02020603050405020304" pitchFamily="18" charset="0"/>
                </a:rPr>
                <a:t>(Test and Train data)</a:t>
              </a:r>
              <a:endParaRPr lang="en-IN" sz="1400" dirty="0">
                <a:latin typeface="Times New Roman" panose="02020603050405020304" pitchFamily="18" charset="0"/>
                <a:ea typeface="Times New Roman" panose="02020603050405020304" pitchFamily="18" charset="0"/>
                <a:cs typeface="Times New Roman" panose="02020603050405020304" pitchFamily="18" charset="0"/>
              </a:endParaRPr>
            </a:p>
          </p:txBody>
        </p:sp>
        <p:cxnSp>
          <p:nvCxnSpPr>
            <p:cNvPr id="10" name="Straight Arrow Connector 9"/>
            <p:cNvCxnSpPr>
              <a:stCxn id="3" idx="3"/>
              <a:endCxn id="22" idx="1"/>
            </p:cNvCxnSpPr>
            <p:nvPr/>
          </p:nvCxnSpPr>
          <p:spPr>
            <a:xfrm>
              <a:off x="4455797" y="2170603"/>
              <a:ext cx="137479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p:nvPicPr>
          <p:blipFill>
            <a:blip r:embed="rId5"/>
            <a:stretch>
              <a:fillRect/>
            </a:stretch>
          </p:blipFill>
          <p:spPr>
            <a:xfrm>
              <a:off x="7070975" y="3943607"/>
              <a:ext cx="1698125" cy="1226983"/>
            </a:xfrm>
            <a:prstGeom prst="rect">
              <a:avLst/>
            </a:prstGeom>
          </p:spPr>
        </p:pic>
        <p:cxnSp>
          <p:nvCxnSpPr>
            <p:cNvPr id="13" name="Elbow Connector 12"/>
            <p:cNvCxnSpPr>
              <a:stCxn id="8" idx="3"/>
              <a:endCxn id="2" idx="0"/>
            </p:cNvCxnSpPr>
            <p:nvPr/>
          </p:nvCxnSpPr>
          <p:spPr>
            <a:xfrm>
              <a:off x="9766809" y="2190775"/>
              <a:ext cx="827374" cy="38701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TextBox 4"/>
            <p:cNvSpPr txBox="1"/>
            <p:nvPr/>
          </p:nvSpPr>
          <p:spPr>
            <a:xfrm>
              <a:off x="7224382" y="5185818"/>
              <a:ext cx="1733322" cy="888586"/>
            </a:xfrm>
            <a:prstGeom prst="rect">
              <a:avLst/>
            </a:prstGeom>
            <a:noFill/>
          </p:spPr>
          <p:txBody>
            <a:bodyPr wrap="square" rtlCol="0">
              <a:noAutofit/>
            </a:bodyPr>
            <a:lstStyle/>
            <a:p>
              <a:pPr algn="ctr">
                <a:spcAft>
                  <a:spcPts val="0"/>
                </a:spcAft>
                <a:defRPr/>
              </a:pPr>
              <a:r>
                <a:rPr lang="en-US" sz="1400" b="1" dirty="0">
                  <a:latin typeface="Times New Roman" panose="02020603050405020304" pitchFamily="18" charset="0"/>
                  <a:ea typeface="Times New Roman" panose="02020603050405020304" pitchFamily="18" charset="0"/>
                  <a:cs typeface="Times New Roman" panose="02020603050405020304" pitchFamily="18" charset="0"/>
                </a:rPr>
                <a:t>Classification</a:t>
              </a:r>
            </a:p>
            <a:p>
              <a:pPr algn="ctr">
                <a:spcAft>
                  <a:spcPts val="0"/>
                </a:spcAft>
                <a:defRPr/>
              </a:pPr>
              <a:r>
                <a:rPr lang="en-US" sz="1400" dirty="0">
                  <a:latin typeface="Times New Roman" panose="02020603050405020304" pitchFamily="18" charset="0"/>
                  <a:ea typeface="Times New Roman" panose="02020603050405020304" pitchFamily="18" charset="0"/>
                  <a:cs typeface="Times New Roman" panose="02020603050405020304" pitchFamily="18" charset="0"/>
                </a:rPr>
                <a:t>(</a:t>
              </a:r>
              <a:r>
                <a:rPr lang="en-IN" sz="1400" dirty="0">
                  <a:latin typeface="Times New Roman" panose="02020603050405020304" pitchFamily="18" charset="0"/>
                  <a:ea typeface="Times New Roman" panose="02020603050405020304" pitchFamily="18" charset="0"/>
                  <a:cs typeface="Times New Roman" panose="02020603050405020304" pitchFamily="18" charset="0"/>
                </a:rPr>
                <a:t>Logistic Regression, </a:t>
              </a:r>
            </a:p>
            <a:p>
              <a:pPr algn="ctr">
                <a:spcAft>
                  <a:spcPts val="0"/>
                </a:spcAft>
                <a:defRPr/>
              </a:pPr>
              <a:r>
                <a:rPr lang="en-IN" sz="1400" dirty="0">
                  <a:latin typeface="Times New Roman" panose="02020603050405020304" pitchFamily="18" charset="0"/>
                  <a:ea typeface="Times New Roman" panose="02020603050405020304" pitchFamily="18" charset="0"/>
                  <a:cs typeface="Times New Roman" panose="02020603050405020304" pitchFamily="18" charset="0"/>
                </a:rPr>
                <a:t>Hybrid (DT and RF)</a:t>
              </a:r>
            </a:p>
            <a:p>
              <a:pPr algn="ctr">
                <a:spcAft>
                  <a:spcPts val="0"/>
                </a:spcAft>
                <a:defRPr/>
              </a:pPr>
              <a:endParaRPr lang="en-IN" sz="1400" dirty="0">
                <a:latin typeface="Times New Roman" panose="02020603050405020304" pitchFamily="18" charset="0"/>
                <a:ea typeface="Times New Roman" panose="02020603050405020304" pitchFamily="18" charset="0"/>
                <a:cs typeface="Times New Roman" panose="02020603050405020304" pitchFamily="18" charset="0"/>
              </a:endParaRPr>
            </a:p>
          </p:txBody>
        </p:sp>
        <p:pic>
          <p:nvPicPr>
            <p:cNvPr id="14" name="Picture 13"/>
            <p:cNvPicPr>
              <a:picLocks noChangeAspect="1"/>
            </p:cNvPicPr>
            <p:nvPr/>
          </p:nvPicPr>
          <p:blipFill>
            <a:blip r:embed="rId6"/>
            <a:stretch>
              <a:fillRect/>
            </a:stretch>
          </p:blipFill>
          <p:spPr>
            <a:xfrm>
              <a:off x="3997776" y="3959070"/>
              <a:ext cx="1683768" cy="1174293"/>
            </a:xfrm>
            <a:prstGeom prst="rect">
              <a:avLst/>
            </a:prstGeom>
          </p:spPr>
        </p:pic>
        <p:sp>
          <p:nvSpPr>
            <p:cNvPr id="39" name="TextBox 4"/>
            <p:cNvSpPr txBox="1"/>
            <p:nvPr/>
          </p:nvSpPr>
          <p:spPr>
            <a:xfrm>
              <a:off x="3948222" y="5307053"/>
              <a:ext cx="1733322" cy="937264"/>
            </a:xfrm>
            <a:prstGeom prst="rect">
              <a:avLst/>
            </a:prstGeom>
            <a:noFill/>
          </p:spPr>
          <p:txBody>
            <a:bodyPr wrap="square" rtlCol="0">
              <a:noAutofit/>
            </a:bodyPr>
            <a:lstStyle/>
            <a:p>
              <a:pPr algn="ctr">
                <a:spcAft>
                  <a:spcPts val="0"/>
                </a:spcAft>
                <a:defRPr/>
              </a:pPr>
              <a:r>
                <a:rPr lang="en-US" sz="1400" b="1" dirty="0">
                  <a:latin typeface="Times New Roman" panose="02020603050405020304" pitchFamily="18" charset="0"/>
                  <a:ea typeface="Times New Roman" panose="02020603050405020304" pitchFamily="18" charset="0"/>
                  <a:cs typeface="Times New Roman" panose="02020603050405020304" pitchFamily="18" charset="0"/>
                </a:rPr>
                <a:t>Performance Metrics</a:t>
              </a:r>
            </a:p>
            <a:p>
              <a:pPr algn="ctr">
                <a:spcAft>
                  <a:spcPts val="0"/>
                </a:spcAft>
                <a:defRPr/>
              </a:pPr>
              <a:r>
                <a:rPr lang="en-US" sz="1400" dirty="0">
                  <a:latin typeface="Times New Roman" panose="02020603050405020304" pitchFamily="18" charset="0"/>
                  <a:ea typeface="Times New Roman" panose="02020603050405020304" pitchFamily="18" charset="0"/>
                  <a:cs typeface="Times New Roman" panose="02020603050405020304" pitchFamily="18" charset="0"/>
                </a:rPr>
                <a:t>(Accuracy and Error Rate)</a:t>
              </a:r>
              <a:endParaRPr lang="en-IN" sz="1400" dirty="0">
                <a:latin typeface="Times New Roman" panose="02020603050405020304" pitchFamily="18" charset="0"/>
                <a:ea typeface="Times New Roman" panose="02020603050405020304" pitchFamily="18" charset="0"/>
                <a:cs typeface="Times New Roman" panose="02020603050405020304" pitchFamily="18" charset="0"/>
              </a:endParaRPr>
            </a:p>
          </p:txBody>
        </p:sp>
        <p:cxnSp>
          <p:nvCxnSpPr>
            <p:cNvPr id="16" name="Straight Arrow Connector 15"/>
            <p:cNvCxnSpPr/>
            <p:nvPr/>
          </p:nvCxnSpPr>
          <p:spPr>
            <a:xfrm flipH="1">
              <a:off x="5618694" y="4678163"/>
              <a:ext cx="136636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8" name="Picture 17"/>
            <p:cNvPicPr>
              <a:picLocks noChangeAspect="1"/>
            </p:cNvPicPr>
            <p:nvPr/>
          </p:nvPicPr>
          <p:blipFill>
            <a:blip r:embed="rId7"/>
            <a:stretch>
              <a:fillRect/>
            </a:stretch>
          </p:blipFill>
          <p:spPr>
            <a:xfrm>
              <a:off x="1054094" y="3990060"/>
              <a:ext cx="2253725" cy="1521846"/>
            </a:xfrm>
            <a:prstGeom prst="rect">
              <a:avLst/>
            </a:prstGeom>
          </p:spPr>
        </p:pic>
        <p:cxnSp>
          <p:nvCxnSpPr>
            <p:cNvPr id="20" name="Elbow Connector 19"/>
            <p:cNvCxnSpPr>
              <a:stCxn id="14" idx="1"/>
              <a:endCxn id="18" idx="3"/>
            </p:cNvCxnSpPr>
            <p:nvPr/>
          </p:nvCxnSpPr>
          <p:spPr>
            <a:xfrm rot="10800000" flipV="1">
              <a:off x="3307819" y="4546217"/>
              <a:ext cx="689957" cy="204766"/>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59" name="TextBox 4"/>
            <p:cNvSpPr txBox="1"/>
            <p:nvPr/>
          </p:nvSpPr>
          <p:spPr>
            <a:xfrm>
              <a:off x="578345" y="5483265"/>
              <a:ext cx="3013656" cy="662241"/>
            </a:xfrm>
            <a:prstGeom prst="rect">
              <a:avLst/>
            </a:prstGeom>
            <a:noFill/>
          </p:spPr>
          <p:txBody>
            <a:bodyPr wrap="square" rtlCol="0">
              <a:noAutofit/>
            </a:bodyPr>
            <a:lstStyle/>
            <a:p>
              <a:pPr algn="ctr">
                <a:spcAft>
                  <a:spcPts val="0"/>
                </a:spcAft>
                <a:defRPr/>
              </a:pPr>
              <a:r>
                <a:rPr lang="en-US" sz="1400" b="1" dirty="0">
                  <a:latin typeface="Times New Roman" panose="02020603050405020304" pitchFamily="18" charset="0"/>
                  <a:ea typeface="Times New Roman" panose="02020603050405020304" pitchFamily="18" charset="0"/>
                  <a:cs typeface="Times New Roman" panose="02020603050405020304" pitchFamily="18" charset="0"/>
                </a:rPr>
                <a:t>Prediction</a:t>
              </a:r>
            </a:p>
            <a:p>
              <a:pPr algn="ctr">
                <a:spcAft>
                  <a:spcPts val="0"/>
                </a:spcAft>
                <a:defRPr/>
              </a:pPr>
              <a:r>
                <a:rPr lang="en-US" sz="1400" dirty="0">
                  <a:latin typeface="Times New Roman" panose="02020603050405020304" pitchFamily="18" charset="0"/>
                  <a:ea typeface="Times New Roman" panose="02020603050405020304" pitchFamily="18" charset="0"/>
                  <a:cs typeface="Times New Roman" panose="02020603050405020304" pitchFamily="18" charset="0"/>
                </a:rPr>
                <a:t>(Fake or real)</a:t>
              </a:r>
              <a:endParaRPr lang="en-IN" sz="1400" dirty="0">
                <a:latin typeface="Times New Roman" panose="02020603050405020304" pitchFamily="18" charset="0"/>
                <a:ea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8"/>
            <a:stretch>
              <a:fillRect/>
            </a:stretch>
          </p:blipFill>
          <p:spPr>
            <a:xfrm>
              <a:off x="10007873" y="2577791"/>
              <a:ext cx="1172620" cy="1190717"/>
            </a:xfrm>
            <a:prstGeom prst="rect">
              <a:avLst/>
            </a:prstGeom>
          </p:spPr>
        </p:pic>
        <p:sp>
          <p:nvSpPr>
            <p:cNvPr id="29" name="TextBox 4"/>
            <p:cNvSpPr txBox="1"/>
            <p:nvPr/>
          </p:nvSpPr>
          <p:spPr>
            <a:xfrm>
              <a:off x="9667307" y="3663972"/>
              <a:ext cx="1733322" cy="699951"/>
            </a:xfrm>
            <a:prstGeom prst="rect">
              <a:avLst/>
            </a:prstGeom>
            <a:noFill/>
          </p:spPr>
          <p:txBody>
            <a:bodyPr wrap="square" rtlCol="0">
              <a:noAutofit/>
            </a:bodyPr>
            <a:lstStyle/>
            <a:p>
              <a:pPr algn="ctr">
                <a:spcAft>
                  <a:spcPts val="0"/>
                </a:spcAft>
                <a:defRPr/>
              </a:pPr>
              <a:r>
                <a:rPr lang="en-US" sz="1400" b="1" dirty="0">
                  <a:latin typeface="Times New Roman" panose="02020603050405020304" pitchFamily="18" charset="0"/>
                  <a:ea typeface="Times New Roman" panose="02020603050405020304" pitchFamily="18" charset="0"/>
                  <a:cs typeface="Times New Roman" panose="02020603050405020304" pitchFamily="18" charset="0"/>
                </a:rPr>
                <a:t>Feature Extraction</a:t>
              </a:r>
            </a:p>
            <a:p>
              <a:pPr algn="ctr">
                <a:spcAft>
                  <a:spcPts val="0"/>
                </a:spcAft>
                <a:defRPr/>
              </a:pPr>
              <a:r>
                <a:rPr lang="en-US" sz="1400" dirty="0">
                  <a:latin typeface="Times New Roman" panose="02020603050405020304" pitchFamily="18" charset="0"/>
                  <a:ea typeface="Times New Roman" panose="02020603050405020304" pitchFamily="18" charset="0"/>
                  <a:cs typeface="Times New Roman" panose="02020603050405020304" pitchFamily="18" charset="0"/>
                </a:rPr>
                <a:t>(Count Vectorization)</a:t>
              </a:r>
              <a:endParaRPr lang="en-IN" sz="1400" dirty="0">
                <a:latin typeface="Times New Roman" panose="02020603050405020304" pitchFamily="18" charset="0"/>
                <a:ea typeface="Times New Roman" panose="02020603050405020304" pitchFamily="18" charset="0"/>
                <a:cs typeface="Times New Roman" panose="02020603050405020304" pitchFamily="18" charset="0"/>
              </a:endParaRPr>
            </a:p>
          </p:txBody>
        </p:sp>
        <p:cxnSp>
          <p:nvCxnSpPr>
            <p:cNvPr id="6" name="Elbow Connector 5"/>
            <p:cNvCxnSpPr>
              <a:stCxn id="29" idx="2"/>
              <a:endCxn id="11" idx="3"/>
            </p:cNvCxnSpPr>
            <p:nvPr/>
          </p:nvCxnSpPr>
          <p:spPr>
            <a:xfrm rot="5400000">
              <a:off x="9554947" y="3578076"/>
              <a:ext cx="193176" cy="1764869"/>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pic>
          <p:nvPicPr>
            <p:cNvPr id="22" name="Picture 21"/>
            <p:cNvPicPr>
              <a:picLocks noChangeAspect="1"/>
            </p:cNvPicPr>
            <p:nvPr/>
          </p:nvPicPr>
          <p:blipFill>
            <a:blip r:embed="rId9"/>
            <a:stretch>
              <a:fillRect/>
            </a:stretch>
          </p:blipFill>
          <p:spPr>
            <a:xfrm>
              <a:off x="5830595" y="1427653"/>
              <a:ext cx="1638300" cy="1485900"/>
            </a:xfrm>
            <a:prstGeom prst="rect">
              <a:avLst/>
            </a:prstGeom>
          </p:spPr>
        </p:pic>
        <p:sp>
          <p:nvSpPr>
            <p:cNvPr id="34" name="TextBox 4"/>
            <p:cNvSpPr txBox="1"/>
            <p:nvPr/>
          </p:nvSpPr>
          <p:spPr>
            <a:xfrm>
              <a:off x="5720738" y="2974503"/>
              <a:ext cx="1880095" cy="475986"/>
            </a:xfrm>
            <a:prstGeom prst="rect">
              <a:avLst/>
            </a:prstGeom>
            <a:noFill/>
          </p:spPr>
          <p:txBody>
            <a:bodyPr wrap="square" rtlCol="0">
              <a:noAutofit/>
            </a:bodyPr>
            <a:lstStyle/>
            <a:p>
              <a:pPr algn="ctr">
                <a:spcAft>
                  <a:spcPts val="0"/>
                </a:spcAft>
                <a:defRPr/>
              </a:pPr>
              <a:r>
                <a:rPr lang="en-US" sz="1400" b="1" dirty="0">
                  <a:latin typeface="Times New Roman" panose="02020603050405020304" pitchFamily="18" charset="0"/>
                  <a:ea typeface="Times New Roman" panose="02020603050405020304" pitchFamily="18" charset="0"/>
                  <a:cs typeface="Times New Roman" panose="02020603050405020304" pitchFamily="18" charset="0"/>
                </a:rPr>
                <a:t>Text Preprocessing</a:t>
              </a:r>
            </a:p>
            <a:p>
              <a:pPr algn="ctr">
                <a:spcAft>
                  <a:spcPts val="0"/>
                </a:spcAft>
                <a:defRPr/>
              </a:pPr>
              <a:r>
                <a:rPr lang="en-US" sz="1400" dirty="0">
                  <a:latin typeface="Times New Roman" panose="02020603050405020304" pitchFamily="18" charset="0"/>
                  <a:ea typeface="Times New Roman" panose="02020603050405020304" pitchFamily="18" charset="0"/>
                  <a:cs typeface="Times New Roman" panose="02020603050405020304" pitchFamily="18" charset="0"/>
                </a:rPr>
                <a:t>(NLP)</a:t>
              </a:r>
              <a:endParaRPr lang="en-IN" sz="1400" dirty="0">
                <a:latin typeface="Times New Roman" panose="02020603050405020304" pitchFamily="18" charset="0"/>
                <a:ea typeface="Times New Roman" panose="02020603050405020304" pitchFamily="18" charset="0"/>
                <a:cs typeface="Times New Roman" panose="02020603050405020304" pitchFamily="18" charset="0"/>
              </a:endParaRPr>
            </a:p>
          </p:txBody>
        </p:sp>
        <p:cxnSp>
          <p:nvCxnSpPr>
            <p:cNvPr id="40" name="Straight Arrow Connector 39"/>
            <p:cNvCxnSpPr>
              <a:stCxn id="22" idx="3"/>
              <a:endCxn id="8" idx="1"/>
            </p:cNvCxnSpPr>
            <p:nvPr/>
          </p:nvCxnSpPr>
          <p:spPr>
            <a:xfrm>
              <a:off x="7468895" y="2170603"/>
              <a:ext cx="586310" cy="201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167086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78271" y="138180"/>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134" name="Title 1"/>
          <p:cNvSpPr>
            <a:spLocks noGrp="1"/>
          </p:cNvSpPr>
          <p:nvPr>
            <p:ph type="title"/>
          </p:nvPr>
        </p:nvSpPr>
        <p:spPr>
          <a:xfrm>
            <a:off x="522574" y="720474"/>
            <a:ext cx="2833352" cy="963115"/>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Flow diagram</a:t>
            </a:r>
            <a:endParaRPr lang="en-IN" b="1" dirty="0">
              <a:latin typeface="Times New Roman" panose="02020603050405020304" pitchFamily="18" charset="0"/>
              <a:cs typeface="Times New Roman" panose="02020603050405020304" pitchFamily="18" charset="0"/>
            </a:endParaRPr>
          </a:p>
        </p:txBody>
      </p:sp>
      <p:grpSp>
        <p:nvGrpSpPr>
          <p:cNvPr id="20" name="Group 19"/>
          <p:cNvGrpSpPr/>
          <p:nvPr/>
        </p:nvGrpSpPr>
        <p:grpSpPr>
          <a:xfrm>
            <a:off x="4829578" y="266275"/>
            <a:ext cx="4427304" cy="6130322"/>
            <a:chOff x="3721995" y="244720"/>
            <a:chExt cx="4427304" cy="6130322"/>
          </a:xfrm>
        </p:grpSpPr>
        <p:sp>
          <p:nvSpPr>
            <p:cNvPr id="43" name="Oval 42"/>
            <p:cNvSpPr/>
            <p:nvPr/>
          </p:nvSpPr>
          <p:spPr>
            <a:xfrm>
              <a:off x="3726193" y="244720"/>
              <a:ext cx="2707920" cy="570729"/>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a:solidFill>
                    <a:schemeClr val="tx1"/>
                  </a:solidFill>
                  <a:latin typeface="Times New Roman" panose="02020603050405020304" pitchFamily="18" charset="0"/>
                  <a:cs typeface="Times New Roman" panose="02020603050405020304" pitchFamily="18" charset="0"/>
                </a:rPr>
                <a:t>Start Project</a:t>
              </a:r>
            </a:p>
          </p:txBody>
        </p:sp>
        <p:sp>
          <p:nvSpPr>
            <p:cNvPr id="44" name="Rectangle 43"/>
            <p:cNvSpPr/>
            <p:nvPr/>
          </p:nvSpPr>
          <p:spPr>
            <a:xfrm>
              <a:off x="3836399" y="1090018"/>
              <a:ext cx="2487507" cy="343212"/>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solidFill>
                    <a:schemeClr val="tx1"/>
                  </a:solidFill>
                  <a:latin typeface="Times New Roman" panose="02020603050405020304" pitchFamily="18" charset="0"/>
                  <a:cs typeface="Times New Roman" panose="02020603050405020304" pitchFamily="18" charset="0"/>
                </a:rPr>
                <a:t>Preliminary Process</a:t>
              </a:r>
            </a:p>
          </p:txBody>
        </p:sp>
        <p:cxnSp>
          <p:nvCxnSpPr>
            <p:cNvPr id="45" name="Straight Arrow Connector 44"/>
            <p:cNvCxnSpPr>
              <a:stCxn id="43" idx="4"/>
              <a:endCxn id="44" idx="0"/>
            </p:cNvCxnSpPr>
            <p:nvPr/>
          </p:nvCxnSpPr>
          <p:spPr>
            <a:xfrm>
              <a:off x="5080153" y="815449"/>
              <a:ext cx="0" cy="274569"/>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46" name="Rectangle 45"/>
            <p:cNvSpPr/>
            <p:nvPr/>
          </p:nvSpPr>
          <p:spPr>
            <a:xfrm>
              <a:off x="3836399" y="1662034"/>
              <a:ext cx="2487507" cy="343212"/>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solidFill>
                    <a:schemeClr val="tx1"/>
                  </a:solidFill>
                  <a:latin typeface="Times New Roman" panose="02020603050405020304" pitchFamily="18" charset="0"/>
                  <a:cs typeface="Times New Roman" panose="02020603050405020304" pitchFamily="18" charset="0"/>
                </a:rPr>
                <a:t>Text Preprocessing</a:t>
              </a:r>
            </a:p>
          </p:txBody>
        </p:sp>
        <p:sp>
          <p:nvSpPr>
            <p:cNvPr id="47" name="Parallelogram 46"/>
            <p:cNvSpPr/>
            <p:nvPr/>
          </p:nvSpPr>
          <p:spPr>
            <a:xfrm>
              <a:off x="3836396" y="2817516"/>
              <a:ext cx="2487507" cy="363232"/>
            </a:xfrm>
            <a:prstGeom prst="parallelogram">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solidFill>
                    <a:schemeClr val="tx1"/>
                  </a:solidFill>
                  <a:latin typeface="Times New Roman" panose="02020603050405020304" pitchFamily="18" charset="0"/>
                  <a:cs typeface="Times New Roman" panose="02020603050405020304" pitchFamily="18" charset="0"/>
                </a:rPr>
                <a:t>Model Generation</a:t>
              </a:r>
            </a:p>
          </p:txBody>
        </p:sp>
        <p:sp>
          <p:nvSpPr>
            <p:cNvPr id="48" name="Diamond 47"/>
            <p:cNvSpPr/>
            <p:nvPr/>
          </p:nvSpPr>
          <p:spPr>
            <a:xfrm>
              <a:off x="3781290" y="3395250"/>
              <a:ext cx="2597714" cy="790824"/>
            </a:xfrm>
            <a:prstGeom prst="diamond">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solidFill>
                    <a:schemeClr val="tx1"/>
                  </a:solidFill>
                  <a:latin typeface="Times New Roman" panose="02020603050405020304" pitchFamily="18" charset="0"/>
                  <a:cs typeface="Times New Roman" panose="02020603050405020304" pitchFamily="18" charset="0"/>
                </a:rPr>
                <a:t>Prediction</a:t>
              </a:r>
            </a:p>
          </p:txBody>
        </p:sp>
        <p:cxnSp>
          <p:nvCxnSpPr>
            <p:cNvPr id="49" name="Straight Arrow Connector 48"/>
            <p:cNvCxnSpPr>
              <a:stCxn id="47" idx="4"/>
              <a:endCxn id="48" idx="0"/>
            </p:cNvCxnSpPr>
            <p:nvPr/>
          </p:nvCxnSpPr>
          <p:spPr>
            <a:xfrm flipH="1">
              <a:off x="5080149" y="3180748"/>
              <a:ext cx="1" cy="214504"/>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50" name="Rectangle 49"/>
            <p:cNvSpPr/>
            <p:nvPr/>
          </p:nvSpPr>
          <p:spPr>
            <a:xfrm>
              <a:off x="3836396" y="2205453"/>
              <a:ext cx="2487507" cy="343212"/>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a:solidFill>
                    <a:schemeClr val="tx1"/>
                  </a:solidFill>
                  <a:latin typeface="Times New Roman" panose="02020603050405020304" pitchFamily="18" charset="0"/>
                  <a:cs typeface="Times New Roman" panose="02020603050405020304" pitchFamily="18" charset="0"/>
                </a:rPr>
                <a:t>Data Slicing</a:t>
              </a:r>
            </a:p>
          </p:txBody>
        </p:sp>
        <p:cxnSp>
          <p:nvCxnSpPr>
            <p:cNvPr id="51" name="Straight Arrow Connector 50"/>
            <p:cNvCxnSpPr>
              <a:stCxn id="44" idx="2"/>
              <a:endCxn id="46" idx="0"/>
            </p:cNvCxnSpPr>
            <p:nvPr/>
          </p:nvCxnSpPr>
          <p:spPr>
            <a:xfrm>
              <a:off x="5080153" y="1433230"/>
              <a:ext cx="0" cy="228804"/>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a:stCxn id="46" idx="2"/>
              <a:endCxn id="50" idx="0"/>
            </p:cNvCxnSpPr>
            <p:nvPr/>
          </p:nvCxnSpPr>
          <p:spPr>
            <a:xfrm flipH="1">
              <a:off x="5080149" y="2005246"/>
              <a:ext cx="4" cy="200208"/>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stCxn id="50" idx="2"/>
              <a:endCxn id="47" idx="0"/>
            </p:cNvCxnSpPr>
            <p:nvPr/>
          </p:nvCxnSpPr>
          <p:spPr>
            <a:xfrm>
              <a:off x="5080149" y="2548665"/>
              <a:ext cx="0" cy="26885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54" name="Oval 53"/>
            <p:cNvSpPr/>
            <p:nvPr/>
          </p:nvSpPr>
          <p:spPr>
            <a:xfrm>
              <a:off x="6850440" y="3310025"/>
              <a:ext cx="1298859" cy="979581"/>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dirty="0">
                  <a:solidFill>
                    <a:schemeClr val="tx1"/>
                  </a:solidFill>
                  <a:latin typeface="Times New Roman" panose="02020603050405020304" pitchFamily="18" charset="0"/>
                  <a:cs typeface="Times New Roman" panose="02020603050405020304" pitchFamily="18" charset="0"/>
                </a:rPr>
                <a:t>Fake/Real review</a:t>
              </a:r>
            </a:p>
          </p:txBody>
        </p:sp>
        <p:cxnSp>
          <p:nvCxnSpPr>
            <p:cNvPr id="55" name="Straight Arrow Connector 54"/>
            <p:cNvCxnSpPr>
              <a:stCxn id="48" idx="3"/>
              <a:endCxn id="54" idx="2"/>
            </p:cNvCxnSpPr>
            <p:nvPr/>
          </p:nvCxnSpPr>
          <p:spPr>
            <a:xfrm>
              <a:off x="6379004" y="3790662"/>
              <a:ext cx="471436" cy="9154"/>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56" name="Oval 55"/>
            <p:cNvSpPr/>
            <p:nvPr/>
          </p:nvSpPr>
          <p:spPr>
            <a:xfrm>
              <a:off x="4474130" y="4505224"/>
              <a:ext cx="1203650" cy="1054869"/>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a:solidFill>
                    <a:schemeClr val="tx1"/>
                  </a:solidFill>
                  <a:latin typeface="Times New Roman" panose="02020603050405020304" pitchFamily="18" charset="0"/>
                  <a:cs typeface="Times New Roman" panose="02020603050405020304" pitchFamily="18" charset="0"/>
                </a:rPr>
                <a:t>Performance</a:t>
              </a:r>
            </a:p>
          </p:txBody>
        </p:sp>
        <p:cxnSp>
          <p:nvCxnSpPr>
            <p:cNvPr id="57" name="Straight Arrow Connector 56"/>
            <p:cNvCxnSpPr>
              <a:stCxn id="48" idx="2"/>
              <a:endCxn id="56" idx="0"/>
            </p:cNvCxnSpPr>
            <p:nvPr/>
          </p:nvCxnSpPr>
          <p:spPr>
            <a:xfrm flipH="1">
              <a:off x="5075955" y="4186074"/>
              <a:ext cx="4192" cy="31915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58" name="TextBox 57"/>
            <p:cNvSpPr txBox="1"/>
            <p:nvPr/>
          </p:nvSpPr>
          <p:spPr>
            <a:xfrm>
              <a:off x="6323902" y="3492039"/>
              <a:ext cx="526541" cy="307777"/>
            </a:xfrm>
            <a:prstGeom prst="rect">
              <a:avLst/>
            </a:prstGeom>
            <a:noFill/>
            <a:ln>
              <a:solidFill>
                <a:srgbClr val="C00000"/>
              </a:solidFill>
            </a:ln>
          </p:spPr>
          <p:txBody>
            <a:bodyPr wrap="square" rtlCol="0">
              <a:spAutoFit/>
            </a:bodyPr>
            <a:lstStyle/>
            <a:p>
              <a:pPr algn="ctr"/>
              <a:r>
                <a:rPr lang="en-IN" sz="1400" dirty="0">
                  <a:latin typeface="Times New Roman" panose="02020603050405020304" pitchFamily="18" charset="0"/>
                  <a:cs typeface="Times New Roman" panose="02020603050405020304" pitchFamily="18" charset="0"/>
                </a:rPr>
                <a:t>Yes</a:t>
              </a:r>
            </a:p>
          </p:txBody>
        </p:sp>
        <p:sp>
          <p:nvSpPr>
            <p:cNvPr id="60" name="Oval 59"/>
            <p:cNvSpPr/>
            <p:nvPr/>
          </p:nvSpPr>
          <p:spPr>
            <a:xfrm>
              <a:off x="3721995" y="5760549"/>
              <a:ext cx="2707920" cy="614493"/>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a:solidFill>
                    <a:schemeClr val="tx1"/>
                  </a:solidFill>
                  <a:latin typeface="Times New Roman" panose="02020603050405020304" pitchFamily="18" charset="0"/>
                  <a:cs typeface="Times New Roman" panose="02020603050405020304" pitchFamily="18" charset="0"/>
                </a:rPr>
                <a:t>End Project</a:t>
              </a:r>
            </a:p>
          </p:txBody>
        </p:sp>
        <p:cxnSp>
          <p:nvCxnSpPr>
            <p:cNvPr id="19" name="Straight Arrow Connector 18"/>
            <p:cNvCxnSpPr>
              <a:stCxn id="56" idx="4"/>
              <a:endCxn id="60" idx="0"/>
            </p:cNvCxnSpPr>
            <p:nvPr/>
          </p:nvCxnSpPr>
          <p:spPr>
            <a:xfrm>
              <a:off x="5075955" y="5560093"/>
              <a:ext cx="0" cy="200456"/>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0360651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2018797" y="2594099"/>
            <a:ext cx="7926157" cy="1567864"/>
            <a:chOff x="2018797" y="2594099"/>
            <a:chExt cx="7926157" cy="1567864"/>
          </a:xfrm>
        </p:grpSpPr>
        <p:sp>
          <p:nvSpPr>
            <p:cNvPr id="5" name="Oval 4"/>
            <p:cNvSpPr/>
            <p:nvPr/>
          </p:nvSpPr>
          <p:spPr>
            <a:xfrm>
              <a:off x="5035640" y="2648855"/>
              <a:ext cx="1571222" cy="136516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6" name="Rectangle 5"/>
            <p:cNvSpPr/>
            <p:nvPr/>
          </p:nvSpPr>
          <p:spPr>
            <a:xfrm>
              <a:off x="8052516" y="2945714"/>
              <a:ext cx="1892438" cy="77417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0"/>
                </a:spcAft>
              </a:pPr>
              <a:r>
                <a:rPr lang="en-US" sz="1100"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PREPROCESSING </a:t>
              </a:r>
              <a:endParaRPr lang="en-IN" sz="11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 name="TextBox 4"/>
            <p:cNvSpPr txBox="1"/>
            <p:nvPr/>
          </p:nvSpPr>
          <p:spPr>
            <a:xfrm>
              <a:off x="2100081" y="3849817"/>
              <a:ext cx="1437632" cy="312146"/>
            </a:xfrm>
            <a:prstGeom prst="rect">
              <a:avLst/>
            </a:prstGeom>
            <a:noFill/>
          </p:spPr>
          <p:txBody>
            <a:bodyPr wrap="square" rtlCol="0">
              <a:noAutofit/>
            </a:bodyPr>
            <a:lstStyle/>
            <a:p>
              <a:pPr algn="ctr">
                <a:spcAft>
                  <a:spcPts val="0"/>
                </a:spcAft>
              </a:pPr>
              <a:r>
                <a:rPr lang="en-US" sz="1200" b="1"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INPUT</a:t>
              </a:r>
              <a:endParaRPr lang="en-IN" sz="12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cxnSp>
          <p:nvCxnSpPr>
            <p:cNvPr id="8" name="Straight Arrow Connector 7"/>
            <p:cNvCxnSpPr/>
            <p:nvPr/>
          </p:nvCxnSpPr>
          <p:spPr>
            <a:xfrm>
              <a:off x="3589986" y="3331435"/>
              <a:ext cx="144565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6606862" y="3153177"/>
              <a:ext cx="144565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flipH="1" flipV="1">
              <a:off x="6606862" y="3484309"/>
              <a:ext cx="1445654" cy="136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3706030" y="2945714"/>
              <a:ext cx="1329610" cy="338554"/>
            </a:xfrm>
            <a:prstGeom prst="rect">
              <a:avLst/>
            </a:prstGeom>
            <a:noFill/>
          </p:spPr>
          <p:txBody>
            <a:bodyPr wrap="square" rtlCol="0">
              <a:spAutoFit/>
            </a:bodyPr>
            <a:lstStyle/>
            <a:p>
              <a:pPr algn="ctr"/>
              <a:r>
                <a:rPr lang="en-IN" sz="1600" dirty="0">
                  <a:latin typeface="Times New Roman" panose="02020603050405020304" pitchFamily="18" charset="0"/>
                  <a:cs typeface="Times New Roman" panose="02020603050405020304" pitchFamily="18" charset="0"/>
                </a:rPr>
                <a:t>Input Image</a:t>
              </a:r>
            </a:p>
          </p:txBody>
        </p:sp>
        <p:sp>
          <p:nvSpPr>
            <p:cNvPr id="12" name="TextBox 11"/>
            <p:cNvSpPr txBox="1"/>
            <p:nvPr/>
          </p:nvSpPr>
          <p:spPr>
            <a:xfrm>
              <a:off x="6602100" y="2594099"/>
              <a:ext cx="1329610" cy="584775"/>
            </a:xfrm>
            <a:prstGeom prst="rect">
              <a:avLst/>
            </a:prstGeom>
            <a:noFill/>
          </p:spPr>
          <p:txBody>
            <a:bodyPr wrap="square" rtlCol="0">
              <a:spAutoFit/>
            </a:bodyPr>
            <a:lstStyle/>
            <a:p>
              <a:pPr algn="ctr"/>
              <a:r>
                <a:rPr lang="en-IN" sz="1600" dirty="0">
                  <a:latin typeface="Times New Roman" panose="02020603050405020304" pitchFamily="18" charset="0"/>
                  <a:cs typeface="Times New Roman" panose="02020603050405020304" pitchFamily="18" charset="0"/>
                </a:rPr>
                <a:t>Missing values</a:t>
              </a:r>
            </a:p>
          </p:txBody>
        </p:sp>
        <p:sp>
          <p:nvSpPr>
            <p:cNvPr id="13" name="TextBox 12"/>
            <p:cNvSpPr txBox="1"/>
            <p:nvPr/>
          </p:nvSpPr>
          <p:spPr>
            <a:xfrm>
              <a:off x="6693895" y="3482816"/>
              <a:ext cx="1329610" cy="584775"/>
            </a:xfrm>
            <a:prstGeom prst="rect">
              <a:avLst/>
            </a:prstGeom>
            <a:noFill/>
          </p:spPr>
          <p:txBody>
            <a:bodyPr wrap="square" rtlCol="0">
              <a:spAutoFit/>
            </a:bodyPr>
            <a:lstStyle/>
            <a:p>
              <a:pPr algn="ctr"/>
              <a:r>
                <a:rPr lang="en-IN" sz="1600" dirty="0">
                  <a:latin typeface="Times New Roman" panose="02020603050405020304" pitchFamily="18" charset="0"/>
                  <a:cs typeface="Times New Roman" panose="02020603050405020304" pitchFamily="18" charset="0"/>
                </a:rPr>
                <a:t>Label Encoding</a:t>
              </a:r>
            </a:p>
          </p:txBody>
        </p:sp>
        <p:sp>
          <p:nvSpPr>
            <p:cNvPr id="14" name="TextBox 13"/>
            <p:cNvSpPr txBox="1"/>
            <p:nvPr/>
          </p:nvSpPr>
          <p:spPr>
            <a:xfrm>
              <a:off x="5151684" y="2784131"/>
              <a:ext cx="1329610" cy="1077218"/>
            </a:xfrm>
            <a:prstGeom prst="rect">
              <a:avLst/>
            </a:prstGeom>
            <a:noFill/>
          </p:spPr>
          <p:txBody>
            <a:bodyPr wrap="square" rtlCol="0">
              <a:spAutoFit/>
            </a:bodyPr>
            <a:lstStyle/>
            <a:p>
              <a:pPr algn="ctr"/>
              <a:r>
                <a:rPr lang="en-IN" sz="1600" b="1" dirty="0">
                  <a:latin typeface="Times New Roman" panose="02020603050405020304" pitchFamily="18" charset="0"/>
                  <a:cs typeface="Times New Roman" panose="02020603050405020304" pitchFamily="18" charset="0"/>
                </a:rPr>
                <a:t>Fake product review analysis</a:t>
              </a:r>
            </a:p>
          </p:txBody>
        </p:sp>
        <p:pic>
          <p:nvPicPr>
            <p:cNvPr id="15" name="Picture 14"/>
            <p:cNvPicPr>
              <a:picLocks noChangeAspect="1"/>
            </p:cNvPicPr>
            <p:nvPr/>
          </p:nvPicPr>
          <p:blipFill>
            <a:blip r:embed="rId2"/>
            <a:stretch>
              <a:fillRect/>
            </a:stretch>
          </p:blipFill>
          <p:spPr>
            <a:xfrm>
              <a:off x="2018797" y="2784131"/>
              <a:ext cx="1600200" cy="1000274"/>
            </a:xfrm>
            <a:prstGeom prst="rect">
              <a:avLst/>
            </a:prstGeom>
          </p:spPr>
        </p:pic>
      </p:grpSp>
      <p:sp>
        <p:nvSpPr>
          <p:cNvPr id="16" name="Rectangle 15"/>
          <p:cNvSpPr/>
          <p:nvPr/>
        </p:nvSpPr>
        <p:spPr>
          <a:xfrm>
            <a:off x="178271" y="138180"/>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17" name="Title 1"/>
          <p:cNvSpPr>
            <a:spLocks noGrp="1"/>
          </p:cNvSpPr>
          <p:nvPr>
            <p:ph type="title"/>
          </p:nvPr>
        </p:nvSpPr>
        <p:spPr>
          <a:xfrm>
            <a:off x="522573" y="720474"/>
            <a:ext cx="10733561" cy="963115"/>
          </a:xfrm>
        </p:spPr>
        <p:txBody>
          <a:bodyPr>
            <a:normAutofit/>
          </a:bodyPr>
          <a:lstStyle/>
          <a:p>
            <a:pPr algn="ctr"/>
            <a:r>
              <a:rPr lang="en-US" b="1" dirty="0">
                <a:latin typeface="Times New Roman" panose="02020603050405020304" pitchFamily="18" charset="0"/>
                <a:cs typeface="Times New Roman" panose="02020603050405020304" pitchFamily="18" charset="0"/>
              </a:rPr>
              <a:t>DFD diagram – Level 0</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640125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78271" y="138180"/>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134" name="Title 1"/>
          <p:cNvSpPr>
            <a:spLocks noGrp="1"/>
          </p:cNvSpPr>
          <p:nvPr>
            <p:ph type="title"/>
          </p:nvPr>
        </p:nvSpPr>
        <p:spPr>
          <a:xfrm>
            <a:off x="749771" y="125387"/>
            <a:ext cx="10515600" cy="956591"/>
          </a:xfrm>
        </p:spPr>
        <p:txBody>
          <a:bodyPr/>
          <a:lstStyle/>
          <a:p>
            <a:pPr algn="ctr"/>
            <a:r>
              <a:rPr lang="en-US" b="1" dirty="0">
                <a:latin typeface="Times New Roman" panose="02020603050405020304" pitchFamily="18" charset="0"/>
                <a:cs typeface="Times New Roman" panose="02020603050405020304" pitchFamily="18" charset="0"/>
              </a:rPr>
              <a:t>DFD diagram – Level 1</a:t>
            </a:r>
            <a:endParaRPr lang="en-IN" b="1" dirty="0">
              <a:latin typeface="Times New Roman" panose="02020603050405020304" pitchFamily="18" charset="0"/>
              <a:cs typeface="Times New Roman" panose="02020603050405020304" pitchFamily="18" charset="0"/>
            </a:endParaRPr>
          </a:p>
        </p:txBody>
      </p:sp>
      <p:grpSp>
        <p:nvGrpSpPr>
          <p:cNvPr id="60" name="Group 59"/>
          <p:cNvGrpSpPr/>
          <p:nvPr/>
        </p:nvGrpSpPr>
        <p:grpSpPr>
          <a:xfrm>
            <a:off x="2098745" y="1605284"/>
            <a:ext cx="8395047" cy="4396101"/>
            <a:chOff x="2420717" y="1486180"/>
            <a:chExt cx="8395047" cy="4396101"/>
          </a:xfrm>
        </p:grpSpPr>
        <p:sp>
          <p:nvSpPr>
            <p:cNvPr id="3" name="Oval 2"/>
            <p:cNvSpPr/>
            <p:nvPr/>
          </p:nvSpPr>
          <p:spPr>
            <a:xfrm>
              <a:off x="5088432" y="2744983"/>
              <a:ext cx="1634339" cy="136516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27" name="TextBox 26"/>
            <p:cNvSpPr txBox="1"/>
            <p:nvPr/>
          </p:nvSpPr>
          <p:spPr>
            <a:xfrm>
              <a:off x="5240796" y="2925945"/>
              <a:ext cx="1329610" cy="1077218"/>
            </a:xfrm>
            <a:prstGeom prst="rect">
              <a:avLst/>
            </a:prstGeom>
            <a:noFill/>
          </p:spPr>
          <p:txBody>
            <a:bodyPr wrap="square" rtlCol="0">
              <a:spAutoFit/>
            </a:bodyPr>
            <a:lstStyle/>
            <a:p>
              <a:pPr algn="ctr"/>
              <a:r>
                <a:rPr lang="en-IN" sz="1600" b="1" dirty="0">
                  <a:latin typeface="Times New Roman" panose="02020603050405020304" pitchFamily="18" charset="0"/>
                  <a:cs typeface="Times New Roman" panose="02020603050405020304" pitchFamily="18" charset="0"/>
                </a:rPr>
                <a:t>Fake product review analysis</a:t>
              </a:r>
            </a:p>
          </p:txBody>
        </p:sp>
        <p:cxnSp>
          <p:nvCxnSpPr>
            <p:cNvPr id="13" name="Curved Connector 12"/>
            <p:cNvCxnSpPr>
              <a:stCxn id="3" idx="0"/>
              <a:endCxn id="40" idx="0"/>
            </p:cNvCxnSpPr>
            <p:nvPr/>
          </p:nvCxnSpPr>
          <p:spPr>
            <a:xfrm rot="5400000" flipH="1" flipV="1">
              <a:off x="6270762" y="1121021"/>
              <a:ext cx="1258803" cy="1989122"/>
            </a:xfrm>
            <a:prstGeom prst="curvedConnector3">
              <a:avLst>
                <a:gd name="adj1" fmla="val 11816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8" name="Flowchart: Alternate Process 37"/>
            <p:cNvSpPr/>
            <p:nvPr/>
          </p:nvSpPr>
          <p:spPr>
            <a:xfrm>
              <a:off x="7256876" y="3046546"/>
              <a:ext cx="1783699" cy="382799"/>
            </a:xfrm>
            <a:prstGeom prst="flowChartAlternateProcess">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IN" sz="1400" dirty="0">
                  <a:solidFill>
                    <a:schemeClr val="tx1"/>
                  </a:solidFill>
                  <a:latin typeface="Times New Roman" panose="02020603050405020304" pitchFamily="18" charset="0"/>
                  <a:cs typeface="Times New Roman" panose="02020603050405020304" pitchFamily="18" charset="0"/>
                </a:rPr>
                <a:t>Missing values</a:t>
              </a:r>
            </a:p>
          </p:txBody>
        </p:sp>
        <p:sp>
          <p:nvSpPr>
            <p:cNvPr id="40" name="Oval 39"/>
            <p:cNvSpPr/>
            <p:nvPr/>
          </p:nvSpPr>
          <p:spPr>
            <a:xfrm>
              <a:off x="7225046" y="1486180"/>
              <a:ext cx="1339356" cy="104484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latin typeface="Times New Roman" panose="02020603050405020304" pitchFamily="18" charset="0"/>
                <a:cs typeface="Times New Roman" panose="02020603050405020304" pitchFamily="18" charset="0"/>
              </a:endParaRPr>
            </a:p>
          </p:txBody>
        </p:sp>
        <p:sp>
          <p:nvSpPr>
            <p:cNvPr id="19" name="Rectangle 18"/>
            <p:cNvSpPr/>
            <p:nvPr/>
          </p:nvSpPr>
          <p:spPr>
            <a:xfrm>
              <a:off x="7328373" y="1760845"/>
              <a:ext cx="1132701" cy="523220"/>
            </a:xfrm>
            <a:prstGeom prst="rect">
              <a:avLst/>
            </a:prstGeom>
          </p:spPr>
          <p:txBody>
            <a:bodyPr wrap="square">
              <a:spAutoFit/>
            </a:bodyPr>
            <a:lstStyle/>
            <a:p>
              <a:pPr algn="ctr"/>
              <a:r>
                <a:rPr lang="en-IN" sz="1400" dirty="0">
                  <a:latin typeface="Times New Roman" panose="02020603050405020304" pitchFamily="18" charset="0"/>
                  <a:cs typeface="Times New Roman" panose="02020603050405020304" pitchFamily="18" charset="0"/>
                </a:rPr>
                <a:t>Preliminary Process</a:t>
              </a:r>
            </a:p>
          </p:txBody>
        </p:sp>
        <p:sp>
          <p:nvSpPr>
            <p:cNvPr id="42" name="Flowchart: Alternate Process 41"/>
            <p:cNvSpPr/>
            <p:nvPr/>
          </p:nvSpPr>
          <p:spPr>
            <a:xfrm>
              <a:off x="9496162" y="2115582"/>
              <a:ext cx="1319602" cy="629401"/>
            </a:xfrm>
            <a:prstGeom prst="flowChartAlternateProcess">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IN" sz="1400" dirty="0">
                  <a:solidFill>
                    <a:schemeClr val="tx1"/>
                  </a:solidFill>
                  <a:latin typeface="Times New Roman" panose="02020603050405020304" pitchFamily="18" charset="0"/>
                  <a:cs typeface="Times New Roman" panose="02020603050405020304" pitchFamily="18" charset="0"/>
                </a:rPr>
                <a:t>Label Encoding</a:t>
              </a:r>
            </a:p>
          </p:txBody>
        </p:sp>
        <p:cxnSp>
          <p:nvCxnSpPr>
            <p:cNvPr id="43" name="Elbow Connector 42"/>
            <p:cNvCxnSpPr>
              <a:stCxn id="40" idx="6"/>
              <a:endCxn id="42" idx="0"/>
            </p:cNvCxnSpPr>
            <p:nvPr/>
          </p:nvCxnSpPr>
          <p:spPr>
            <a:xfrm>
              <a:off x="8564402" y="2008602"/>
              <a:ext cx="1591561" cy="106980"/>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Elbow Connector 44"/>
            <p:cNvCxnSpPr>
              <a:stCxn id="40" idx="4"/>
              <a:endCxn id="38" idx="0"/>
            </p:cNvCxnSpPr>
            <p:nvPr/>
          </p:nvCxnSpPr>
          <p:spPr>
            <a:xfrm rot="16200000" flipH="1">
              <a:off x="7763964" y="2661783"/>
              <a:ext cx="515523" cy="254002"/>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7" name="Oval 46"/>
            <p:cNvSpPr/>
            <p:nvPr/>
          </p:nvSpPr>
          <p:spPr>
            <a:xfrm>
              <a:off x="6230485" y="4837438"/>
              <a:ext cx="1339356" cy="104484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latin typeface="Times New Roman" panose="02020603050405020304" pitchFamily="18" charset="0"/>
                <a:cs typeface="Times New Roman" panose="02020603050405020304" pitchFamily="18" charset="0"/>
              </a:endParaRPr>
            </a:p>
          </p:txBody>
        </p:sp>
        <p:sp>
          <p:nvSpPr>
            <p:cNvPr id="48" name="Rectangle 47"/>
            <p:cNvSpPr/>
            <p:nvPr/>
          </p:nvSpPr>
          <p:spPr>
            <a:xfrm>
              <a:off x="6333812" y="5115473"/>
              <a:ext cx="1132701" cy="307777"/>
            </a:xfrm>
            <a:prstGeom prst="rect">
              <a:avLst/>
            </a:prstGeom>
          </p:spPr>
          <p:txBody>
            <a:bodyPr wrap="square">
              <a:spAutoFit/>
            </a:bodyPr>
            <a:lstStyle/>
            <a:p>
              <a:pPr algn="ctr"/>
              <a:r>
                <a:rPr lang="en-IN" sz="1400" dirty="0">
                  <a:latin typeface="Times New Roman" panose="02020603050405020304" pitchFamily="18" charset="0"/>
                  <a:cs typeface="Times New Roman" panose="02020603050405020304" pitchFamily="18" charset="0"/>
                </a:rPr>
                <a:t>Data Slicing</a:t>
              </a:r>
            </a:p>
          </p:txBody>
        </p:sp>
        <p:cxnSp>
          <p:nvCxnSpPr>
            <p:cNvPr id="49" name="Curved Connector 48"/>
            <p:cNvCxnSpPr>
              <a:stCxn id="3" idx="4"/>
              <a:endCxn id="47" idx="0"/>
            </p:cNvCxnSpPr>
            <p:nvPr/>
          </p:nvCxnSpPr>
          <p:spPr>
            <a:xfrm rot="16200000" flipH="1">
              <a:off x="6039235" y="3976510"/>
              <a:ext cx="727294" cy="994561"/>
            </a:xfrm>
            <a:prstGeom prst="curved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3" name="Oval 52"/>
            <p:cNvSpPr/>
            <p:nvPr/>
          </p:nvSpPr>
          <p:spPr>
            <a:xfrm>
              <a:off x="2964710" y="2531022"/>
              <a:ext cx="1339356" cy="104484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latin typeface="Times New Roman" panose="02020603050405020304" pitchFamily="18" charset="0"/>
                <a:cs typeface="Times New Roman" panose="02020603050405020304" pitchFamily="18" charset="0"/>
              </a:endParaRPr>
            </a:p>
          </p:txBody>
        </p:sp>
        <p:sp>
          <p:nvSpPr>
            <p:cNvPr id="54" name="Rectangle 53"/>
            <p:cNvSpPr/>
            <p:nvPr/>
          </p:nvSpPr>
          <p:spPr>
            <a:xfrm>
              <a:off x="3039458" y="2784936"/>
              <a:ext cx="1189857" cy="523220"/>
            </a:xfrm>
            <a:prstGeom prst="rect">
              <a:avLst/>
            </a:prstGeom>
          </p:spPr>
          <p:txBody>
            <a:bodyPr wrap="square">
              <a:spAutoFit/>
            </a:bodyPr>
            <a:lstStyle/>
            <a:p>
              <a:pPr algn="ctr"/>
              <a:r>
                <a:rPr lang="en-IN" sz="1400" dirty="0">
                  <a:latin typeface="Times New Roman" panose="02020603050405020304" pitchFamily="18" charset="0"/>
                  <a:cs typeface="Times New Roman" panose="02020603050405020304" pitchFamily="18" charset="0"/>
                </a:rPr>
                <a:t>Text Preprocessing</a:t>
              </a:r>
            </a:p>
          </p:txBody>
        </p:sp>
        <p:cxnSp>
          <p:nvCxnSpPr>
            <p:cNvPr id="55" name="Curved Connector 54"/>
            <p:cNvCxnSpPr>
              <a:stCxn id="3" idx="2"/>
              <a:endCxn id="53" idx="0"/>
            </p:cNvCxnSpPr>
            <p:nvPr/>
          </p:nvCxnSpPr>
          <p:spPr>
            <a:xfrm rot="10800000">
              <a:off x="3634388" y="2531022"/>
              <a:ext cx="1454044" cy="896542"/>
            </a:xfrm>
            <a:prstGeom prst="curvedConnector4">
              <a:avLst>
                <a:gd name="adj1" fmla="val 26972"/>
                <a:gd name="adj2" fmla="val 125498"/>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7" name="Flowchart: Alternate Process 56"/>
            <p:cNvSpPr/>
            <p:nvPr/>
          </p:nvSpPr>
          <p:spPr>
            <a:xfrm>
              <a:off x="2420717" y="4282390"/>
              <a:ext cx="1783699" cy="555048"/>
            </a:xfrm>
            <a:prstGeom prst="flowChartAlternateProcess">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en-IN" sz="1400" dirty="0">
                  <a:solidFill>
                    <a:schemeClr val="tx1"/>
                  </a:solidFill>
                  <a:latin typeface="Times New Roman" panose="02020603050405020304" pitchFamily="18" charset="0"/>
                  <a:cs typeface="Times New Roman" panose="02020603050405020304" pitchFamily="18" charset="0"/>
                </a:rPr>
                <a:t>NLP</a:t>
              </a:r>
            </a:p>
          </p:txBody>
        </p:sp>
        <p:cxnSp>
          <p:nvCxnSpPr>
            <p:cNvPr id="59" name="Elbow Connector 58"/>
            <p:cNvCxnSpPr>
              <a:stCxn id="53" idx="4"/>
              <a:endCxn id="57" idx="0"/>
            </p:cNvCxnSpPr>
            <p:nvPr/>
          </p:nvCxnSpPr>
          <p:spPr>
            <a:xfrm rot="5400000">
              <a:off x="3120216" y="3768217"/>
              <a:ext cx="706525" cy="321821"/>
            </a:xfrm>
            <a:prstGeom prst="bentConnector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519149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78271" y="138180"/>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134" name="Title 1"/>
          <p:cNvSpPr>
            <a:spLocks noGrp="1"/>
          </p:cNvSpPr>
          <p:nvPr>
            <p:ph type="title"/>
          </p:nvPr>
        </p:nvSpPr>
        <p:spPr>
          <a:xfrm>
            <a:off x="749771" y="125387"/>
            <a:ext cx="10515600" cy="956591"/>
          </a:xfrm>
        </p:spPr>
        <p:txBody>
          <a:bodyPr/>
          <a:lstStyle/>
          <a:p>
            <a:pPr algn="ctr"/>
            <a:r>
              <a:rPr lang="en-US" b="1" dirty="0">
                <a:latin typeface="Times New Roman" panose="02020603050405020304" pitchFamily="18" charset="0"/>
                <a:cs typeface="Times New Roman" panose="02020603050405020304" pitchFamily="18" charset="0"/>
              </a:rPr>
              <a:t>DFD diagram – Level 2</a:t>
            </a:r>
            <a:endParaRPr lang="en-IN" b="1" dirty="0">
              <a:latin typeface="Times New Roman" panose="02020603050405020304" pitchFamily="18" charset="0"/>
              <a:cs typeface="Times New Roman" panose="02020603050405020304" pitchFamily="18" charset="0"/>
            </a:endParaRPr>
          </a:p>
        </p:txBody>
      </p:sp>
      <p:grpSp>
        <p:nvGrpSpPr>
          <p:cNvPr id="32" name="Group 31"/>
          <p:cNvGrpSpPr/>
          <p:nvPr/>
        </p:nvGrpSpPr>
        <p:grpSpPr>
          <a:xfrm>
            <a:off x="1668537" y="985850"/>
            <a:ext cx="8276417" cy="4900866"/>
            <a:chOff x="1668537" y="985850"/>
            <a:chExt cx="8276417" cy="4900866"/>
          </a:xfrm>
        </p:grpSpPr>
        <p:sp>
          <p:nvSpPr>
            <p:cNvPr id="3" name="Oval 2"/>
            <p:cNvSpPr/>
            <p:nvPr/>
          </p:nvSpPr>
          <p:spPr>
            <a:xfrm>
              <a:off x="4972523" y="2648855"/>
              <a:ext cx="1634339" cy="136516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p:cNvSpPr/>
            <p:nvPr/>
          </p:nvSpPr>
          <p:spPr>
            <a:xfrm>
              <a:off x="8052516" y="2945714"/>
              <a:ext cx="1892438" cy="77417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0"/>
                </a:spcAft>
              </a:pPr>
              <a:r>
                <a:rPr lang="en-US" sz="1100" b="1"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CLASSIFICATION</a:t>
              </a:r>
              <a:endParaRPr lang="en-IN" sz="1100" b="1"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cxnSp>
          <p:nvCxnSpPr>
            <p:cNvPr id="12" name="Straight Arrow Connector 11"/>
            <p:cNvCxnSpPr/>
            <p:nvPr/>
          </p:nvCxnSpPr>
          <p:spPr>
            <a:xfrm>
              <a:off x="3555880" y="3117820"/>
              <a:ext cx="144565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6606862" y="3153177"/>
              <a:ext cx="144565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H="1" flipV="1">
              <a:off x="6606862" y="3484309"/>
              <a:ext cx="1445654" cy="136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3642913" y="2837779"/>
              <a:ext cx="1329610" cy="276999"/>
            </a:xfrm>
            <a:prstGeom prst="rect">
              <a:avLst/>
            </a:prstGeom>
            <a:noFill/>
          </p:spPr>
          <p:txBody>
            <a:bodyPr wrap="square" rtlCol="0">
              <a:spAutoFit/>
            </a:bodyPr>
            <a:lstStyle/>
            <a:p>
              <a:pPr algn="ctr"/>
              <a:r>
                <a:rPr lang="en-IN" sz="1200" dirty="0">
                  <a:latin typeface="Times New Roman" panose="02020603050405020304" pitchFamily="18" charset="0"/>
                  <a:cs typeface="Times New Roman" panose="02020603050405020304" pitchFamily="18" charset="0"/>
                </a:rPr>
                <a:t>Vectorization</a:t>
              </a:r>
            </a:p>
          </p:txBody>
        </p:sp>
        <p:sp>
          <p:nvSpPr>
            <p:cNvPr id="25" name="TextBox 24"/>
            <p:cNvSpPr txBox="1"/>
            <p:nvPr/>
          </p:nvSpPr>
          <p:spPr>
            <a:xfrm>
              <a:off x="6599169" y="2771702"/>
              <a:ext cx="1329610" cy="338554"/>
            </a:xfrm>
            <a:prstGeom prst="rect">
              <a:avLst/>
            </a:prstGeom>
            <a:noFill/>
          </p:spPr>
          <p:txBody>
            <a:bodyPr wrap="square" rtlCol="0">
              <a:spAutoFit/>
            </a:bodyPr>
            <a:lstStyle/>
            <a:p>
              <a:pPr algn="ctr"/>
              <a:r>
                <a:rPr lang="en-IN" sz="1600" dirty="0">
                  <a:latin typeface="Times New Roman" panose="02020603050405020304" pitchFamily="18" charset="0"/>
                  <a:cs typeface="Times New Roman" panose="02020603050405020304" pitchFamily="18" charset="0"/>
                </a:rPr>
                <a:t>LR</a:t>
              </a:r>
            </a:p>
          </p:txBody>
        </p:sp>
        <p:sp>
          <p:nvSpPr>
            <p:cNvPr id="26" name="TextBox 25"/>
            <p:cNvSpPr txBox="1"/>
            <p:nvPr/>
          </p:nvSpPr>
          <p:spPr>
            <a:xfrm>
              <a:off x="6693895" y="3482816"/>
              <a:ext cx="1329610" cy="584775"/>
            </a:xfrm>
            <a:prstGeom prst="rect">
              <a:avLst/>
            </a:prstGeom>
            <a:noFill/>
          </p:spPr>
          <p:txBody>
            <a:bodyPr wrap="square" rtlCol="0">
              <a:spAutoFit/>
            </a:bodyPr>
            <a:lstStyle/>
            <a:p>
              <a:pPr algn="ctr"/>
              <a:r>
                <a:rPr lang="en-IN" sz="1600" dirty="0">
                  <a:latin typeface="Times New Roman" panose="02020603050405020304" pitchFamily="18" charset="0"/>
                  <a:cs typeface="Times New Roman" panose="02020603050405020304" pitchFamily="18" charset="0"/>
                </a:rPr>
                <a:t>Hybrid RF  + DT</a:t>
              </a:r>
            </a:p>
          </p:txBody>
        </p:sp>
        <p:sp>
          <p:nvSpPr>
            <p:cNvPr id="27" name="TextBox 26"/>
            <p:cNvSpPr txBox="1"/>
            <p:nvPr/>
          </p:nvSpPr>
          <p:spPr>
            <a:xfrm>
              <a:off x="5131705" y="2757854"/>
              <a:ext cx="1329610" cy="1077218"/>
            </a:xfrm>
            <a:prstGeom prst="rect">
              <a:avLst/>
            </a:prstGeom>
            <a:noFill/>
          </p:spPr>
          <p:txBody>
            <a:bodyPr wrap="square" rtlCol="0">
              <a:spAutoFit/>
            </a:bodyPr>
            <a:lstStyle/>
            <a:p>
              <a:pPr algn="ctr"/>
              <a:r>
                <a:rPr lang="en-IN" sz="1600" b="1" dirty="0">
                  <a:latin typeface="Times New Roman" panose="02020603050405020304" pitchFamily="18" charset="0"/>
                  <a:cs typeface="Times New Roman" panose="02020603050405020304" pitchFamily="18" charset="0"/>
                </a:rPr>
                <a:t>Fake product review analysis</a:t>
              </a:r>
            </a:p>
          </p:txBody>
        </p:sp>
        <p:sp>
          <p:nvSpPr>
            <p:cNvPr id="17" name="Rectangle 16"/>
            <p:cNvSpPr/>
            <p:nvPr/>
          </p:nvSpPr>
          <p:spPr>
            <a:xfrm>
              <a:off x="1668537" y="2897181"/>
              <a:ext cx="1892438" cy="77417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0"/>
                </a:spcAft>
              </a:pPr>
              <a:r>
                <a:rPr lang="en-US" sz="1100" b="1"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FEATURE EXTRACTION</a:t>
              </a:r>
              <a:endParaRPr lang="en-IN" sz="1100" b="1"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cxnSp>
          <p:nvCxnSpPr>
            <p:cNvPr id="23" name="Straight Arrow Connector 22"/>
            <p:cNvCxnSpPr/>
            <p:nvPr/>
          </p:nvCxnSpPr>
          <p:spPr>
            <a:xfrm flipH="1" flipV="1">
              <a:off x="3543922" y="3494465"/>
              <a:ext cx="1445654" cy="136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Rectangle 27"/>
            <p:cNvSpPr/>
            <p:nvPr/>
          </p:nvSpPr>
          <p:spPr>
            <a:xfrm>
              <a:off x="4972523" y="5112542"/>
              <a:ext cx="1892438" cy="77417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0"/>
                </a:spcAft>
              </a:pPr>
              <a:r>
                <a:rPr lang="en-US" sz="1100" b="1"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PERFORMANCE ANALYSIS</a:t>
              </a:r>
              <a:endParaRPr lang="en-IN" sz="1100" b="1"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29" name="Rectangle 28"/>
            <p:cNvSpPr/>
            <p:nvPr/>
          </p:nvSpPr>
          <p:spPr>
            <a:xfrm>
              <a:off x="4843473" y="985850"/>
              <a:ext cx="1892438" cy="77417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0"/>
                </a:spcAft>
              </a:pPr>
              <a:r>
                <a:rPr lang="en-US" sz="1100" b="1" kern="1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DATA SPLITTING</a:t>
              </a:r>
              <a:endParaRPr lang="en-IN" sz="1100" b="1"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cxnSp>
          <p:nvCxnSpPr>
            <p:cNvPr id="6" name="Straight Arrow Connector 5"/>
            <p:cNvCxnSpPr/>
            <p:nvPr/>
          </p:nvCxnSpPr>
          <p:spPr>
            <a:xfrm>
              <a:off x="5525037" y="1760024"/>
              <a:ext cx="12878" cy="88883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flipV="1">
              <a:off x="6007571" y="1760024"/>
              <a:ext cx="0" cy="88883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5537915" y="4014016"/>
              <a:ext cx="0" cy="109852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28" idx="0"/>
            </p:cNvCxnSpPr>
            <p:nvPr/>
          </p:nvCxnSpPr>
          <p:spPr>
            <a:xfrm flipV="1">
              <a:off x="5918742" y="4014016"/>
              <a:ext cx="0" cy="109852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3656548" y="3543880"/>
              <a:ext cx="1329610" cy="276999"/>
            </a:xfrm>
            <a:prstGeom prst="rect">
              <a:avLst/>
            </a:prstGeom>
            <a:noFill/>
          </p:spPr>
          <p:txBody>
            <a:bodyPr wrap="square" rtlCol="0">
              <a:spAutoFit/>
            </a:bodyPr>
            <a:lstStyle/>
            <a:p>
              <a:pPr algn="ctr"/>
              <a:r>
                <a:rPr lang="en-IN" sz="1200" dirty="0">
                  <a:latin typeface="Times New Roman" panose="02020603050405020304" pitchFamily="18" charset="0"/>
                  <a:cs typeface="Times New Roman" panose="02020603050405020304" pitchFamily="18" charset="0"/>
                </a:rPr>
                <a:t>NLP</a:t>
              </a:r>
            </a:p>
          </p:txBody>
        </p:sp>
        <p:sp>
          <p:nvSpPr>
            <p:cNvPr id="34" name="TextBox 33"/>
            <p:cNvSpPr txBox="1"/>
            <p:nvPr/>
          </p:nvSpPr>
          <p:spPr>
            <a:xfrm>
              <a:off x="5856460" y="2089662"/>
              <a:ext cx="1329610" cy="338554"/>
            </a:xfrm>
            <a:prstGeom prst="rect">
              <a:avLst/>
            </a:prstGeom>
            <a:noFill/>
          </p:spPr>
          <p:txBody>
            <a:bodyPr wrap="square" rtlCol="0">
              <a:spAutoFit/>
            </a:bodyPr>
            <a:lstStyle/>
            <a:p>
              <a:pPr algn="ctr"/>
              <a:r>
                <a:rPr lang="en-IN" sz="1600" dirty="0">
                  <a:latin typeface="Times New Roman" panose="02020603050405020304" pitchFamily="18" charset="0"/>
                  <a:cs typeface="Times New Roman" panose="02020603050405020304" pitchFamily="18" charset="0"/>
                </a:rPr>
                <a:t>Data Image</a:t>
              </a:r>
            </a:p>
          </p:txBody>
        </p:sp>
        <p:sp>
          <p:nvSpPr>
            <p:cNvPr id="35" name="TextBox 34"/>
            <p:cNvSpPr txBox="1"/>
            <p:nvPr/>
          </p:nvSpPr>
          <p:spPr>
            <a:xfrm>
              <a:off x="4307718" y="2087514"/>
              <a:ext cx="1329610" cy="338554"/>
            </a:xfrm>
            <a:prstGeom prst="rect">
              <a:avLst/>
            </a:prstGeom>
            <a:noFill/>
          </p:spPr>
          <p:txBody>
            <a:bodyPr wrap="square" rtlCol="0">
              <a:spAutoFit/>
            </a:bodyPr>
            <a:lstStyle/>
            <a:p>
              <a:pPr algn="ctr"/>
              <a:r>
                <a:rPr lang="en-IN" sz="1600" dirty="0">
                  <a:latin typeface="Times New Roman" panose="02020603050405020304" pitchFamily="18" charset="0"/>
                  <a:cs typeface="Times New Roman" panose="02020603050405020304" pitchFamily="18" charset="0"/>
                </a:rPr>
                <a:t>Data Image</a:t>
              </a:r>
            </a:p>
          </p:txBody>
        </p:sp>
        <p:sp>
          <p:nvSpPr>
            <p:cNvPr id="36" name="TextBox 35"/>
            <p:cNvSpPr txBox="1"/>
            <p:nvPr/>
          </p:nvSpPr>
          <p:spPr>
            <a:xfrm>
              <a:off x="4303619" y="4339905"/>
              <a:ext cx="1329610" cy="584775"/>
            </a:xfrm>
            <a:prstGeom prst="rect">
              <a:avLst/>
            </a:prstGeom>
            <a:noFill/>
          </p:spPr>
          <p:txBody>
            <a:bodyPr wrap="square" rtlCol="0">
              <a:spAutoFit/>
            </a:bodyPr>
            <a:lstStyle/>
            <a:p>
              <a:pPr algn="ctr"/>
              <a:r>
                <a:rPr lang="en-IN" sz="1600" dirty="0">
                  <a:latin typeface="Times New Roman" panose="02020603050405020304" pitchFamily="18" charset="0"/>
                  <a:cs typeface="Times New Roman" panose="02020603050405020304" pitchFamily="18" charset="0"/>
                </a:rPr>
                <a:t>Accuracy,</a:t>
              </a:r>
            </a:p>
            <a:p>
              <a:pPr algn="ctr"/>
              <a:r>
                <a:rPr lang="en-IN" sz="1600" dirty="0">
                  <a:latin typeface="Times New Roman" panose="02020603050405020304" pitchFamily="18" charset="0"/>
                  <a:cs typeface="Times New Roman" panose="02020603050405020304" pitchFamily="18" charset="0"/>
                </a:rPr>
                <a:t>Error rate</a:t>
              </a:r>
            </a:p>
          </p:txBody>
        </p:sp>
        <p:sp>
          <p:nvSpPr>
            <p:cNvPr id="37" name="TextBox 36"/>
            <p:cNvSpPr txBox="1"/>
            <p:nvPr/>
          </p:nvSpPr>
          <p:spPr>
            <a:xfrm>
              <a:off x="5867982" y="4337377"/>
              <a:ext cx="1329610" cy="338554"/>
            </a:xfrm>
            <a:prstGeom prst="rect">
              <a:avLst/>
            </a:prstGeom>
            <a:noFill/>
          </p:spPr>
          <p:txBody>
            <a:bodyPr wrap="square" rtlCol="0">
              <a:spAutoFit/>
            </a:bodyPr>
            <a:lstStyle/>
            <a:p>
              <a:pPr algn="ctr"/>
              <a:r>
                <a:rPr lang="en-IN" sz="1600" dirty="0">
                  <a:latin typeface="Times New Roman" panose="02020603050405020304" pitchFamily="18" charset="0"/>
                  <a:cs typeface="Times New Roman" panose="02020603050405020304" pitchFamily="18" charset="0"/>
                </a:rPr>
                <a:t>Comparison</a:t>
              </a:r>
            </a:p>
          </p:txBody>
        </p:sp>
      </p:grpSp>
    </p:spTree>
    <p:extLst>
      <p:ext uri="{BB962C8B-B14F-4D97-AF65-F5344CB8AC3E}">
        <p14:creationId xmlns:p14="http://schemas.microsoft.com/office/powerpoint/2010/main" val="19444468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31630" y="316471"/>
            <a:ext cx="10751881" cy="707886"/>
          </a:xfrm>
          <a:prstGeom prst="rect">
            <a:avLst/>
          </a:prstGeom>
          <a:noFill/>
        </p:spPr>
        <p:txBody>
          <a:bodyPr wrap="square" rtlCol="0">
            <a:spAutoFit/>
          </a:bodyPr>
          <a:lstStyle/>
          <a:p>
            <a:pPr algn="ctr"/>
            <a:r>
              <a:rPr lang="en-US" sz="4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Use case Diagram</a:t>
            </a:r>
            <a:endParaRPr lang="en-IN" sz="4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nvGrpSpPr>
          <p:cNvPr id="35" name="Group 34"/>
          <p:cNvGrpSpPr/>
          <p:nvPr/>
        </p:nvGrpSpPr>
        <p:grpSpPr>
          <a:xfrm>
            <a:off x="1815920" y="927279"/>
            <a:ext cx="7984902" cy="5164427"/>
            <a:chOff x="0" y="0"/>
            <a:chExt cx="6442252" cy="6066076"/>
          </a:xfrm>
        </p:grpSpPr>
        <p:sp>
          <p:nvSpPr>
            <p:cNvPr id="62" name="Rectangle 61"/>
            <p:cNvSpPr>
              <a:spLocks/>
            </p:cNvSpPr>
            <p:nvPr/>
          </p:nvSpPr>
          <p:spPr bwMode="auto">
            <a:xfrm>
              <a:off x="2127714" y="0"/>
              <a:ext cx="2648984" cy="606607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pSp>
          <p:nvGrpSpPr>
            <p:cNvPr id="63" name="Group 62"/>
            <p:cNvGrpSpPr/>
            <p:nvPr/>
          </p:nvGrpSpPr>
          <p:grpSpPr>
            <a:xfrm>
              <a:off x="5653214" y="1602381"/>
              <a:ext cx="382910" cy="1502787"/>
              <a:chOff x="5653214" y="1602382"/>
              <a:chExt cx="464766" cy="1441770"/>
            </a:xfrm>
          </p:grpSpPr>
          <p:sp>
            <p:nvSpPr>
              <p:cNvPr id="86" name="Freeform 85"/>
              <p:cNvSpPr>
                <a:spLocks/>
              </p:cNvSpPr>
              <p:nvPr/>
            </p:nvSpPr>
            <p:spPr bwMode="auto">
              <a:xfrm>
                <a:off x="5653214" y="1602382"/>
                <a:ext cx="464766" cy="473075"/>
              </a:xfrm>
              <a:custGeom>
                <a:avLst/>
                <a:gdLst>
                  <a:gd name="T0" fmla="*/ 335 w 732"/>
                  <a:gd name="T1" fmla="*/ 1 h 745"/>
                  <a:gd name="T2" fmla="*/ 278 w 732"/>
                  <a:gd name="T3" fmla="*/ 10 h 745"/>
                  <a:gd name="T4" fmla="*/ 223 w 732"/>
                  <a:gd name="T5" fmla="*/ 29 h 745"/>
                  <a:gd name="T6" fmla="*/ 173 w 732"/>
                  <a:gd name="T7" fmla="*/ 55 h 745"/>
                  <a:gd name="T8" fmla="*/ 127 w 732"/>
                  <a:gd name="T9" fmla="*/ 89 h 745"/>
                  <a:gd name="T10" fmla="*/ 88 w 732"/>
                  <a:gd name="T11" fmla="*/ 129 h 745"/>
                  <a:gd name="T12" fmla="*/ 54 w 732"/>
                  <a:gd name="T13" fmla="*/ 176 h 745"/>
                  <a:gd name="T14" fmla="*/ 28 w 732"/>
                  <a:gd name="T15" fmla="*/ 227 h 745"/>
                  <a:gd name="T16" fmla="*/ 10 w 732"/>
                  <a:gd name="T17" fmla="*/ 282 h 745"/>
                  <a:gd name="T18" fmla="*/ 1 w 732"/>
                  <a:gd name="T19" fmla="*/ 341 h 745"/>
                  <a:gd name="T20" fmla="*/ 1 w 732"/>
                  <a:gd name="T21" fmla="*/ 402 h 745"/>
                  <a:gd name="T22" fmla="*/ 10 w 732"/>
                  <a:gd name="T23" fmla="*/ 461 h 745"/>
                  <a:gd name="T24" fmla="*/ 28 w 732"/>
                  <a:gd name="T25" fmla="*/ 516 h 745"/>
                  <a:gd name="T26" fmla="*/ 54 w 732"/>
                  <a:gd name="T27" fmla="*/ 567 h 745"/>
                  <a:gd name="T28" fmla="*/ 88 w 732"/>
                  <a:gd name="T29" fmla="*/ 614 h 745"/>
                  <a:gd name="T30" fmla="*/ 127 w 732"/>
                  <a:gd name="T31" fmla="*/ 654 h 745"/>
                  <a:gd name="T32" fmla="*/ 173 w 732"/>
                  <a:gd name="T33" fmla="*/ 688 h 745"/>
                  <a:gd name="T34" fmla="*/ 223 w 732"/>
                  <a:gd name="T35" fmla="*/ 714 h 745"/>
                  <a:gd name="T36" fmla="*/ 278 w 732"/>
                  <a:gd name="T37" fmla="*/ 733 h 745"/>
                  <a:gd name="T38" fmla="*/ 335 w 732"/>
                  <a:gd name="T39" fmla="*/ 742 h 745"/>
                  <a:gd name="T40" fmla="*/ 396 w 732"/>
                  <a:gd name="T41" fmla="*/ 742 h 745"/>
                  <a:gd name="T42" fmla="*/ 453 w 732"/>
                  <a:gd name="T43" fmla="*/ 733 h 745"/>
                  <a:gd name="T44" fmla="*/ 508 w 732"/>
                  <a:gd name="T45" fmla="*/ 714 h 745"/>
                  <a:gd name="T46" fmla="*/ 558 w 732"/>
                  <a:gd name="T47" fmla="*/ 688 h 745"/>
                  <a:gd name="T48" fmla="*/ 604 w 732"/>
                  <a:gd name="T49" fmla="*/ 654 h 745"/>
                  <a:gd name="T50" fmla="*/ 643 w 732"/>
                  <a:gd name="T51" fmla="*/ 614 h 745"/>
                  <a:gd name="T52" fmla="*/ 677 w 732"/>
                  <a:gd name="T53" fmla="*/ 567 h 745"/>
                  <a:gd name="T54" fmla="*/ 703 w 732"/>
                  <a:gd name="T55" fmla="*/ 516 h 745"/>
                  <a:gd name="T56" fmla="*/ 721 w 732"/>
                  <a:gd name="T57" fmla="*/ 461 h 745"/>
                  <a:gd name="T58" fmla="*/ 730 w 732"/>
                  <a:gd name="T59" fmla="*/ 402 h 745"/>
                  <a:gd name="T60" fmla="*/ 730 w 732"/>
                  <a:gd name="T61" fmla="*/ 341 h 745"/>
                  <a:gd name="T62" fmla="*/ 721 w 732"/>
                  <a:gd name="T63" fmla="*/ 282 h 745"/>
                  <a:gd name="T64" fmla="*/ 703 w 732"/>
                  <a:gd name="T65" fmla="*/ 227 h 745"/>
                  <a:gd name="T66" fmla="*/ 677 w 732"/>
                  <a:gd name="T67" fmla="*/ 176 h 745"/>
                  <a:gd name="T68" fmla="*/ 643 w 732"/>
                  <a:gd name="T69" fmla="*/ 129 h 745"/>
                  <a:gd name="T70" fmla="*/ 604 w 732"/>
                  <a:gd name="T71" fmla="*/ 89 h 745"/>
                  <a:gd name="T72" fmla="*/ 558 w 732"/>
                  <a:gd name="T73" fmla="*/ 55 h 745"/>
                  <a:gd name="T74" fmla="*/ 508 w 732"/>
                  <a:gd name="T75" fmla="*/ 29 h 745"/>
                  <a:gd name="T76" fmla="*/ 453 w 732"/>
                  <a:gd name="T77" fmla="*/ 10 h 745"/>
                  <a:gd name="T78" fmla="*/ 396 w 732"/>
                  <a:gd name="T79" fmla="*/ 1 h 7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732" h="745">
                    <a:moveTo>
                      <a:pt x="366" y="0"/>
                    </a:moveTo>
                    <a:lnTo>
                      <a:pt x="335" y="1"/>
                    </a:lnTo>
                    <a:lnTo>
                      <a:pt x="306" y="4"/>
                    </a:lnTo>
                    <a:lnTo>
                      <a:pt x="278" y="10"/>
                    </a:lnTo>
                    <a:lnTo>
                      <a:pt x="250" y="18"/>
                    </a:lnTo>
                    <a:lnTo>
                      <a:pt x="223" y="29"/>
                    </a:lnTo>
                    <a:lnTo>
                      <a:pt x="197" y="41"/>
                    </a:lnTo>
                    <a:lnTo>
                      <a:pt x="173" y="55"/>
                    </a:lnTo>
                    <a:lnTo>
                      <a:pt x="149" y="71"/>
                    </a:lnTo>
                    <a:lnTo>
                      <a:pt x="127" y="89"/>
                    </a:lnTo>
                    <a:lnTo>
                      <a:pt x="107" y="108"/>
                    </a:lnTo>
                    <a:lnTo>
                      <a:pt x="88" y="129"/>
                    </a:lnTo>
                    <a:lnTo>
                      <a:pt x="70" y="152"/>
                    </a:lnTo>
                    <a:lnTo>
                      <a:pt x="54" y="176"/>
                    </a:lnTo>
                    <a:lnTo>
                      <a:pt x="40" y="201"/>
                    </a:lnTo>
                    <a:lnTo>
                      <a:pt x="28" y="227"/>
                    </a:lnTo>
                    <a:lnTo>
                      <a:pt x="18" y="254"/>
                    </a:lnTo>
                    <a:lnTo>
                      <a:pt x="10" y="282"/>
                    </a:lnTo>
                    <a:lnTo>
                      <a:pt x="4" y="311"/>
                    </a:lnTo>
                    <a:lnTo>
                      <a:pt x="1" y="341"/>
                    </a:lnTo>
                    <a:lnTo>
                      <a:pt x="0" y="372"/>
                    </a:lnTo>
                    <a:lnTo>
                      <a:pt x="1" y="402"/>
                    </a:lnTo>
                    <a:lnTo>
                      <a:pt x="4" y="432"/>
                    </a:lnTo>
                    <a:lnTo>
                      <a:pt x="10" y="461"/>
                    </a:lnTo>
                    <a:lnTo>
                      <a:pt x="18" y="489"/>
                    </a:lnTo>
                    <a:lnTo>
                      <a:pt x="28" y="516"/>
                    </a:lnTo>
                    <a:lnTo>
                      <a:pt x="40" y="542"/>
                    </a:lnTo>
                    <a:lnTo>
                      <a:pt x="54" y="567"/>
                    </a:lnTo>
                    <a:lnTo>
                      <a:pt x="70" y="591"/>
                    </a:lnTo>
                    <a:lnTo>
                      <a:pt x="88" y="614"/>
                    </a:lnTo>
                    <a:lnTo>
                      <a:pt x="107" y="635"/>
                    </a:lnTo>
                    <a:lnTo>
                      <a:pt x="127" y="654"/>
                    </a:lnTo>
                    <a:lnTo>
                      <a:pt x="149" y="672"/>
                    </a:lnTo>
                    <a:lnTo>
                      <a:pt x="173" y="688"/>
                    </a:lnTo>
                    <a:lnTo>
                      <a:pt x="197" y="702"/>
                    </a:lnTo>
                    <a:lnTo>
                      <a:pt x="223" y="714"/>
                    </a:lnTo>
                    <a:lnTo>
                      <a:pt x="250" y="725"/>
                    </a:lnTo>
                    <a:lnTo>
                      <a:pt x="278" y="733"/>
                    </a:lnTo>
                    <a:lnTo>
                      <a:pt x="306" y="739"/>
                    </a:lnTo>
                    <a:lnTo>
                      <a:pt x="335" y="742"/>
                    </a:lnTo>
                    <a:lnTo>
                      <a:pt x="366" y="744"/>
                    </a:lnTo>
                    <a:lnTo>
                      <a:pt x="396" y="742"/>
                    </a:lnTo>
                    <a:lnTo>
                      <a:pt x="425" y="739"/>
                    </a:lnTo>
                    <a:lnTo>
                      <a:pt x="453" y="733"/>
                    </a:lnTo>
                    <a:lnTo>
                      <a:pt x="481" y="725"/>
                    </a:lnTo>
                    <a:lnTo>
                      <a:pt x="508" y="714"/>
                    </a:lnTo>
                    <a:lnTo>
                      <a:pt x="534" y="702"/>
                    </a:lnTo>
                    <a:lnTo>
                      <a:pt x="558" y="688"/>
                    </a:lnTo>
                    <a:lnTo>
                      <a:pt x="582" y="672"/>
                    </a:lnTo>
                    <a:lnTo>
                      <a:pt x="604" y="654"/>
                    </a:lnTo>
                    <a:lnTo>
                      <a:pt x="624" y="635"/>
                    </a:lnTo>
                    <a:lnTo>
                      <a:pt x="643" y="614"/>
                    </a:lnTo>
                    <a:lnTo>
                      <a:pt x="661" y="591"/>
                    </a:lnTo>
                    <a:lnTo>
                      <a:pt x="677" y="567"/>
                    </a:lnTo>
                    <a:lnTo>
                      <a:pt x="691" y="542"/>
                    </a:lnTo>
                    <a:lnTo>
                      <a:pt x="703" y="516"/>
                    </a:lnTo>
                    <a:lnTo>
                      <a:pt x="713" y="489"/>
                    </a:lnTo>
                    <a:lnTo>
                      <a:pt x="721" y="461"/>
                    </a:lnTo>
                    <a:lnTo>
                      <a:pt x="727" y="432"/>
                    </a:lnTo>
                    <a:lnTo>
                      <a:pt x="730" y="402"/>
                    </a:lnTo>
                    <a:lnTo>
                      <a:pt x="732" y="372"/>
                    </a:lnTo>
                    <a:lnTo>
                      <a:pt x="730" y="341"/>
                    </a:lnTo>
                    <a:lnTo>
                      <a:pt x="727" y="311"/>
                    </a:lnTo>
                    <a:lnTo>
                      <a:pt x="721" y="282"/>
                    </a:lnTo>
                    <a:lnTo>
                      <a:pt x="713" y="254"/>
                    </a:lnTo>
                    <a:lnTo>
                      <a:pt x="703" y="227"/>
                    </a:lnTo>
                    <a:lnTo>
                      <a:pt x="691" y="201"/>
                    </a:lnTo>
                    <a:lnTo>
                      <a:pt x="677" y="176"/>
                    </a:lnTo>
                    <a:lnTo>
                      <a:pt x="661" y="152"/>
                    </a:lnTo>
                    <a:lnTo>
                      <a:pt x="643" y="129"/>
                    </a:lnTo>
                    <a:lnTo>
                      <a:pt x="624" y="108"/>
                    </a:lnTo>
                    <a:lnTo>
                      <a:pt x="604" y="89"/>
                    </a:lnTo>
                    <a:lnTo>
                      <a:pt x="582" y="71"/>
                    </a:lnTo>
                    <a:lnTo>
                      <a:pt x="558" y="55"/>
                    </a:lnTo>
                    <a:lnTo>
                      <a:pt x="534" y="41"/>
                    </a:lnTo>
                    <a:lnTo>
                      <a:pt x="508" y="29"/>
                    </a:lnTo>
                    <a:lnTo>
                      <a:pt x="481" y="18"/>
                    </a:lnTo>
                    <a:lnTo>
                      <a:pt x="453" y="10"/>
                    </a:lnTo>
                    <a:lnTo>
                      <a:pt x="425" y="4"/>
                    </a:lnTo>
                    <a:lnTo>
                      <a:pt x="396" y="1"/>
                    </a:lnTo>
                    <a:lnTo>
                      <a:pt x="366" y="0"/>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7" name="Freeform 86"/>
              <p:cNvSpPr>
                <a:spLocks/>
              </p:cNvSpPr>
              <p:nvPr/>
            </p:nvSpPr>
            <p:spPr bwMode="auto">
              <a:xfrm>
                <a:off x="5885597" y="2112605"/>
                <a:ext cx="0" cy="719455"/>
              </a:xfrm>
              <a:custGeom>
                <a:avLst/>
                <a:gdLst>
                  <a:gd name="T0" fmla="*/ 0 h 1133"/>
                  <a:gd name="T1" fmla="*/ 1133 h 1133"/>
                </a:gdLst>
                <a:ahLst/>
                <a:cxnLst>
                  <a:cxn ang="0">
                    <a:pos x="0" y="T0"/>
                  </a:cxn>
                  <a:cxn ang="0">
                    <a:pos x="0" y="T1"/>
                  </a:cxn>
                </a:cxnLst>
                <a:rect l="0" t="0" r="r" b="b"/>
                <a:pathLst>
                  <a:path h="1133">
                    <a:moveTo>
                      <a:pt x="0" y="0"/>
                    </a:moveTo>
                    <a:lnTo>
                      <a:pt x="0" y="1133"/>
                    </a:ln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8" name="Freeform 87"/>
              <p:cNvSpPr>
                <a:spLocks/>
              </p:cNvSpPr>
              <p:nvPr/>
            </p:nvSpPr>
            <p:spPr bwMode="auto">
              <a:xfrm>
                <a:off x="5895439" y="2310090"/>
                <a:ext cx="216510" cy="118745"/>
              </a:xfrm>
              <a:custGeom>
                <a:avLst/>
                <a:gdLst>
                  <a:gd name="T0" fmla="*/ 0 w 341"/>
                  <a:gd name="T1" fmla="*/ 0 h 187"/>
                  <a:gd name="T2" fmla="*/ 341 w 341"/>
                  <a:gd name="T3" fmla="*/ 186 h 187"/>
                </a:gdLst>
                <a:ahLst/>
                <a:cxnLst>
                  <a:cxn ang="0">
                    <a:pos x="T0" y="T1"/>
                  </a:cxn>
                  <a:cxn ang="0">
                    <a:pos x="T2" y="T3"/>
                  </a:cxn>
                </a:cxnLst>
                <a:rect l="0" t="0" r="r" b="b"/>
                <a:pathLst>
                  <a:path w="341" h="187">
                    <a:moveTo>
                      <a:pt x="0" y="0"/>
                    </a:moveTo>
                    <a:lnTo>
                      <a:pt x="341" y="186"/>
                    </a:ln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9" name="Freeform 88"/>
              <p:cNvSpPr>
                <a:spLocks/>
              </p:cNvSpPr>
              <p:nvPr/>
            </p:nvSpPr>
            <p:spPr bwMode="auto">
              <a:xfrm>
                <a:off x="5895439" y="2856507"/>
                <a:ext cx="124763" cy="187645"/>
              </a:xfrm>
              <a:custGeom>
                <a:avLst/>
                <a:gdLst>
                  <a:gd name="T0" fmla="*/ 0 w 341"/>
                  <a:gd name="T1" fmla="*/ 0 h 187"/>
                  <a:gd name="T2" fmla="*/ 341 w 341"/>
                  <a:gd name="T3" fmla="*/ 186 h 187"/>
                </a:gdLst>
                <a:ahLst/>
                <a:cxnLst>
                  <a:cxn ang="0">
                    <a:pos x="T0" y="T1"/>
                  </a:cxn>
                  <a:cxn ang="0">
                    <a:pos x="T2" y="T3"/>
                  </a:cxn>
                </a:cxnLst>
                <a:rect l="0" t="0" r="r" b="b"/>
                <a:pathLst>
                  <a:path w="341" h="187">
                    <a:moveTo>
                      <a:pt x="0" y="0"/>
                    </a:moveTo>
                    <a:lnTo>
                      <a:pt x="341" y="186"/>
                    </a:ln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0" name="Freeform 89"/>
              <p:cNvSpPr>
                <a:spLocks/>
              </p:cNvSpPr>
              <p:nvPr/>
            </p:nvSpPr>
            <p:spPr bwMode="auto">
              <a:xfrm>
                <a:off x="5664802" y="2843808"/>
                <a:ext cx="215874" cy="200344"/>
              </a:xfrm>
              <a:custGeom>
                <a:avLst/>
                <a:gdLst>
                  <a:gd name="T0" fmla="*/ 288 w 289"/>
                  <a:gd name="T1" fmla="*/ 0 h 337"/>
                  <a:gd name="T2" fmla="*/ 0 w 289"/>
                  <a:gd name="T3" fmla="*/ 337 h 337"/>
                </a:gdLst>
                <a:ahLst/>
                <a:cxnLst>
                  <a:cxn ang="0">
                    <a:pos x="T0" y="T1"/>
                  </a:cxn>
                  <a:cxn ang="0">
                    <a:pos x="T2" y="T3"/>
                  </a:cxn>
                </a:cxnLst>
                <a:rect l="0" t="0" r="r" b="b"/>
                <a:pathLst>
                  <a:path w="289" h="337">
                    <a:moveTo>
                      <a:pt x="288" y="0"/>
                    </a:moveTo>
                    <a:lnTo>
                      <a:pt x="0" y="337"/>
                    </a:ln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1" name="Freeform 90"/>
              <p:cNvSpPr>
                <a:spLocks/>
              </p:cNvSpPr>
              <p:nvPr/>
            </p:nvSpPr>
            <p:spPr bwMode="auto">
              <a:xfrm>
                <a:off x="5658297" y="2326875"/>
                <a:ext cx="222379" cy="165425"/>
              </a:xfrm>
              <a:custGeom>
                <a:avLst/>
                <a:gdLst>
                  <a:gd name="T0" fmla="*/ 288 w 289"/>
                  <a:gd name="T1" fmla="*/ 0 h 337"/>
                  <a:gd name="T2" fmla="*/ 0 w 289"/>
                  <a:gd name="T3" fmla="*/ 337 h 337"/>
                </a:gdLst>
                <a:ahLst/>
                <a:cxnLst>
                  <a:cxn ang="0">
                    <a:pos x="T0" y="T1"/>
                  </a:cxn>
                  <a:cxn ang="0">
                    <a:pos x="T2" y="T3"/>
                  </a:cxn>
                </a:cxnLst>
                <a:rect l="0" t="0" r="r" b="b"/>
                <a:pathLst>
                  <a:path w="289" h="337">
                    <a:moveTo>
                      <a:pt x="288" y="0"/>
                    </a:moveTo>
                    <a:lnTo>
                      <a:pt x="0" y="337"/>
                    </a:ln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pSp>
        <p:sp>
          <p:nvSpPr>
            <p:cNvPr id="64" name="Rectangle 63"/>
            <p:cNvSpPr/>
            <p:nvPr/>
          </p:nvSpPr>
          <p:spPr>
            <a:xfrm>
              <a:off x="0" y="3284587"/>
              <a:ext cx="782955" cy="306070"/>
            </a:xfrm>
            <a:prstGeom prst="rect">
              <a:avLst/>
            </a:prstGeom>
          </p:spPr>
          <p:txBody>
            <a:bodyPr wrap="none">
              <a:spAutoFit/>
            </a:bodyPr>
            <a:lstStyle/>
            <a:p>
              <a:pPr marL="73025">
                <a:lnSpc>
                  <a:spcPts val="1580"/>
                </a:lnSpc>
                <a:spcBef>
                  <a:spcPts val="110"/>
                </a:spcBef>
                <a:spcAft>
                  <a:spcPts val="0"/>
                </a:spcAft>
              </a:pPr>
              <a:r>
                <a:rPr lang="en-IN" sz="1400" kern="1200" spc="15" dirty="0">
                  <a:solidFill>
                    <a:srgbClr val="000000"/>
                  </a:solidFill>
                  <a:effectLst/>
                  <a:latin typeface="Times New Roman" panose="02020603050405020304" pitchFamily="18" charset="0"/>
                  <a:ea typeface="Times New Roman" panose="02020603050405020304" pitchFamily="18" charset="0"/>
                </a:rPr>
                <a:t>S</a:t>
              </a:r>
              <a:r>
                <a:rPr lang="en-IN" sz="1400" kern="1200" spc="-25" dirty="0">
                  <a:solidFill>
                    <a:srgbClr val="000000"/>
                  </a:solidFill>
                  <a:effectLst/>
                  <a:latin typeface="Times New Roman" panose="02020603050405020304" pitchFamily="18" charset="0"/>
                  <a:ea typeface="Times New Roman" panose="02020603050405020304" pitchFamily="18" charset="0"/>
                </a:rPr>
                <a:t>y</a:t>
              </a:r>
              <a:r>
                <a:rPr lang="en-IN" sz="1400" kern="1200" spc="10" dirty="0">
                  <a:solidFill>
                    <a:srgbClr val="000000"/>
                  </a:solidFill>
                  <a:effectLst/>
                  <a:latin typeface="Times New Roman" panose="02020603050405020304" pitchFamily="18" charset="0"/>
                  <a:ea typeface="Times New Roman" panose="02020603050405020304" pitchFamily="18" charset="0"/>
                </a:rPr>
                <a:t>s</a:t>
              </a:r>
              <a:r>
                <a:rPr lang="en-IN" sz="1400" kern="1200" dirty="0">
                  <a:solidFill>
                    <a:srgbClr val="000000"/>
                  </a:solidFill>
                  <a:effectLst/>
                  <a:latin typeface="Times New Roman" panose="02020603050405020304" pitchFamily="18" charset="0"/>
                  <a:ea typeface="Times New Roman" panose="02020603050405020304" pitchFamily="18" charset="0"/>
                </a:rPr>
                <a:t>t</a:t>
              </a:r>
              <a:r>
                <a:rPr lang="en-IN" sz="1400" kern="1200" spc="25" dirty="0">
                  <a:solidFill>
                    <a:srgbClr val="000000"/>
                  </a:solidFill>
                  <a:effectLst/>
                  <a:latin typeface="Times New Roman" panose="02020603050405020304" pitchFamily="18" charset="0"/>
                  <a:ea typeface="Times New Roman" panose="02020603050405020304" pitchFamily="18" charset="0"/>
                </a:rPr>
                <a:t>e</a:t>
              </a:r>
              <a:r>
                <a:rPr lang="en-IN" sz="1400" kern="1200" dirty="0">
                  <a:solidFill>
                    <a:srgbClr val="000000"/>
                  </a:solidFill>
                  <a:effectLst/>
                  <a:latin typeface="Times New Roman" panose="02020603050405020304" pitchFamily="18" charset="0"/>
                  <a:ea typeface="Times New Roman" panose="02020603050405020304" pitchFamily="18" charset="0"/>
                </a:rPr>
                <a:t>m</a:t>
              </a:r>
              <a:endParaRPr lang="en-IN" sz="1200" dirty="0">
                <a:effectLst/>
                <a:latin typeface="Times New Roman" panose="02020603050405020304" pitchFamily="18" charset="0"/>
                <a:ea typeface="Times New Roman" panose="02020603050405020304" pitchFamily="18" charset="0"/>
              </a:endParaRPr>
            </a:p>
          </p:txBody>
        </p:sp>
        <p:grpSp>
          <p:nvGrpSpPr>
            <p:cNvPr id="65" name="Group 64"/>
            <p:cNvGrpSpPr/>
            <p:nvPr/>
          </p:nvGrpSpPr>
          <p:grpSpPr>
            <a:xfrm>
              <a:off x="201143" y="1512407"/>
              <a:ext cx="382910" cy="1502787"/>
              <a:chOff x="201143" y="1512408"/>
              <a:chExt cx="464766" cy="1441770"/>
            </a:xfrm>
          </p:grpSpPr>
          <p:sp>
            <p:nvSpPr>
              <p:cNvPr id="80" name="Freeform 79"/>
              <p:cNvSpPr>
                <a:spLocks/>
              </p:cNvSpPr>
              <p:nvPr/>
            </p:nvSpPr>
            <p:spPr bwMode="auto">
              <a:xfrm>
                <a:off x="201143" y="1512408"/>
                <a:ext cx="464766" cy="473075"/>
              </a:xfrm>
              <a:custGeom>
                <a:avLst/>
                <a:gdLst>
                  <a:gd name="T0" fmla="*/ 335 w 732"/>
                  <a:gd name="T1" fmla="*/ 1 h 745"/>
                  <a:gd name="T2" fmla="*/ 278 w 732"/>
                  <a:gd name="T3" fmla="*/ 10 h 745"/>
                  <a:gd name="T4" fmla="*/ 223 w 732"/>
                  <a:gd name="T5" fmla="*/ 29 h 745"/>
                  <a:gd name="T6" fmla="*/ 173 w 732"/>
                  <a:gd name="T7" fmla="*/ 55 h 745"/>
                  <a:gd name="T8" fmla="*/ 127 w 732"/>
                  <a:gd name="T9" fmla="*/ 89 h 745"/>
                  <a:gd name="T10" fmla="*/ 88 w 732"/>
                  <a:gd name="T11" fmla="*/ 129 h 745"/>
                  <a:gd name="T12" fmla="*/ 54 w 732"/>
                  <a:gd name="T13" fmla="*/ 176 h 745"/>
                  <a:gd name="T14" fmla="*/ 28 w 732"/>
                  <a:gd name="T15" fmla="*/ 227 h 745"/>
                  <a:gd name="T16" fmla="*/ 10 w 732"/>
                  <a:gd name="T17" fmla="*/ 282 h 745"/>
                  <a:gd name="T18" fmla="*/ 1 w 732"/>
                  <a:gd name="T19" fmla="*/ 341 h 745"/>
                  <a:gd name="T20" fmla="*/ 1 w 732"/>
                  <a:gd name="T21" fmla="*/ 402 h 745"/>
                  <a:gd name="T22" fmla="*/ 10 w 732"/>
                  <a:gd name="T23" fmla="*/ 461 h 745"/>
                  <a:gd name="T24" fmla="*/ 28 w 732"/>
                  <a:gd name="T25" fmla="*/ 516 h 745"/>
                  <a:gd name="T26" fmla="*/ 54 w 732"/>
                  <a:gd name="T27" fmla="*/ 567 h 745"/>
                  <a:gd name="T28" fmla="*/ 88 w 732"/>
                  <a:gd name="T29" fmla="*/ 614 h 745"/>
                  <a:gd name="T30" fmla="*/ 127 w 732"/>
                  <a:gd name="T31" fmla="*/ 654 h 745"/>
                  <a:gd name="T32" fmla="*/ 173 w 732"/>
                  <a:gd name="T33" fmla="*/ 688 h 745"/>
                  <a:gd name="T34" fmla="*/ 223 w 732"/>
                  <a:gd name="T35" fmla="*/ 714 h 745"/>
                  <a:gd name="T36" fmla="*/ 278 w 732"/>
                  <a:gd name="T37" fmla="*/ 733 h 745"/>
                  <a:gd name="T38" fmla="*/ 335 w 732"/>
                  <a:gd name="T39" fmla="*/ 742 h 745"/>
                  <a:gd name="T40" fmla="*/ 396 w 732"/>
                  <a:gd name="T41" fmla="*/ 742 h 745"/>
                  <a:gd name="T42" fmla="*/ 453 w 732"/>
                  <a:gd name="T43" fmla="*/ 733 h 745"/>
                  <a:gd name="T44" fmla="*/ 508 w 732"/>
                  <a:gd name="T45" fmla="*/ 714 h 745"/>
                  <a:gd name="T46" fmla="*/ 558 w 732"/>
                  <a:gd name="T47" fmla="*/ 688 h 745"/>
                  <a:gd name="T48" fmla="*/ 604 w 732"/>
                  <a:gd name="T49" fmla="*/ 654 h 745"/>
                  <a:gd name="T50" fmla="*/ 643 w 732"/>
                  <a:gd name="T51" fmla="*/ 614 h 745"/>
                  <a:gd name="T52" fmla="*/ 677 w 732"/>
                  <a:gd name="T53" fmla="*/ 567 h 745"/>
                  <a:gd name="T54" fmla="*/ 703 w 732"/>
                  <a:gd name="T55" fmla="*/ 516 h 745"/>
                  <a:gd name="T56" fmla="*/ 721 w 732"/>
                  <a:gd name="T57" fmla="*/ 461 h 745"/>
                  <a:gd name="T58" fmla="*/ 730 w 732"/>
                  <a:gd name="T59" fmla="*/ 402 h 745"/>
                  <a:gd name="T60" fmla="*/ 730 w 732"/>
                  <a:gd name="T61" fmla="*/ 341 h 745"/>
                  <a:gd name="T62" fmla="*/ 721 w 732"/>
                  <a:gd name="T63" fmla="*/ 282 h 745"/>
                  <a:gd name="T64" fmla="*/ 703 w 732"/>
                  <a:gd name="T65" fmla="*/ 227 h 745"/>
                  <a:gd name="T66" fmla="*/ 677 w 732"/>
                  <a:gd name="T67" fmla="*/ 176 h 745"/>
                  <a:gd name="T68" fmla="*/ 643 w 732"/>
                  <a:gd name="T69" fmla="*/ 129 h 745"/>
                  <a:gd name="T70" fmla="*/ 604 w 732"/>
                  <a:gd name="T71" fmla="*/ 89 h 745"/>
                  <a:gd name="T72" fmla="*/ 558 w 732"/>
                  <a:gd name="T73" fmla="*/ 55 h 745"/>
                  <a:gd name="T74" fmla="*/ 508 w 732"/>
                  <a:gd name="T75" fmla="*/ 29 h 745"/>
                  <a:gd name="T76" fmla="*/ 453 w 732"/>
                  <a:gd name="T77" fmla="*/ 10 h 745"/>
                  <a:gd name="T78" fmla="*/ 396 w 732"/>
                  <a:gd name="T79" fmla="*/ 1 h 7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732" h="745">
                    <a:moveTo>
                      <a:pt x="366" y="0"/>
                    </a:moveTo>
                    <a:lnTo>
                      <a:pt x="335" y="1"/>
                    </a:lnTo>
                    <a:lnTo>
                      <a:pt x="306" y="4"/>
                    </a:lnTo>
                    <a:lnTo>
                      <a:pt x="278" y="10"/>
                    </a:lnTo>
                    <a:lnTo>
                      <a:pt x="250" y="18"/>
                    </a:lnTo>
                    <a:lnTo>
                      <a:pt x="223" y="29"/>
                    </a:lnTo>
                    <a:lnTo>
                      <a:pt x="197" y="41"/>
                    </a:lnTo>
                    <a:lnTo>
                      <a:pt x="173" y="55"/>
                    </a:lnTo>
                    <a:lnTo>
                      <a:pt x="149" y="71"/>
                    </a:lnTo>
                    <a:lnTo>
                      <a:pt x="127" y="89"/>
                    </a:lnTo>
                    <a:lnTo>
                      <a:pt x="107" y="108"/>
                    </a:lnTo>
                    <a:lnTo>
                      <a:pt x="88" y="129"/>
                    </a:lnTo>
                    <a:lnTo>
                      <a:pt x="70" y="152"/>
                    </a:lnTo>
                    <a:lnTo>
                      <a:pt x="54" y="176"/>
                    </a:lnTo>
                    <a:lnTo>
                      <a:pt x="40" y="201"/>
                    </a:lnTo>
                    <a:lnTo>
                      <a:pt x="28" y="227"/>
                    </a:lnTo>
                    <a:lnTo>
                      <a:pt x="18" y="254"/>
                    </a:lnTo>
                    <a:lnTo>
                      <a:pt x="10" y="282"/>
                    </a:lnTo>
                    <a:lnTo>
                      <a:pt x="4" y="311"/>
                    </a:lnTo>
                    <a:lnTo>
                      <a:pt x="1" y="341"/>
                    </a:lnTo>
                    <a:lnTo>
                      <a:pt x="0" y="372"/>
                    </a:lnTo>
                    <a:lnTo>
                      <a:pt x="1" y="402"/>
                    </a:lnTo>
                    <a:lnTo>
                      <a:pt x="4" y="432"/>
                    </a:lnTo>
                    <a:lnTo>
                      <a:pt x="10" y="461"/>
                    </a:lnTo>
                    <a:lnTo>
                      <a:pt x="18" y="489"/>
                    </a:lnTo>
                    <a:lnTo>
                      <a:pt x="28" y="516"/>
                    </a:lnTo>
                    <a:lnTo>
                      <a:pt x="40" y="542"/>
                    </a:lnTo>
                    <a:lnTo>
                      <a:pt x="54" y="567"/>
                    </a:lnTo>
                    <a:lnTo>
                      <a:pt x="70" y="591"/>
                    </a:lnTo>
                    <a:lnTo>
                      <a:pt x="88" y="614"/>
                    </a:lnTo>
                    <a:lnTo>
                      <a:pt x="107" y="635"/>
                    </a:lnTo>
                    <a:lnTo>
                      <a:pt x="127" y="654"/>
                    </a:lnTo>
                    <a:lnTo>
                      <a:pt x="149" y="672"/>
                    </a:lnTo>
                    <a:lnTo>
                      <a:pt x="173" y="688"/>
                    </a:lnTo>
                    <a:lnTo>
                      <a:pt x="197" y="702"/>
                    </a:lnTo>
                    <a:lnTo>
                      <a:pt x="223" y="714"/>
                    </a:lnTo>
                    <a:lnTo>
                      <a:pt x="250" y="725"/>
                    </a:lnTo>
                    <a:lnTo>
                      <a:pt x="278" y="733"/>
                    </a:lnTo>
                    <a:lnTo>
                      <a:pt x="306" y="739"/>
                    </a:lnTo>
                    <a:lnTo>
                      <a:pt x="335" y="742"/>
                    </a:lnTo>
                    <a:lnTo>
                      <a:pt x="366" y="744"/>
                    </a:lnTo>
                    <a:lnTo>
                      <a:pt x="396" y="742"/>
                    </a:lnTo>
                    <a:lnTo>
                      <a:pt x="425" y="739"/>
                    </a:lnTo>
                    <a:lnTo>
                      <a:pt x="453" y="733"/>
                    </a:lnTo>
                    <a:lnTo>
                      <a:pt x="481" y="725"/>
                    </a:lnTo>
                    <a:lnTo>
                      <a:pt x="508" y="714"/>
                    </a:lnTo>
                    <a:lnTo>
                      <a:pt x="534" y="702"/>
                    </a:lnTo>
                    <a:lnTo>
                      <a:pt x="558" y="688"/>
                    </a:lnTo>
                    <a:lnTo>
                      <a:pt x="582" y="672"/>
                    </a:lnTo>
                    <a:lnTo>
                      <a:pt x="604" y="654"/>
                    </a:lnTo>
                    <a:lnTo>
                      <a:pt x="624" y="635"/>
                    </a:lnTo>
                    <a:lnTo>
                      <a:pt x="643" y="614"/>
                    </a:lnTo>
                    <a:lnTo>
                      <a:pt x="661" y="591"/>
                    </a:lnTo>
                    <a:lnTo>
                      <a:pt x="677" y="567"/>
                    </a:lnTo>
                    <a:lnTo>
                      <a:pt x="691" y="542"/>
                    </a:lnTo>
                    <a:lnTo>
                      <a:pt x="703" y="516"/>
                    </a:lnTo>
                    <a:lnTo>
                      <a:pt x="713" y="489"/>
                    </a:lnTo>
                    <a:lnTo>
                      <a:pt x="721" y="461"/>
                    </a:lnTo>
                    <a:lnTo>
                      <a:pt x="727" y="432"/>
                    </a:lnTo>
                    <a:lnTo>
                      <a:pt x="730" y="402"/>
                    </a:lnTo>
                    <a:lnTo>
                      <a:pt x="732" y="372"/>
                    </a:lnTo>
                    <a:lnTo>
                      <a:pt x="730" y="341"/>
                    </a:lnTo>
                    <a:lnTo>
                      <a:pt x="727" y="311"/>
                    </a:lnTo>
                    <a:lnTo>
                      <a:pt x="721" y="282"/>
                    </a:lnTo>
                    <a:lnTo>
                      <a:pt x="713" y="254"/>
                    </a:lnTo>
                    <a:lnTo>
                      <a:pt x="703" y="227"/>
                    </a:lnTo>
                    <a:lnTo>
                      <a:pt x="691" y="201"/>
                    </a:lnTo>
                    <a:lnTo>
                      <a:pt x="677" y="176"/>
                    </a:lnTo>
                    <a:lnTo>
                      <a:pt x="661" y="152"/>
                    </a:lnTo>
                    <a:lnTo>
                      <a:pt x="643" y="129"/>
                    </a:lnTo>
                    <a:lnTo>
                      <a:pt x="624" y="108"/>
                    </a:lnTo>
                    <a:lnTo>
                      <a:pt x="604" y="89"/>
                    </a:lnTo>
                    <a:lnTo>
                      <a:pt x="582" y="71"/>
                    </a:lnTo>
                    <a:lnTo>
                      <a:pt x="558" y="55"/>
                    </a:lnTo>
                    <a:lnTo>
                      <a:pt x="534" y="41"/>
                    </a:lnTo>
                    <a:lnTo>
                      <a:pt x="508" y="29"/>
                    </a:lnTo>
                    <a:lnTo>
                      <a:pt x="481" y="18"/>
                    </a:lnTo>
                    <a:lnTo>
                      <a:pt x="453" y="10"/>
                    </a:lnTo>
                    <a:lnTo>
                      <a:pt x="425" y="4"/>
                    </a:lnTo>
                    <a:lnTo>
                      <a:pt x="396" y="1"/>
                    </a:lnTo>
                    <a:lnTo>
                      <a:pt x="366" y="0"/>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1" name="Freeform 80"/>
              <p:cNvSpPr>
                <a:spLocks/>
              </p:cNvSpPr>
              <p:nvPr/>
            </p:nvSpPr>
            <p:spPr bwMode="auto">
              <a:xfrm>
                <a:off x="433526" y="2022631"/>
                <a:ext cx="0" cy="719455"/>
              </a:xfrm>
              <a:custGeom>
                <a:avLst/>
                <a:gdLst>
                  <a:gd name="T0" fmla="*/ 0 h 1133"/>
                  <a:gd name="T1" fmla="*/ 1133 h 1133"/>
                </a:gdLst>
                <a:ahLst/>
                <a:cxnLst>
                  <a:cxn ang="0">
                    <a:pos x="0" y="T0"/>
                  </a:cxn>
                  <a:cxn ang="0">
                    <a:pos x="0" y="T1"/>
                  </a:cxn>
                </a:cxnLst>
                <a:rect l="0" t="0" r="r" b="b"/>
                <a:pathLst>
                  <a:path h="1133">
                    <a:moveTo>
                      <a:pt x="0" y="0"/>
                    </a:moveTo>
                    <a:lnTo>
                      <a:pt x="0" y="1133"/>
                    </a:ln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2" name="Freeform 81"/>
              <p:cNvSpPr>
                <a:spLocks/>
              </p:cNvSpPr>
              <p:nvPr/>
            </p:nvSpPr>
            <p:spPr bwMode="auto">
              <a:xfrm>
                <a:off x="443368" y="2220116"/>
                <a:ext cx="216510" cy="118745"/>
              </a:xfrm>
              <a:custGeom>
                <a:avLst/>
                <a:gdLst>
                  <a:gd name="T0" fmla="*/ 0 w 341"/>
                  <a:gd name="T1" fmla="*/ 0 h 187"/>
                  <a:gd name="T2" fmla="*/ 341 w 341"/>
                  <a:gd name="T3" fmla="*/ 186 h 187"/>
                </a:gdLst>
                <a:ahLst/>
                <a:cxnLst>
                  <a:cxn ang="0">
                    <a:pos x="T0" y="T1"/>
                  </a:cxn>
                  <a:cxn ang="0">
                    <a:pos x="T2" y="T3"/>
                  </a:cxn>
                </a:cxnLst>
                <a:rect l="0" t="0" r="r" b="b"/>
                <a:pathLst>
                  <a:path w="341" h="187">
                    <a:moveTo>
                      <a:pt x="0" y="0"/>
                    </a:moveTo>
                    <a:lnTo>
                      <a:pt x="341" y="186"/>
                    </a:ln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3" name="Freeform 82"/>
              <p:cNvSpPr>
                <a:spLocks/>
              </p:cNvSpPr>
              <p:nvPr/>
            </p:nvSpPr>
            <p:spPr bwMode="auto">
              <a:xfrm>
                <a:off x="443368" y="2766533"/>
                <a:ext cx="124763" cy="187645"/>
              </a:xfrm>
              <a:custGeom>
                <a:avLst/>
                <a:gdLst>
                  <a:gd name="T0" fmla="*/ 0 w 341"/>
                  <a:gd name="T1" fmla="*/ 0 h 187"/>
                  <a:gd name="T2" fmla="*/ 341 w 341"/>
                  <a:gd name="T3" fmla="*/ 186 h 187"/>
                </a:gdLst>
                <a:ahLst/>
                <a:cxnLst>
                  <a:cxn ang="0">
                    <a:pos x="T0" y="T1"/>
                  </a:cxn>
                  <a:cxn ang="0">
                    <a:pos x="T2" y="T3"/>
                  </a:cxn>
                </a:cxnLst>
                <a:rect l="0" t="0" r="r" b="b"/>
                <a:pathLst>
                  <a:path w="341" h="187">
                    <a:moveTo>
                      <a:pt x="0" y="0"/>
                    </a:moveTo>
                    <a:lnTo>
                      <a:pt x="341" y="186"/>
                    </a:ln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4" name="Freeform 83"/>
              <p:cNvSpPr>
                <a:spLocks/>
              </p:cNvSpPr>
              <p:nvPr/>
            </p:nvSpPr>
            <p:spPr bwMode="auto">
              <a:xfrm>
                <a:off x="212731" y="2753834"/>
                <a:ext cx="215874" cy="200344"/>
              </a:xfrm>
              <a:custGeom>
                <a:avLst/>
                <a:gdLst>
                  <a:gd name="T0" fmla="*/ 288 w 289"/>
                  <a:gd name="T1" fmla="*/ 0 h 337"/>
                  <a:gd name="T2" fmla="*/ 0 w 289"/>
                  <a:gd name="T3" fmla="*/ 337 h 337"/>
                </a:gdLst>
                <a:ahLst/>
                <a:cxnLst>
                  <a:cxn ang="0">
                    <a:pos x="T0" y="T1"/>
                  </a:cxn>
                  <a:cxn ang="0">
                    <a:pos x="T2" y="T3"/>
                  </a:cxn>
                </a:cxnLst>
                <a:rect l="0" t="0" r="r" b="b"/>
                <a:pathLst>
                  <a:path w="289" h="337">
                    <a:moveTo>
                      <a:pt x="288" y="0"/>
                    </a:moveTo>
                    <a:lnTo>
                      <a:pt x="0" y="337"/>
                    </a:ln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5" name="Freeform 84"/>
              <p:cNvSpPr>
                <a:spLocks/>
              </p:cNvSpPr>
              <p:nvPr/>
            </p:nvSpPr>
            <p:spPr bwMode="auto">
              <a:xfrm>
                <a:off x="206226" y="2236901"/>
                <a:ext cx="222379" cy="165425"/>
              </a:xfrm>
              <a:custGeom>
                <a:avLst/>
                <a:gdLst>
                  <a:gd name="T0" fmla="*/ 288 w 289"/>
                  <a:gd name="T1" fmla="*/ 0 h 337"/>
                  <a:gd name="T2" fmla="*/ 0 w 289"/>
                  <a:gd name="T3" fmla="*/ 337 h 337"/>
                </a:gdLst>
                <a:ahLst/>
                <a:cxnLst>
                  <a:cxn ang="0">
                    <a:pos x="T0" y="T1"/>
                  </a:cxn>
                  <a:cxn ang="0">
                    <a:pos x="T2" y="T3"/>
                  </a:cxn>
                </a:cxnLst>
                <a:rect l="0" t="0" r="r" b="b"/>
                <a:pathLst>
                  <a:path w="289" h="337">
                    <a:moveTo>
                      <a:pt x="288" y="0"/>
                    </a:moveTo>
                    <a:lnTo>
                      <a:pt x="0" y="337"/>
                    </a:ln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pSp>
        <p:sp>
          <p:nvSpPr>
            <p:cNvPr id="66" name="Rectangle 65"/>
            <p:cNvSpPr/>
            <p:nvPr/>
          </p:nvSpPr>
          <p:spPr>
            <a:xfrm>
              <a:off x="5609767" y="3222298"/>
              <a:ext cx="832485" cy="306070"/>
            </a:xfrm>
            <a:prstGeom prst="rect">
              <a:avLst/>
            </a:prstGeom>
          </p:spPr>
          <p:txBody>
            <a:bodyPr wrap="none">
              <a:spAutoFit/>
            </a:bodyPr>
            <a:lstStyle/>
            <a:p>
              <a:pPr marR="311150" algn="r">
                <a:lnSpc>
                  <a:spcPts val="1580"/>
                </a:lnSpc>
                <a:spcBef>
                  <a:spcPts val="110"/>
                </a:spcBef>
                <a:spcAft>
                  <a:spcPts val="0"/>
                </a:spcAft>
              </a:pPr>
              <a:r>
                <a:rPr lang="en-IN" sz="1400" kern="1200">
                  <a:solidFill>
                    <a:srgbClr val="000000"/>
                  </a:solidFill>
                  <a:effectLst/>
                  <a:latin typeface="Times New Roman" panose="02020603050405020304" pitchFamily="18" charset="0"/>
                  <a:ea typeface="Times New Roman" panose="02020603050405020304" pitchFamily="18" charset="0"/>
                </a:rPr>
                <a:t>U</a:t>
              </a:r>
              <a:r>
                <a:rPr lang="en-IN" sz="1400" kern="1200" spc="15">
                  <a:solidFill>
                    <a:srgbClr val="000000"/>
                  </a:solidFill>
                  <a:effectLst/>
                  <a:latin typeface="Times New Roman" panose="02020603050405020304" pitchFamily="18" charset="0"/>
                  <a:ea typeface="Times New Roman" panose="02020603050405020304" pitchFamily="18" charset="0"/>
                </a:rPr>
                <a:t>s</a:t>
              </a:r>
              <a:r>
                <a:rPr lang="en-IN" sz="1400" kern="1200" spc="5">
                  <a:solidFill>
                    <a:srgbClr val="000000"/>
                  </a:solidFill>
                  <a:effectLst/>
                  <a:latin typeface="Times New Roman" panose="02020603050405020304" pitchFamily="18" charset="0"/>
                  <a:ea typeface="Times New Roman" panose="02020603050405020304" pitchFamily="18" charset="0"/>
                </a:rPr>
                <a:t>e</a:t>
              </a:r>
              <a:r>
                <a:rPr lang="en-IN" sz="1400" kern="1200">
                  <a:solidFill>
                    <a:srgbClr val="000000"/>
                  </a:solidFill>
                  <a:effectLst/>
                  <a:latin typeface="Times New Roman" panose="02020603050405020304" pitchFamily="18" charset="0"/>
                  <a:ea typeface="Times New Roman" panose="02020603050405020304" pitchFamily="18" charset="0"/>
                </a:rPr>
                <a:t>r</a:t>
              </a:r>
              <a:endParaRPr lang="en-IN" sz="1200">
                <a:effectLst/>
                <a:latin typeface="Times New Roman" panose="02020603050405020304" pitchFamily="18" charset="0"/>
                <a:ea typeface="Times New Roman" panose="02020603050405020304" pitchFamily="18" charset="0"/>
              </a:endParaRPr>
            </a:p>
          </p:txBody>
        </p:sp>
        <p:sp>
          <p:nvSpPr>
            <p:cNvPr id="67" name="Oval 66"/>
            <p:cNvSpPr/>
            <p:nvPr/>
          </p:nvSpPr>
          <p:spPr>
            <a:xfrm>
              <a:off x="2647869" y="334414"/>
              <a:ext cx="1543149" cy="63900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0"/>
                </a:spcAft>
              </a:pPr>
              <a:r>
                <a:rPr lang="en-US" sz="1400" kern="1200" dirty="0">
                  <a:solidFill>
                    <a:srgbClr val="000000"/>
                  </a:solidFill>
                  <a:effectLst/>
                  <a:latin typeface="Times New Roman" panose="02020603050405020304" pitchFamily="18" charset="0"/>
                  <a:ea typeface="Times New Roman" panose="02020603050405020304" pitchFamily="18" charset="0"/>
                </a:rPr>
                <a:t>Input</a:t>
              </a:r>
              <a:endParaRPr lang="en-IN" sz="1200" dirty="0">
                <a:effectLst/>
                <a:latin typeface="Times New Roman" panose="02020603050405020304" pitchFamily="18" charset="0"/>
                <a:ea typeface="Times New Roman" panose="02020603050405020304" pitchFamily="18" charset="0"/>
              </a:endParaRPr>
            </a:p>
          </p:txBody>
        </p:sp>
        <p:sp>
          <p:nvSpPr>
            <p:cNvPr id="68" name="Oval 67"/>
            <p:cNvSpPr/>
            <p:nvPr/>
          </p:nvSpPr>
          <p:spPr>
            <a:xfrm>
              <a:off x="2750452" y="5073470"/>
              <a:ext cx="1543149" cy="63900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0"/>
                </a:spcAft>
              </a:pPr>
              <a:r>
                <a:rPr lang="en-US" sz="1400" kern="1200" dirty="0">
                  <a:solidFill>
                    <a:srgbClr val="000000"/>
                  </a:solidFill>
                  <a:effectLst/>
                  <a:latin typeface="Times New Roman" panose="02020603050405020304" pitchFamily="18" charset="0"/>
                  <a:ea typeface="Times New Roman" panose="02020603050405020304" pitchFamily="18" charset="0"/>
                </a:rPr>
                <a:t> Performance analysis</a:t>
              </a:r>
              <a:endParaRPr lang="en-IN" sz="1200" dirty="0">
                <a:effectLst/>
                <a:latin typeface="Times New Roman" panose="02020603050405020304" pitchFamily="18" charset="0"/>
                <a:ea typeface="Times New Roman" panose="02020603050405020304" pitchFamily="18" charset="0"/>
              </a:endParaRPr>
            </a:p>
          </p:txBody>
        </p:sp>
        <p:sp>
          <p:nvSpPr>
            <p:cNvPr id="69" name="Oval 68"/>
            <p:cNvSpPr/>
            <p:nvPr/>
          </p:nvSpPr>
          <p:spPr>
            <a:xfrm>
              <a:off x="2618499" y="1373886"/>
              <a:ext cx="1543149" cy="63900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0"/>
                </a:spcAft>
              </a:pPr>
              <a:r>
                <a:rPr lang="en-IN" sz="1200" dirty="0">
                  <a:solidFill>
                    <a:schemeClr val="tx1"/>
                  </a:solidFill>
                  <a:latin typeface="Times New Roman" panose="02020603050405020304" pitchFamily="18" charset="0"/>
                  <a:cs typeface="Times New Roman" panose="02020603050405020304" pitchFamily="18" charset="0"/>
                </a:rPr>
                <a:t>Preliminary Process</a:t>
              </a:r>
              <a:endParaRPr lang="en-IN" sz="1200" dirty="0">
                <a:effectLst/>
                <a:latin typeface="Times New Roman" panose="02020603050405020304" pitchFamily="18" charset="0"/>
                <a:ea typeface="Times New Roman" panose="02020603050405020304" pitchFamily="18" charset="0"/>
              </a:endParaRPr>
            </a:p>
          </p:txBody>
        </p:sp>
        <p:sp>
          <p:nvSpPr>
            <p:cNvPr id="70" name="Oval 69"/>
            <p:cNvSpPr/>
            <p:nvPr/>
          </p:nvSpPr>
          <p:spPr>
            <a:xfrm>
              <a:off x="2733416" y="2394737"/>
              <a:ext cx="1543149" cy="639006"/>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0"/>
                </a:spcAft>
              </a:pPr>
              <a:r>
                <a:rPr lang="en-US" sz="1200" kern="1200" dirty="0">
                  <a:solidFill>
                    <a:srgbClr val="000000"/>
                  </a:solidFill>
                  <a:effectLst/>
                  <a:latin typeface="Times New Roman" panose="02020603050405020304" pitchFamily="18" charset="0"/>
                  <a:ea typeface="Times New Roman" panose="02020603050405020304" pitchFamily="18" charset="0"/>
                </a:rPr>
                <a:t>Feature Extraction</a:t>
              </a:r>
              <a:endParaRPr lang="en-IN" sz="1200" dirty="0">
                <a:effectLst/>
                <a:latin typeface="Times New Roman" panose="02020603050405020304" pitchFamily="18" charset="0"/>
                <a:ea typeface="Times New Roman" panose="02020603050405020304" pitchFamily="18" charset="0"/>
              </a:endParaRPr>
            </a:p>
          </p:txBody>
        </p:sp>
        <p:sp>
          <p:nvSpPr>
            <p:cNvPr id="71" name="Oval 70"/>
            <p:cNvSpPr/>
            <p:nvPr/>
          </p:nvSpPr>
          <p:spPr>
            <a:xfrm>
              <a:off x="2750452" y="3206626"/>
              <a:ext cx="1543149" cy="63900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0"/>
                </a:spcAft>
              </a:pPr>
              <a:r>
                <a:rPr lang="en-US" sz="1400" kern="1200" dirty="0">
                  <a:solidFill>
                    <a:srgbClr val="000000"/>
                  </a:solidFill>
                  <a:effectLst/>
                  <a:latin typeface="Times New Roman" panose="02020603050405020304" pitchFamily="18" charset="0"/>
                  <a:ea typeface="Times New Roman" panose="02020603050405020304" pitchFamily="18" charset="0"/>
                </a:rPr>
                <a:t>Data Slicing</a:t>
              </a:r>
              <a:endParaRPr lang="en-IN" sz="1200" dirty="0">
                <a:effectLst/>
                <a:latin typeface="Times New Roman" panose="02020603050405020304" pitchFamily="18" charset="0"/>
                <a:ea typeface="Times New Roman" panose="02020603050405020304" pitchFamily="18" charset="0"/>
              </a:endParaRPr>
            </a:p>
          </p:txBody>
        </p:sp>
        <p:cxnSp>
          <p:nvCxnSpPr>
            <p:cNvPr id="72" name="Straight Arrow Connector 71"/>
            <p:cNvCxnSpPr/>
            <p:nvPr/>
          </p:nvCxnSpPr>
          <p:spPr>
            <a:xfrm flipH="1" flipV="1">
              <a:off x="4201287" y="757184"/>
              <a:ext cx="1408700" cy="175196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p:cNvCxnSpPr/>
            <p:nvPr/>
          </p:nvCxnSpPr>
          <p:spPr>
            <a:xfrm flipH="1">
              <a:off x="666542" y="713500"/>
              <a:ext cx="1979042" cy="162654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p:cNvCxnSpPr/>
            <p:nvPr/>
          </p:nvCxnSpPr>
          <p:spPr>
            <a:xfrm flipV="1">
              <a:off x="666542" y="1758956"/>
              <a:ext cx="1914701" cy="75019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p:cNvCxnSpPr/>
            <p:nvPr/>
          </p:nvCxnSpPr>
          <p:spPr>
            <a:xfrm>
              <a:off x="655410" y="2584686"/>
              <a:ext cx="2078006" cy="12955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p:cNvCxnSpPr/>
            <p:nvPr/>
          </p:nvCxnSpPr>
          <p:spPr>
            <a:xfrm>
              <a:off x="746894" y="2605363"/>
              <a:ext cx="2003558" cy="92076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p:cNvCxnSpPr/>
            <p:nvPr/>
          </p:nvCxnSpPr>
          <p:spPr>
            <a:xfrm>
              <a:off x="695155" y="2742840"/>
              <a:ext cx="2055298" cy="265013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8" name="Oval 77"/>
            <p:cNvSpPr/>
            <p:nvPr/>
          </p:nvSpPr>
          <p:spPr>
            <a:xfrm>
              <a:off x="2750451" y="4112811"/>
              <a:ext cx="1543149" cy="63900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0"/>
                </a:spcAft>
              </a:pPr>
              <a:r>
                <a:rPr lang="en-US" sz="1400" kern="1200" dirty="0">
                  <a:solidFill>
                    <a:srgbClr val="000000"/>
                  </a:solidFill>
                  <a:effectLst/>
                  <a:latin typeface="Times New Roman" panose="02020603050405020304" pitchFamily="18" charset="0"/>
                  <a:ea typeface="Times New Roman" panose="02020603050405020304" pitchFamily="18" charset="0"/>
                </a:rPr>
                <a:t>Classification</a:t>
              </a:r>
              <a:endParaRPr lang="en-IN" sz="1200" dirty="0">
                <a:effectLst/>
                <a:latin typeface="Times New Roman" panose="02020603050405020304" pitchFamily="18" charset="0"/>
                <a:ea typeface="Times New Roman" panose="02020603050405020304" pitchFamily="18" charset="0"/>
              </a:endParaRPr>
            </a:p>
          </p:txBody>
        </p:sp>
        <p:cxnSp>
          <p:nvCxnSpPr>
            <p:cNvPr id="79" name="Straight Arrow Connector 78"/>
            <p:cNvCxnSpPr/>
            <p:nvPr/>
          </p:nvCxnSpPr>
          <p:spPr>
            <a:xfrm>
              <a:off x="785345" y="2667582"/>
              <a:ext cx="1965106" cy="176473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34" name="Rectangle 33"/>
          <p:cNvSpPr/>
          <p:nvPr/>
        </p:nvSpPr>
        <p:spPr>
          <a:xfrm>
            <a:off x="178271" y="138180"/>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41168294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66807" y="464939"/>
            <a:ext cx="11152097" cy="707886"/>
          </a:xfrm>
          <a:prstGeom prst="rect">
            <a:avLst/>
          </a:prstGeom>
          <a:noFill/>
        </p:spPr>
        <p:txBody>
          <a:bodyPr wrap="square" rtlCol="0">
            <a:spAutoFit/>
          </a:bodyPr>
          <a:lstStyle/>
          <a:p>
            <a:pPr algn="ctr"/>
            <a:r>
              <a:rPr lang="en-US" sz="4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Activity Diagram</a:t>
            </a:r>
            <a:endParaRPr lang="en-IN" sz="4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23" name="Rectangle 22"/>
          <p:cNvSpPr/>
          <p:nvPr/>
        </p:nvSpPr>
        <p:spPr>
          <a:xfrm>
            <a:off x="178271" y="138180"/>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grpSp>
        <p:nvGrpSpPr>
          <p:cNvPr id="128" name="Group 127"/>
          <p:cNvGrpSpPr/>
          <p:nvPr/>
        </p:nvGrpSpPr>
        <p:grpSpPr>
          <a:xfrm>
            <a:off x="1712891" y="1172825"/>
            <a:ext cx="8521916" cy="5294038"/>
            <a:chOff x="2372763" y="292045"/>
            <a:chExt cx="7862043" cy="6174818"/>
          </a:xfrm>
        </p:grpSpPr>
        <p:sp>
          <p:nvSpPr>
            <p:cNvPr id="83" name="Oval 82"/>
            <p:cNvSpPr/>
            <p:nvPr/>
          </p:nvSpPr>
          <p:spPr>
            <a:xfrm>
              <a:off x="6275191" y="6099100"/>
              <a:ext cx="720404" cy="367763"/>
            </a:xfrm>
            <a:prstGeom prst="ellipse">
              <a:avLst/>
            </a:prstGeom>
            <a:solidFill>
              <a:schemeClr val="bg1"/>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Times New Roman" panose="02020603050405020304" pitchFamily="18" charset="0"/>
                <a:cs typeface="Times New Roman" panose="02020603050405020304" pitchFamily="18" charset="0"/>
              </a:endParaRPr>
            </a:p>
          </p:txBody>
        </p:sp>
        <p:sp>
          <p:nvSpPr>
            <p:cNvPr id="82" name="Oval 81"/>
            <p:cNvSpPr/>
            <p:nvPr/>
          </p:nvSpPr>
          <p:spPr>
            <a:xfrm>
              <a:off x="6163708" y="292045"/>
              <a:ext cx="720404" cy="367763"/>
            </a:xfrm>
            <a:prstGeom prst="ellipse">
              <a:avLst/>
            </a:prstGeom>
            <a:solidFill>
              <a:schemeClr val="bg1"/>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Times New Roman" panose="02020603050405020304" pitchFamily="18" charset="0"/>
                <a:cs typeface="Times New Roman" panose="02020603050405020304" pitchFamily="18" charset="0"/>
              </a:endParaRPr>
            </a:p>
          </p:txBody>
        </p:sp>
        <p:sp>
          <p:nvSpPr>
            <p:cNvPr id="21" name="Freeform 20"/>
            <p:cNvSpPr>
              <a:spLocks/>
            </p:cNvSpPr>
            <p:nvPr/>
          </p:nvSpPr>
          <p:spPr bwMode="auto">
            <a:xfrm>
              <a:off x="6319188" y="333485"/>
              <a:ext cx="413671" cy="284882"/>
            </a:xfrm>
            <a:custGeom>
              <a:avLst/>
              <a:gdLst>
                <a:gd name="T0" fmla="*/ 195 w 438"/>
                <a:gd name="T1" fmla="*/ 1 h 412"/>
                <a:gd name="T2" fmla="*/ 149 w 438"/>
                <a:gd name="T3" fmla="*/ 10 h 412"/>
                <a:gd name="T4" fmla="*/ 108 w 438"/>
                <a:gd name="T5" fmla="*/ 28 h 412"/>
                <a:gd name="T6" fmla="*/ 72 w 438"/>
                <a:gd name="T7" fmla="*/ 52 h 412"/>
                <a:gd name="T8" fmla="*/ 42 w 438"/>
                <a:gd name="T9" fmla="*/ 83 h 412"/>
                <a:gd name="T10" fmla="*/ 19 w 438"/>
                <a:gd name="T11" fmla="*/ 120 h 412"/>
                <a:gd name="T12" fmla="*/ 5 w 438"/>
                <a:gd name="T13" fmla="*/ 161 h 412"/>
                <a:gd name="T14" fmla="*/ 0 w 438"/>
                <a:gd name="T15" fmla="*/ 205 h 412"/>
                <a:gd name="T16" fmla="*/ 1 w 438"/>
                <a:gd name="T17" fmla="*/ 228 h 412"/>
                <a:gd name="T18" fmla="*/ 11 w 438"/>
                <a:gd name="T19" fmla="*/ 270 h 412"/>
                <a:gd name="T20" fmla="*/ 29 w 438"/>
                <a:gd name="T21" fmla="*/ 309 h 412"/>
                <a:gd name="T22" fmla="*/ 56 w 438"/>
                <a:gd name="T23" fmla="*/ 343 h 412"/>
                <a:gd name="T24" fmla="*/ 89 w 438"/>
                <a:gd name="T25" fmla="*/ 372 h 412"/>
                <a:gd name="T26" fmla="*/ 128 w 438"/>
                <a:gd name="T27" fmla="*/ 393 h 412"/>
                <a:gd name="T28" fmla="*/ 171 w 438"/>
                <a:gd name="T29" fmla="*/ 407 h 412"/>
                <a:gd name="T30" fmla="*/ 218 w 438"/>
                <a:gd name="T31" fmla="*/ 411 h 412"/>
                <a:gd name="T32" fmla="*/ 242 w 438"/>
                <a:gd name="T33" fmla="*/ 410 h 412"/>
                <a:gd name="T34" fmla="*/ 288 w 438"/>
                <a:gd name="T35" fmla="*/ 401 h 412"/>
                <a:gd name="T36" fmla="*/ 329 w 438"/>
                <a:gd name="T37" fmla="*/ 383 h 412"/>
                <a:gd name="T38" fmla="*/ 365 w 438"/>
                <a:gd name="T39" fmla="*/ 359 h 412"/>
                <a:gd name="T40" fmla="*/ 395 w 438"/>
                <a:gd name="T41" fmla="*/ 328 h 412"/>
                <a:gd name="T42" fmla="*/ 418 w 438"/>
                <a:gd name="T43" fmla="*/ 291 h 412"/>
                <a:gd name="T44" fmla="*/ 432 w 438"/>
                <a:gd name="T45" fmla="*/ 250 h 412"/>
                <a:gd name="T46" fmla="*/ 437 w 438"/>
                <a:gd name="T47" fmla="*/ 206 h 412"/>
                <a:gd name="T48" fmla="*/ 436 w 438"/>
                <a:gd name="T49" fmla="*/ 183 h 412"/>
                <a:gd name="T50" fmla="*/ 426 w 438"/>
                <a:gd name="T51" fmla="*/ 141 h 412"/>
                <a:gd name="T52" fmla="*/ 408 w 438"/>
                <a:gd name="T53" fmla="*/ 102 h 412"/>
                <a:gd name="T54" fmla="*/ 381 w 438"/>
                <a:gd name="T55" fmla="*/ 68 h 412"/>
                <a:gd name="T56" fmla="*/ 348 w 438"/>
                <a:gd name="T57" fmla="*/ 39 h 412"/>
                <a:gd name="T58" fmla="*/ 309 w 438"/>
                <a:gd name="T59" fmla="*/ 18 h 412"/>
                <a:gd name="T60" fmla="*/ 266 w 438"/>
                <a:gd name="T61" fmla="*/ 4 h 412"/>
                <a:gd name="T62" fmla="*/ 219 w 438"/>
                <a:gd name="T63" fmla="*/ 0 h 4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38" h="412">
                  <a:moveTo>
                    <a:pt x="218" y="0"/>
                  </a:moveTo>
                  <a:lnTo>
                    <a:pt x="195" y="1"/>
                  </a:lnTo>
                  <a:lnTo>
                    <a:pt x="172" y="4"/>
                  </a:lnTo>
                  <a:lnTo>
                    <a:pt x="149" y="10"/>
                  </a:lnTo>
                  <a:lnTo>
                    <a:pt x="128" y="18"/>
                  </a:lnTo>
                  <a:lnTo>
                    <a:pt x="108" y="28"/>
                  </a:lnTo>
                  <a:lnTo>
                    <a:pt x="89" y="39"/>
                  </a:lnTo>
                  <a:lnTo>
                    <a:pt x="72" y="52"/>
                  </a:lnTo>
                  <a:lnTo>
                    <a:pt x="56" y="67"/>
                  </a:lnTo>
                  <a:lnTo>
                    <a:pt x="42" y="83"/>
                  </a:lnTo>
                  <a:lnTo>
                    <a:pt x="30" y="101"/>
                  </a:lnTo>
                  <a:lnTo>
                    <a:pt x="19" y="120"/>
                  </a:lnTo>
                  <a:lnTo>
                    <a:pt x="11" y="140"/>
                  </a:lnTo>
                  <a:lnTo>
                    <a:pt x="5" y="161"/>
                  </a:lnTo>
                  <a:lnTo>
                    <a:pt x="1" y="182"/>
                  </a:lnTo>
                  <a:lnTo>
                    <a:pt x="0" y="205"/>
                  </a:lnTo>
                  <a:lnTo>
                    <a:pt x="0" y="206"/>
                  </a:lnTo>
                  <a:lnTo>
                    <a:pt x="1" y="228"/>
                  </a:lnTo>
                  <a:lnTo>
                    <a:pt x="5" y="250"/>
                  </a:lnTo>
                  <a:lnTo>
                    <a:pt x="11" y="270"/>
                  </a:lnTo>
                  <a:lnTo>
                    <a:pt x="19" y="290"/>
                  </a:lnTo>
                  <a:lnTo>
                    <a:pt x="29" y="309"/>
                  </a:lnTo>
                  <a:lnTo>
                    <a:pt x="42" y="327"/>
                  </a:lnTo>
                  <a:lnTo>
                    <a:pt x="56" y="343"/>
                  </a:lnTo>
                  <a:lnTo>
                    <a:pt x="71" y="358"/>
                  </a:lnTo>
                  <a:lnTo>
                    <a:pt x="89" y="372"/>
                  </a:lnTo>
                  <a:lnTo>
                    <a:pt x="108" y="383"/>
                  </a:lnTo>
                  <a:lnTo>
                    <a:pt x="128" y="393"/>
                  </a:lnTo>
                  <a:lnTo>
                    <a:pt x="149" y="401"/>
                  </a:lnTo>
                  <a:lnTo>
                    <a:pt x="171" y="407"/>
                  </a:lnTo>
                  <a:lnTo>
                    <a:pt x="194" y="410"/>
                  </a:lnTo>
                  <a:lnTo>
                    <a:pt x="218" y="411"/>
                  </a:lnTo>
                  <a:lnTo>
                    <a:pt x="218" y="412"/>
                  </a:lnTo>
                  <a:lnTo>
                    <a:pt x="242" y="410"/>
                  </a:lnTo>
                  <a:lnTo>
                    <a:pt x="265" y="407"/>
                  </a:lnTo>
                  <a:lnTo>
                    <a:pt x="288" y="401"/>
                  </a:lnTo>
                  <a:lnTo>
                    <a:pt x="309" y="393"/>
                  </a:lnTo>
                  <a:lnTo>
                    <a:pt x="329" y="383"/>
                  </a:lnTo>
                  <a:lnTo>
                    <a:pt x="348" y="372"/>
                  </a:lnTo>
                  <a:lnTo>
                    <a:pt x="365" y="359"/>
                  </a:lnTo>
                  <a:lnTo>
                    <a:pt x="381" y="344"/>
                  </a:lnTo>
                  <a:lnTo>
                    <a:pt x="395" y="328"/>
                  </a:lnTo>
                  <a:lnTo>
                    <a:pt x="407" y="310"/>
                  </a:lnTo>
                  <a:lnTo>
                    <a:pt x="418" y="291"/>
                  </a:lnTo>
                  <a:lnTo>
                    <a:pt x="426" y="271"/>
                  </a:lnTo>
                  <a:lnTo>
                    <a:pt x="432" y="250"/>
                  </a:lnTo>
                  <a:lnTo>
                    <a:pt x="436" y="229"/>
                  </a:lnTo>
                  <a:lnTo>
                    <a:pt x="437" y="206"/>
                  </a:lnTo>
                  <a:lnTo>
                    <a:pt x="437" y="206"/>
                  </a:lnTo>
                  <a:lnTo>
                    <a:pt x="436" y="183"/>
                  </a:lnTo>
                  <a:lnTo>
                    <a:pt x="432" y="161"/>
                  </a:lnTo>
                  <a:lnTo>
                    <a:pt x="426" y="141"/>
                  </a:lnTo>
                  <a:lnTo>
                    <a:pt x="418" y="121"/>
                  </a:lnTo>
                  <a:lnTo>
                    <a:pt x="408" y="102"/>
                  </a:lnTo>
                  <a:lnTo>
                    <a:pt x="395" y="84"/>
                  </a:lnTo>
                  <a:lnTo>
                    <a:pt x="381" y="68"/>
                  </a:lnTo>
                  <a:lnTo>
                    <a:pt x="366" y="53"/>
                  </a:lnTo>
                  <a:lnTo>
                    <a:pt x="348" y="39"/>
                  </a:lnTo>
                  <a:lnTo>
                    <a:pt x="329" y="28"/>
                  </a:lnTo>
                  <a:lnTo>
                    <a:pt x="309" y="18"/>
                  </a:lnTo>
                  <a:lnTo>
                    <a:pt x="288" y="10"/>
                  </a:lnTo>
                  <a:lnTo>
                    <a:pt x="266" y="4"/>
                  </a:lnTo>
                  <a:lnTo>
                    <a:pt x="243" y="1"/>
                  </a:lnTo>
                  <a:lnTo>
                    <a:pt x="219" y="0"/>
                  </a:lnTo>
                  <a:lnTo>
                    <a:pt x="218" y="0"/>
                  </a:lnTo>
                  <a:close/>
                </a:path>
              </a:pathLst>
            </a:custGeom>
            <a:solidFill>
              <a:schemeClr val="tx1"/>
            </a:solidFill>
            <a:ln w="9525">
              <a:solidFill>
                <a:schemeClr val="tx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IN" sz="1400">
                <a:latin typeface="Times New Roman" panose="02020603050405020304" pitchFamily="18" charset="0"/>
                <a:cs typeface="Times New Roman" panose="02020603050405020304" pitchFamily="18" charset="0"/>
              </a:endParaRPr>
            </a:p>
          </p:txBody>
        </p:sp>
        <p:cxnSp>
          <p:nvCxnSpPr>
            <p:cNvPr id="22" name="Straight Arrow Connector 21"/>
            <p:cNvCxnSpPr/>
            <p:nvPr/>
          </p:nvCxnSpPr>
          <p:spPr>
            <a:xfrm>
              <a:off x="6526023" y="618367"/>
              <a:ext cx="0" cy="165762"/>
            </a:xfrm>
            <a:prstGeom prst="straightConnector1">
              <a:avLst/>
            </a:prstGeom>
            <a:ln>
              <a:solidFill>
                <a:schemeClr val="tx1">
                  <a:lumMod val="85000"/>
                  <a:lumOff val="1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flipV="1">
              <a:off x="5644004" y="1596906"/>
              <a:ext cx="1815817" cy="162518"/>
            </a:xfrm>
            <a:prstGeom prst="rect">
              <a:avLst/>
            </a:prstGeom>
            <a:solidFill>
              <a:schemeClr val="tx1"/>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Times New Roman" panose="02020603050405020304" pitchFamily="18" charset="0"/>
                <a:cs typeface="Times New Roman" panose="02020603050405020304" pitchFamily="18" charset="0"/>
              </a:endParaRPr>
            </a:p>
          </p:txBody>
        </p:sp>
        <p:sp>
          <p:nvSpPr>
            <p:cNvPr id="8" name="Flowchart: Terminator 7"/>
            <p:cNvSpPr/>
            <p:nvPr/>
          </p:nvSpPr>
          <p:spPr>
            <a:xfrm>
              <a:off x="5668770" y="760808"/>
              <a:ext cx="1710280" cy="418049"/>
            </a:xfrm>
            <a:prstGeom prst="flowChartTerminator">
              <a:avLst/>
            </a:prstGeom>
            <a:solidFill>
              <a:schemeClr val="bg1"/>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Times New Roman" panose="02020603050405020304" pitchFamily="18" charset="0"/>
                  <a:cs typeface="Times New Roman" panose="02020603050405020304" pitchFamily="18" charset="0"/>
                </a:rPr>
                <a:t>Input Data </a:t>
              </a:r>
              <a:endParaRPr lang="en-IN" sz="1400" b="1" dirty="0">
                <a:solidFill>
                  <a:schemeClr val="tx1"/>
                </a:solidFill>
                <a:latin typeface="Times New Roman" panose="02020603050405020304" pitchFamily="18" charset="0"/>
                <a:cs typeface="Times New Roman" panose="02020603050405020304" pitchFamily="18" charset="0"/>
              </a:endParaRPr>
            </a:p>
          </p:txBody>
        </p:sp>
        <p:cxnSp>
          <p:nvCxnSpPr>
            <p:cNvPr id="30" name="Straight Arrow Connector 29"/>
            <p:cNvCxnSpPr>
              <a:endCxn id="5" idx="2"/>
            </p:cNvCxnSpPr>
            <p:nvPr/>
          </p:nvCxnSpPr>
          <p:spPr>
            <a:xfrm>
              <a:off x="6551913" y="1178857"/>
              <a:ext cx="0" cy="418049"/>
            </a:xfrm>
            <a:prstGeom prst="straightConnector1">
              <a:avLst/>
            </a:prstGeom>
            <a:ln>
              <a:solidFill>
                <a:schemeClr val="tx1">
                  <a:lumMod val="85000"/>
                  <a:lumOff val="1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5" name="Flowchart: Terminator 24"/>
            <p:cNvSpPr/>
            <p:nvPr/>
          </p:nvSpPr>
          <p:spPr>
            <a:xfrm>
              <a:off x="3747671" y="2234990"/>
              <a:ext cx="1710280" cy="418049"/>
            </a:xfrm>
            <a:prstGeom prst="flowChartTerminator">
              <a:avLst/>
            </a:prstGeom>
            <a:solidFill>
              <a:schemeClr val="bg1"/>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0"/>
                </a:spcAft>
              </a:pPr>
              <a:r>
                <a:rPr lang="en-IN" sz="1400" b="1" dirty="0">
                  <a:solidFill>
                    <a:schemeClr val="tx1"/>
                  </a:solidFill>
                  <a:latin typeface="Times New Roman" panose="02020603050405020304" pitchFamily="18" charset="0"/>
                  <a:cs typeface="Times New Roman" panose="02020603050405020304" pitchFamily="18" charset="0"/>
                </a:rPr>
                <a:t>Preliminary Process</a:t>
              </a:r>
              <a:endParaRPr lang="en-IN" sz="1400" b="1"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26" name="Flowchart: Terminator 25"/>
            <p:cNvSpPr/>
            <p:nvPr/>
          </p:nvSpPr>
          <p:spPr>
            <a:xfrm>
              <a:off x="7473147" y="2234990"/>
              <a:ext cx="1710280" cy="418049"/>
            </a:xfrm>
            <a:prstGeom prst="flowChartTerminator">
              <a:avLst/>
            </a:prstGeom>
            <a:solidFill>
              <a:schemeClr val="bg1"/>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Times New Roman" panose="02020603050405020304" pitchFamily="18" charset="0"/>
                  <a:cs typeface="Times New Roman" panose="02020603050405020304" pitchFamily="18" charset="0"/>
                </a:rPr>
                <a:t>Feature Extraction</a:t>
              </a:r>
              <a:endParaRPr lang="en-IN" sz="1400" b="1" dirty="0">
                <a:solidFill>
                  <a:schemeClr val="tx1"/>
                </a:solidFill>
                <a:latin typeface="Times New Roman" panose="02020603050405020304" pitchFamily="18" charset="0"/>
                <a:cs typeface="Times New Roman" panose="02020603050405020304" pitchFamily="18" charset="0"/>
              </a:endParaRPr>
            </a:p>
          </p:txBody>
        </p:sp>
        <p:cxnSp>
          <p:nvCxnSpPr>
            <p:cNvPr id="6" name="Elbow Connector 5"/>
            <p:cNvCxnSpPr>
              <a:stCxn id="5" idx="0"/>
              <a:endCxn id="25" idx="0"/>
            </p:cNvCxnSpPr>
            <p:nvPr/>
          </p:nvCxnSpPr>
          <p:spPr>
            <a:xfrm rot="5400000">
              <a:off x="5339579" y="1022656"/>
              <a:ext cx="475565" cy="1949102"/>
            </a:xfrm>
            <a:prstGeom prst="bentConnector3">
              <a:avLst/>
            </a:prstGeom>
            <a:ln>
              <a:solidFill>
                <a:schemeClr val="tx1">
                  <a:lumMod val="85000"/>
                  <a:lumOff val="1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 name="Elbow Connector 8"/>
            <p:cNvCxnSpPr>
              <a:stCxn id="5" idx="0"/>
              <a:endCxn id="26" idx="0"/>
            </p:cNvCxnSpPr>
            <p:nvPr/>
          </p:nvCxnSpPr>
          <p:spPr>
            <a:xfrm rot="16200000" flipH="1">
              <a:off x="7202317" y="1109020"/>
              <a:ext cx="475565" cy="1776374"/>
            </a:xfrm>
            <a:prstGeom prst="bentConnector3">
              <a:avLst/>
            </a:prstGeom>
            <a:ln>
              <a:solidFill>
                <a:schemeClr val="tx1">
                  <a:lumMod val="85000"/>
                  <a:lumOff val="1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 name="Diamond 10"/>
            <p:cNvSpPr/>
            <p:nvPr/>
          </p:nvSpPr>
          <p:spPr>
            <a:xfrm>
              <a:off x="4416018" y="3044504"/>
              <a:ext cx="373586" cy="434948"/>
            </a:xfrm>
            <a:prstGeom prst="diamond">
              <a:avLst/>
            </a:prstGeom>
            <a:solidFill>
              <a:schemeClr val="bg1"/>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Times New Roman" panose="02020603050405020304" pitchFamily="18" charset="0"/>
                <a:cs typeface="Times New Roman" panose="02020603050405020304" pitchFamily="18" charset="0"/>
              </a:endParaRPr>
            </a:p>
          </p:txBody>
        </p:sp>
        <p:cxnSp>
          <p:nvCxnSpPr>
            <p:cNvPr id="14" name="Straight Arrow Connector 13"/>
            <p:cNvCxnSpPr>
              <a:stCxn id="25" idx="2"/>
              <a:endCxn id="11" idx="0"/>
            </p:cNvCxnSpPr>
            <p:nvPr/>
          </p:nvCxnSpPr>
          <p:spPr>
            <a:xfrm>
              <a:off x="4602811" y="2653039"/>
              <a:ext cx="0" cy="391466"/>
            </a:xfrm>
            <a:prstGeom prst="straightConnector1">
              <a:avLst/>
            </a:prstGeom>
            <a:ln>
              <a:solidFill>
                <a:schemeClr val="tx1">
                  <a:lumMod val="85000"/>
                  <a:lumOff val="1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9" name="Flowchart: Terminator 38"/>
            <p:cNvSpPr/>
            <p:nvPr/>
          </p:nvSpPr>
          <p:spPr>
            <a:xfrm>
              <a:off x="2372763" y="3668259"/>
              <a:ext cx="1881868" cy="399848"/>
            </a:xfrm>
            <a:prstGeom prst="flowChartTerminator">
              <a:avLst/>
            </a:prstGeom>
            <a:solidFill>
              <a:schemeClr val="bg1"/>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Times New Roman" panose="02020603050405020304" pitchFamily="18" charset="0"/>
                  <a:cs typeface="Times New Roman" panose="02020603050405020304" pitchFamily="18" charset="0"/>
                </a:rPr>
                <a:t>Missing values</a:t>
              </a:r>
              <a:endParaRPr lang="en-IN" sz="1400" b="1" dirty="0">
                <a:solidFill>
                  <a:schemeClr val="tx1"/>
                </a:solidFill>
                <a:latin typeface="Times New Roman" panose="02020603050405020304" pitchFamily="18" charset="0"/>
                <a:cs typeface="Times New Roman" panose="02020603050405020304" pitchFamily="18" charset="0"/>
              </a:endParaRPr>
            </a:p>
          </p:txBody>
        </p:sp>
        <p:sp>
          <p:nvSpPr>
            <p:cNvPr id="44" name="Flowchart: Terminator 43"/>
            <p:cNvSpPr/>
            <p:nvPr/>
          </p:nvSpPr>
          <p:spPr>
            <a:xfrm>
              <a:off x="5059032" y="3668259"/>
              <a:ext cx="1881868" cy="399848"/>
            </a:xfrm>
            <a:prstGeom prst="flowChartTerminator">
              <a:avLst/>
            </a:prstGeom>
            <a:solidFill>
              <a:schemeClr val="bg1"/>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Times New Roman" panose="02020603050405020304" pitchFamily="18" charset="0"/>
                  <a:cs typeface="Times New Roman" panose="02020603050405020304" pitchFamily="18" charset="0"/>
                </a:rPr>
                <a:t>Text Pre-processing</a:t>
              </a:r>
              <a:endParaRPr lang="en-IN" sz="1400" b="1" dirty="0">
                <a:solidFill>
                  <a:schemeClr val="tx1"/>
                </a:solidFill>
                <a:latin typeface="Times New Roman" panose="02020603050405020304" pitchFamily="18" charset="0"/>
                <a:cs typeface="Times New Roman" panose="02020603050405020304" pitchFamily="18" charset="0"/>
              </a:endParaRPr>
            </a:p>
          </p:txBody>
        </p:sp>
        <p:cxnSp>
          <p:nvCxnSpPr>
            <p:cNvPr id="16" name="Elbow Connector 15"/>
            <p:cNvCxnSpPr>
              <a:stCxn id="11" idx="3"/>
              <a:endCxn id="44" idx="0"/>
            </p:cNvCxnSpPr>
            <p:nvPr/>
          </p:nvCxnSpPr>
          <p:spPr>
            <a:xfrm>
              <a:off x="4789604" y="3261979"/>
              <a:ext cx="1210362" cy="406280"/>
            </a:xfrm>
            <a:prstGeom prst="bentConnector2">
              <a:avLst/>
            </a:prstGeom>
            <a:ln>
              <a:solidFill>
                <a:schemeClr val="tx1">
                  <a:lumMod val="85000"/>
                  <a:lumOff val="1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 name="Elbow Connector 19"/>
            <p:cNvCxnSpPr>
              <a:stCxn id="11" idx="1"/>
              <a:endCxn id="39" idx="0"/>
            </p:cNvCxnSpPr>
            <p:nvPr/>
          </p:nvCxnSpPr>
          <p:spPr>
            <a:xfrm rot="10800000" flipV="1">
              <a:off x="3313698" y="3261979"/>
              <a:ext cx="1102321" cy="406280"/>
            </a:xfrm>
            <a:prstGeom prst="bentConnector2">
              <a:avLst/>
            </a:prstGeom>
            <a:ln>
              <a:solidFill>
                <a:schemeClr val="tx1">
                  <a:lumMod val="85000"/>
                  <a:lumOff val="1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7" name="Diamond 46"/>
            <p:cNvSpPr/>
            <p:nvPr/>
          </p:nvSpPr>
          <p:spPr>
            <a:xfrm>
              <a:off x="4422606" y="4304478"/>
              <a:ext cx="373586" cy="434948"/>
            </a:xfrm>
            <a:prstGeom prst="diamond">
              <a:avLst/>
            </a:prstGeom>
            <a:solidFill>
              <a:schemeClr val="bg1"/>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Times New Roman" panose="02020603050405020304" pitchFamily="18" charset="0"/>
                <a:cs typeface="Times New Roman" panose="02020603050405020304" pitchFamily="18" charset="0"/>
              </a:endParaRPr>
            </a:p>
          </p:txBody>
        </p:sp>
        <p:cxnSp>
          <p:nvCxnSpPr>
            <p:cNvPr id="29" name="Elbow Connector 28"/>
            <p:cNvCxnSpPr>
              <a:stCxn id="44" idx="2"/>
              <a:endCxn id="47" idx="3"/>
            </p:cNvCxnSpPr>
            <p:nvPr/>
          </p:nvCxnSpPr>
          <p:spPr>
            <a:xfrm rot="5400000">
              <a:off x="5171157" y="3693143"/>
              <a:ext cx="453845" cy="1203774"/>
            </a:xfrm>
            <a:prstGeom prst="bentConnector2">
              <a:avLst/>
            </a:prstGeom>
            <a:ln>
              <a:solidFill>
                <a:schemeClr val="tx1">
                  <a:lumMod val="85000"/>
                  <a:lumOff val="1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8" name="Elbow Connector 47"/>
            <p:cNvCxnSpPr>
              <a:stCxn id="39" idx="2"/>
              <a:endCxn id="47" idx="1"/>
            </p:cNvCxnSpPr>
            <p:nvPr/>
          </p:nvCxnSpPr>
          <p:spPr>
            <a:xfrm rot="16200000" flipH="1">
              <a:off x="3641229" y="3740575"/>
              <a:ext cx="453845" cy="1108909"/>
            </a:xfrm>
            <a:prstGeom prst="bentConnector2">
              <a:avLst/>
            </a:prstGeom>
            <a:ln>
              <a:solidFill>
                <a:schemeClr val="tx1">
                  <a:lumMod val="85000"/>
                  <a:lumOff val="1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9" name="Flowchart: Terminator 48"/>
            <p:cNvSpPr/>
            <p:nvPr/>
          </p:nvSpPr>
          <p:spPr>
            <a:xfrm>
              <a:off x="7473147" y="3008737"/>
              <a:ext cx="1710280" cy="418049"/>
            </a:xfrm>
            <a:prstGeom prst="flowChartTerminator">
              <a:avLst/>
            </a:prstGeom>
            <a:solidFill>
              <a:schemeClr val="bg1"/>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Times New Roman" panose="02020603050405020304" pitchFamily="18" charset="0"/>
                  <a:cs typeface="Times New Roman" panose="02020603050405020304" pitchFamily="18" charset="0"/>
                </a:rPr>
                <a:t>Classification</a:t>
              </a:r>
              <a:endParaRPr lang="en-IN" sz="1400" b="1" dirty="0">
                <a:solidFill>
                  <a:schemeClr val="tx1"/>
                </a:solidFill>
                <a:latin typeface="Times New Roman" panose="02020603050405020304" pitchFamily="18" charset="0"/>
                <a:cs typeface="Times New Roman" panose="02020603050405020304" pitchFamily="18" charset="0"/>
              </a:endParaRPr>
            </a:p>
          </p:txBody>
        </p:sp>
        <p:cxnSp>
          <p:nvCxnSpPr>
            <p:cNvPr id="54" name="Straight Arrow Connector 53"/>
            <p:cNvCxnSpPr>
              <a:stCxn id="26" idx="2"/>
              <a:endCxn id="49" idx="0"/>
            </p:cNvCxnSpPr>
            <p:nvPr/>
          </p:nvCxnSpPr>
          <p:spPr>
            <a:xfrm>
              <a:off x="8328287" y="2653039"/>
              <a:ext cx="0" cy="355699"/>
            </a:xfrm>
            <a:prstGeom prst="straightConnector1">
              <a:avLst/>
            </a:prstGeom>
            <a:ln>
              <a:solidFill>
                <a:schemeClr val="tx1">
                  <a:lumMod val="85000"/>
                  <a:lumOff val="1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6" name="Diamond 55"/>
            <p:cNvSpPr/>
            <p:nvPr/>
          </p:nvSpPr>
          <p:spPr>
            <a:xfrm>
              <a:off x="8141494" y="3689220"/>
              <a:ext cx="373586" cy="434948"/>
            </a:xfrm>
            <a:prstGeom prst="diamond">
              <a:avLst/>
            </a:prstGeom>
            <a:solidFill>
              <a:schemeClr val="bg1"/>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Times New Roman" panose="02020603050405020304" pitchFamily="18" charset="0"/>
                <a:cs typeface="Times New Roman" panose="02020603050405020304" pitchFamily="18" charset="0"/>
              </a:endParaRPr>
            </a:p>
          </p:txBody>
        </p:sp>
        <p:cxnSp>
          <p:nvCxnSpPr>
            <p:cNvPr id="58" name="Straight Arrow Connector 57"/>
            <p:cNvCxnSpPr>
              <a:stCxn id="49" idx="2"/>
              <a:endCxn id="56" idx="0"/>
            </p:cNvCxnSpPr>
            <p:nvPr/>
          </p:nvCxnSpPr>
          <p:spPr>
            <a:xfrm>
              <a:off x="8328287" y="3426787"/>
              <a:ext cx="0" cy="262434"/>
            </a:xfrm>
            <a:prstGeom prst="straightConnector1">
              <a:avLst/>
            </a:prstGeom>
            <a:ln>
              <a:solidFill>
                <a:schemeClr val="tx1">
                  <a:lumMod val="85000"/>
                  <a:lumOff val="1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9" name="Flowchart: Terminator 58"/>
            <p:cNvSpPr/>
            <p:nvPr/>
          </p:nvSpPr>
          <p:spPr>
            <a:xfrm>
              <a:off x="6558717" y="4243464"/>
              <a:ext cx="1582776" cy="399848"/>
            </a:xfrm>
            <a:prstGeom prst="flowChartTerminator">
              <a:avLst/>
            </a:prstGeom>
            <a:solidFill>
              <a:schemeClr val="bg1"/>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Times New Roman" panose="02020603050405020304" pitchFamily="18" charset="0"/>
                  <a:cs typeface="Times New Roman" panose="02020603050405020304" pitchFamily="18" charset="0"/>
                </a:rPr>
                <a:t>Logistic Regression</a:t>
              </a:r>
              <a:endParaRPr lang="en-IN" sz="1400" b="1" dirty="0">
                <a:solidFill>
                  <a:schemeClr val="tx1"/>
                </a:solidFill>
                <a:latin typeface="Times New Roman" panose="02020603050405020304" pitchFamily="18" charset="0"/>
                <a:cs typeface="Times New Roman" panose="02020603050405020304" pitchFamily="18" charset="0"/>
              </a:endParaRPr>
            </a:p>
          </p:txBody>
        </p:sp>
        <p:sp>
          <p:nvSpPr>
            <p:cNvPr id="60" name="Flowchart: Terminator 59"/>
            <p:cNvSpPr/>
            <p:nvPr/>
          </p:nvSpPr>
          <p:spPr>
            <a:xfrm>
              <a:off x="8622499" y="4267296"/>
              <a:ext cx="1612307" cy="399848"/>
            </a:xfrm>
            <a:prstGeom prst="flowChartTerminator">
              <a:avLst/>
            </a:prstGeom>
            <a:solidFill>
              <a:schemeClr val="bg1"/>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latin typeface="Times New Roman" panose="02020603050405020304" pitchFamily="18" charset="0"/>
                  <a:cs typeface="Times New Roman" panose="02020603050405020304" pitchFamily="18" charset="0"/>
                </a:rPr>
                <a:t>Hybrid DT + RF</a:t>
              </a:r>
              <a:endParaRPr lang="en-IN" sz="1400" b="1" dirty="0">
                <a:solidFill>
                  <a:schemeClr val="tx1"/>
                </a:solidFill>
                <a:latin typeface="Times New Roman" panose="02020603050405020304" pitchFamily="18" charset="0"/>
                <a:cs typeface="Times New Roman" panose="02020603050405020304" pitchFamily="18" charset="0"/>
              </a:endParaRPr>
            </a:p>
          </p:txBody>
        </p:sp>
        <p:cxnSp>
          <p:nvCxnSpPr>
            <p:cNvPr id="62" name="Elbow Connector 61"/>
            <p:cNvCxnSpPr>
              <a:stCxn id="56" idx="3"/>
              <a:endCxn id="60" idx="0"/>
            </p:cNvCxnSpPr>
            <p:nvPr/>
          </p:nvCxnSpPr>
          <p:spPr>
            <a:xfrm>
              <a:off x="8515080" y="3906695"/>
              <a:ext cx="913572" cy="360601"/>
            </a:xfrm>
            <a:prstGeom prst="bentConnector2">
              <a:avLst/>
            </a:prstGeom>
            <a:ln>
              <a:solidFill>
                <a:schemeClr val="tx1">
                  <a:lumMod val="85000"/>
                  <a:lumOff val="1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4" name="Elbow Connector 63"/>
            <p:cNvCxnSpPr>
              <a:stCxn id="56" idx="1"/>
              <a:endCxn id="59" idx="0"/>
            </p:cNvCxnSpPr>
            <p:nvPr/>
          </p:nvCxnSpPr>
          <p:spPr>
            <a:xfrm rot="10800000" flipV="1">
              <a:off x="7350106" y="3906695"/>
              <a:ext cx="791389" cy="336769"/>
            </a:xfrm>
            <a:prstGeom prst="bentConnector2">
              <a:avLst/>
            </a:prstGeom>
            <a:ln>
              <a:solidFill>
                <a:schemeClr val="tx1">
                  <a:lumMod val="85000"/>
                  <a:lumOff val="1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7" name="Diamond 66"/>
            <p:cNvSpPr/>
            <p:nvPr/>
          </p:nvSpPr>
          <p:spPr>
            <a:xfrm>
              <a:off x="8141494" y="4817918"/>
              <a:ext cx="373586" cy="434948"/>
            </a:xfrm>
            <a:prstGeom prst="diamond">
              <a:avLst/>
            </a:prstGeom>
            <a:solidFill>
              <a:schemeClr val="bg1"/>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Times New Roman" panose="02020603050405020304" pitchFamily="18" charset="0"/>
                <a:cs typeface="Times New Roman" panose="02020603050405020304" pitchFamily="18" charset="0"/>
              </a:endParaRPr>
            </a:p>
          </p:txBody>
        </p:sp>
        <p:cxnSp>
          <p:nvCxnSpPr>
            <p:cNvPr id="69" name="Elbow Connector 68"/>
            <p:cNvCxnSpPr>
              <a:stCxn id="59" idx="2"/>
              <a:endCxn id="67" idx="1"/>
            </p:cNvCxnSpPr>
            <p:nvPr/>
          </p:nvCxnSpPr>
          <p:spPr>
            <a:xfrm rot="16200000" flipH="1">
              <a:off x="7549759" y="4443657"/>
              <a:ext cx="392082" cy="791389"/>
            </a:xfrm>
            <a:prstGeom prst="bentConnector2">
              <a:avLst/>
            </a:prstGeom>
            <a:ln>
              <a:solidFill>
                <a:schemeClr val="tx1">
                  <a:lumMod val="85000"/>
                  <a:lumOff val="1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1" name="Elbow Connector 70"/>
            <p:cNvCxnSpPr>
              <a:stCxn id="60" idx="2"/>
              <a:endCxn id="67" idx="3"/>
            </p:cNvCxnSpPr>
            <p:nvPr/>
          </p:nvCxnSpPr>
          <p:spPr>
            <a:xfrm rot="5400000">
              <a:off x="8787742" y="4394482"/>
              <a:ext cx="368249" cy="913572"/>
            </a:xfrm>
            <a:prstGeom prst="bentConnector2">
              <a:avLst/>
            </a:prstGeom>
            <a:ln>
              <a:solidFill>
                <a:schemeClr val="tx1">
                  <a:lumMod val="85000"/>
                  <a:lumOff val="1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2" name="Rectangle 71"/>
            <p:cNvSpPr/>
            <p:nvPr/>
          </p:nvSpPr>
          <p:spPr>
            <a:xfrm flipV="1">
              <a:off x="5727486" y="5754105"/>
              <a:ext cx="1815817" cy="162518"/>
            </a:xfrm>
            <a:prstGeom prst="rect">
              <a:avLst/>
            </a:prstGeom>
            <a:solidFill>
              <a:schemeClr val="tx1"/>
            </a:solidFill>
            <a:ln>
              <a:solidFill>
                <a:schemeClr val="tx1">
                  <a:lumMod val="85000"/>
                  <a:lumOff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400">
                <a:latin typeface="Times New Roman" panose="02020603050405020304" pitchFamily="18" charset="0"/>
                <a:cs typeface="Times New Roman" panose="02020603050405020304" pitchFamily="18" charset="0"/>
              </a:endParaRPr>
            </a:p>
          </p:txBody>
        </p:sp>
        <p:cxnSp>
          <p:nvCxnSpPr>
            <p:cNvPr id="74" name="Elbow Connector 73"/>
            <p:cNvCxnSpPr>
              <a:stCxn id="47" idx="2"/>
              <a:endCxn id="72" idx="2"/>
            </p:cNvCxnSpPr>
            <p:nvPr/>
          </p:nvCxnSpPr>
          <p:spPr>
            <a:xfrm rot="16200000" flipH="1">
              <a:off x="5115058" y="4233767"/>
              <a:ext cx="1014679" cy="2025996"/>
            </a:xfrm>
            <a:prstGeom prst="bentConnector3">
              <a:avLst>
                <a:gd name="adj1" fmla="val 57616"/>
              </a:avLst>
            </a:prstGeom>
            <a:ln>
              <a:solidFill>
                <a:schemeClr val="tx1">
                  <a:lumMod val="85000"/>
                  <a:lumOff val="1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8" name="Elbow Connector 77"/>
            <p:cNvCxnSpPr>
              <a:stCxn id="67" idx="2"/>
              <a:endCxn id="72" idx="2"/>
            </p:cNvCxnSpPr>
            <p:nvPr/>
          </p:nvCxnSpPr>
          <p:spPr>
            <a:xfrm rot="5400000">
              <a:off x="7231222" y="4657039"/>
              <a:ext cx="501239" cy="1692892"/>
            </a:xfrm>
            <a:prstGeom prst="bentConnector3">
              <a:avLst>
                <a:gd name="adj1" fmla="val 8889"/>
              </a:avLst>
            </a:prstGeom>
            <a:ln>
              <a:solidFill>
                <a:schemeClr val="tx1">
                  <a:lumMod val="85000"/>
                  <a:lumOff val="1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1" name="Freeform 80"/>
            <p:cNvSpPr>
              <a:spLocks/>
            </p:cNvSpPr>
            <p:nvPr/>
          </p:nvSpPr>
          <p:spPr bwMode="auto">
            <a:xfrm>
              <a:off x="6428558" y="6140541"/>
              <a:ext cx="413671" cy="284882"/>
            </a:xfrm>
            <a:custGeom>
              <a:avLst/>
              <a:gdLst>
                <a:gd name="T0" fmla="*/ 195 w 438"/>
                <a:gd name="T1" fmla="*/ 1 h 412"/>
                <a:gd name="T2" fmla="*/ 149 w 438"/>
                <a:gd name="T3" fmla="*/ 10 h 412"/>
                <a:gd name="T4" fmla="*/ 108 w 438"/>
                <a:gd name="T5" fmla="*/ 28 h 412"/>
                <a:gd name="T6" fmla="*/ 72 w 438"/>
                <a:gd name="T7" fmla="*/ 52 h 412"/>
                <a:gd name="T8" fmla="*/ 42 w 438"/>
                <a:gd name="T9" fmla="*/ 83 h 412"/>
                <a:gd name="T10" fmla="*/ 19 w 438"/>
                <a:gd name="T11" fmla="*/ 120 h 412"/>
                <a:gd name="T12" fmla="*/ 5 w 438"/>
                <a:gd name="T13" fmla="*/ 161 h 412"/>
                <a:gd name="T14" fmla="*/ 0 w 438"/>
                <a:gd name="T15" fmla="*/ 205 h 412"/>
                <a:gd name="T16" fmla="*/ 1 w 438"/>
                <a:gd name="T17" fmla="*/ 228 h 412"/>
                <a:gd name="T18" fmla="*/ 11 w 438"/>
                <a:gd name="T19" fmla="*/ 270 h 412"/>
                <a:gd name="T20" fmla="*/ 29 w 438"/>
                <a:gd name="T21" fmla="*/ 309 h 412"/>
                <a:gd name="T22" fmla="*/ 56 w 438"/>
                <a:gd name="T23" fmla="*/ 343 h 412"/>
                <a:gd name="T24" fmla="*/ 89 w 438"/>
                <a:gd name="T25" fmla="*/ 372 h 412"/>
                <a:gd name="T26" fmla="*/ 128 w 438"/>
                <a:gd name="T27" fmla="*/ 393 h 412"/>
                <a:gd name="T28" fmla="*/ 171 w 438"/>
                <a:gd name="T29" fmla="*/ 407 h 412"/>
                <a:gd name="T30" fmla="*/ 218 w 438"/>
                <a:gd name="T31" fmla="*/ 411 h 412"/>
                <a:gd name="T32" fmla="*/ 242 w 438"/>
                <a:gd name="T33" fmla="*/ 410 h 412"/>
                <a:gd name="T34" fmla="*/ 288 w 438"/>
                <a:gd name="T35" fmla="*/ 401 h 412"/>
                <a:gd name="T36" fmla="*/ 329 w 438"/>
                <a:gd name="T37" fmla="*/ 383 h 412"/>
                <a:gd name="T38" fmla="*/ 365 w 438"/>
                <a:gd name="T39" fmla="*/ 359 h 412"/>
                <a:gd name="T40" fmla="*/ 395 w 438"/>
                <a:gd name="T41" fmla="*/ 328 h 412"/>
                <a:gd name="T42" fmla="*/ 418 w 438"/>
                <a:gd name="T43" fmla="*/ 291 h 412"/>
                <a:gd name="T44" fmla="*/ 432 w 438"/>
                <a:gd name="T45" fmla="*/ 250 h 412"/>
                <a:gd name="T46" fmla="*/ 437 w 438"/>
                <a:gd name="T47" fmla="*/ 206 h 412"/>
                <a:gd name="T48" fmla="*/ 436 w 438"/>
                <a:gd name="T49" fmla="*/ 183 h 412"/>
                <a:gd name="T50" fmla="*/ 426 w 438"/>
                <a:gd name="T51" fmla="*/ 141 h 412"/>
                <a:gd name="T52" fmla="*/ 408 w 438"/>
                <a:gd name="T53" fmla="*/ 102 h 412"/>
                <a:gd name="T54" fmla="*/ 381 w 438"/>
                <a:gd name="T55" fmla="*/ 68 h 412"/>
                <a:gd name="T56" fmla="*/ 348 w 438"/>
                <a:gd name="T57" fmla="*/ 39 h 412"/>
                <a:gd name="T58" fmla="*/ 309 w 438"/>
                <a:gd name="T59" fmla="*/ 18 h 412"/>
                <a:gd name="T60" fmla="*/ 266 w 438"/>
                <a:gd name="T61" fmla="*/ 4 h 412"/>
                <a:gd name="T62" fmla="*/ 219 w 438"/>
                <a:gd name="T63" fmla="*/ 0 h 4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38" h="412">
                  <a:moveTo>
                    <a:pt x="218" y="0"/>
                  </a:moveTo>
                  <a:lnTo>
                    <a:pt x="195" y="1"/>
                  </a:lnTo>
                  <a:lnTo>
                    <a:pt x="172" y="4"/>
                  </a:lnTo>
                  <a:lnTo>
                    <a:pt x="149" y="10"/>
                  </a:lnTo>
                  <a:lnTo>
                    <a:pt x="128" y="18"/>
                  </a:lnTo>
                  <a:lnTo>
                    <a:pt x="108" y="28"/>
                  </a:lnTo>
                  <a:lnTo>
                    <a:pt x="89" y="39"/>
                  </a:lnTo>
                  <a:lnTo>
                    <a:pt x="72" y="52"/>
                  </a:lnTo>
                  <a:lnTo>
                    <a:pt x="56" y="67"/>
                  </a:lnTo>
                  <a:lnTo>
                    <a:pt x="42" y="83"/>
                  </a:lnTo>
                  <a:lnTo>
                    <a:pt x="30" y="101"/>
                  </a:lnTo>
                  <a:lnTo>
                    <a:pt x="19" y="120"/>
                  </a:lnTo>
                  <a:lnTo>
                    <a:pt x="11" y="140"/>
                  </a:lnTo>
                  <a:lnTo>
                    <a:pt x="5" y="161"/>
                  </a:lnTo>
                  <a:lnTo>
                    <a:pt x="1" y="182"/>
                  </a:lnTo>
                  <a:lnTo>
                    <a:pt x="0" y="205"/>
                  </a:lnTo>
                  <a:lnTo>
                    <a:pt x="0" y="206"/>
                  </a:lnTo>
                  <a:lnTo>
                    <a:pt x="1" y="228"/>
                  </a:lnTo>
                  <a:lnTo>
                    <a:pt x="5" y="250"/>
                  </a:lnTo>
                  <a:lnTo>
                    <a:pt x="11" y="270"/>
                  </a:lnTo>
                  <a:lnTo>
                    <a:pt x="19" y="290"/>
                  </a:lnTo>
                  <a:lnTo>
                    <a:pt x="29" y="309"/>
                  </a:lnTo>
                  <a:lnTo>
                    <a:pt x="42" y="327"/>
                  </a:lnTo>
                  <a:lnTo>
                    <a:pt x="56" y="343"/>
                  </a:lnTo>
                  <a:lnTo>
                    <a:pt x="71" y="358"/>
                  </a:lnTo>
                  <a:lnTo>
                    <a:pt x="89" y="372"/>
                  </a:lnTo>
                  <a:lnTo>
                    <a:pt x="108" y="383"/>
                  </a:lnTo>
                  <a:lnTo>
                    <a:pt x="128" y="393"/>
                  </a:lnTo>
                  <a:lnTo>
                    <a:pt x="149" y="401"/>
                  </a:lnTo>
                  <a:lnTo>
                    <a:pt x="171" y="407"/>
                  </a:lnTo>
                  <a:lnTo>
                    <a:pt x="194" y="410"/>
                  </a:lnTo>
                  <a:lnTo>
                    <a:pt x="218" y="411"/>
                  </a:lnTo>
                  <a:lnTo>
                    <a:pt x="218" y="412"/>
                  </a:lnTo>
                  <a:lnTo>
                    <a:pt x="242" y="410"/>
                  </a:lnTo>
                  <a:lnTo>
                    <a:pt x="265" y="407"/>
                  </a:lnTo>
                  <a:lnTo>
                    <a:pt x="288" y="401"/>
                  </a:lnTo>
                  <a:lnTo>
                    <a:pt x="309" y="393"/>
                  </a:lnTo>
                  <a:lnTo>
                    <a:pt x="329" y="383"/>
                  </a:lnTo>
                  <a:lnTo>
                    <a:pt x="348" y="372"/>
                  </a:lnTo>
                  <a:lnTo>
                    <a:pt x="365" y="359"/>
                  </a:lnTo>
                  <a:lnTo>
                    <a:pt x="381" y="344"/>
                  </a:lnTo>
                  <a:lnTo>
                    <a:pt x="395" y="328"/>
                  </a:lnTo>
                  <a:lnTo>
                    <a:pt x="407" y="310"/>
                  </a:lnTo>
                  <a:lnTo>
                    <a:pt x="418" y="291"/>
                  </a:lnTo>
                  <a:lnTo>
                    <a:pt x="426" y="271"/>
                  </a:lnTo>
                  <a:lnTo>
                    <a:pt x="432" y="250"/>
                  </a:lnTo>
                  <a:lnTo>
                    <a:pt x="436" y="229"/>
                  </a:lnTo>
                  <a:lnTo>
                    <a:pt x="437" y="206"/>
                  </a:lnTo>
                  <a:lnTo>
                    <a:pt x="437" y="206"/>
                  </a:lnTo>
                  <a:lnTo>
                    <a:pt x="436" y="183"/>
                  </a:lnTo>
                  <a:lnTo>
                    <a:pt x="432" y="161"/>
                  </a:lnTo>
                  <a:lnTo>
                    <a:pt x="426" y="141"/>
                  </a:lnTo>
                  <a:lnTo>
                    <a:pt x="418" y="121"/>
                  </a:lnTo>
                  <a:lnTo>
                    <a:pt x="408" y="102"/>
                  </a:lnTo>
                  <a:lnTo>
                    <a:pt x="395" y="84"/>
                  </a:lnTo>
                  <a:lnTo>
                    <a:pt x="381" y="68"/>
                  </a:lnTo>
                  <a:lnTo>
                    <a:pt x="366" y="53"/>
                  </a:lnTo>
                  <a:lnTo>
                    <a:pt x="348" y="39"/>
                  </a:lnTo>
                  <a:lnTo>
                    <a:pt x="329" y="28"/>
                  </a:lnTo>
                  <a:lnTo>
                    <a:pt x="309" y="18"/>
                  </a:lnTo>
                  <a:lnTo>
                    <a:pt x="288" y="10"/>
                  </a:lnTo>
                  <a:lnTo>
                    <a:pt x="266" y="4"/>
                  </a:lnTo>
                  <a:lnTo>
                    <a:pt x="243" y="1"/>
                  </a:lnTo>
                  <a:lnTo>
                    <a:pt x="219" y="0"/>
                  </a:lnTo>
                  <a:lnTo>
                    <a:pt x="218" y="0"/>
                  </a:lnTo>
                  <a:close/>
                </a:path>
              </a:pathLst>
            </a:custGeom>
            <a:solidFill>
              <a:schemeClr val="tx1"/>
            </a:solidFill>
            <a:ln w="9525">
              <a:solidFill>
                <a:schemeClr val="tx1">
                  <a:lumMod val="85000"/>
                  <a:lumOff val="15000"/>
                </a:schemeClr>
              </a:solidFill>
              <a:round/>
              <a:headEnd/>
              <a:tailEnd/>
            </a:ln>
          </p:spPr>
          <p:txBody>
            <a:bodyPr vert="horz" wrap="square" lIns="91440" tIns="45720" rIns="91440" bIns="45720" numCol="1" anchor="t" anchorCtr="0" compatLnSpc="1">
              <a:prstTxWarp prst="textNoShape">
                <a:avLst/>
              </a:prstTxWarp>
            </a:bodyPr>
            <a:lstStyle/>
            <a:p>
              <a:endParaRPr lang="en-IN" sz="1400">
                <a:latin typeface="Times New Roman" panose="02020603050405020304" pitchFamily="18" charset="0"/>
                <a:cs typeface="Times New Roman" panose="02020603050405020304" pitchFamily="18" charset="0"/>
              </a:endParaRPr>
            </a:p>
          </p:txBody>
        </p:sp>
        <p:cxnSp>
          <p:nvCxnSpPr>
            <p:cNvPr id="87" name="Straight Arrow Connector 86"/>
            <p:cNvCxnSpPr>
              <a:stCxn id="72" idx="0"/>
              <a:endCxn id="83" idx="0"/>
            </p:cNvCxnSpPr>
            <p:nvPr/>
          </p:nvCxnSpPr>
          <p:spPr>
            <a:xfrm flipH="1">
              <a:off x="6635393" y="5916623"/>
              <a:ext cx="2" cy="182477"/>
            </a:xfrm>
            <a:prstGeom prst="straightConnector1">
              <a:avLst/>
            </a:prstGeom>
            <a:ln>
              <a:solidFill>
                <a:schemeClr val="tx1">
                  <a:lumMod val="85000"/>
                  <a:lumOff val="15000"/>
                </a:schemeClr>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448054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178271" y="138180"/>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16" name="TextBox 15"/>
          <p:cNvSpPr txBox="1"/>
          <p:nvPr/>
        </p:nvSpPr>
        <p:spPr>
          <a:xfrm>
            <a:off x="716575" y="167114"/>
            <a:ext cx="10890932" cy="707886"/>
          </a:xfrm>
          <a:prstGeom prst="rect">
            <a:avLst/>
          </a:prstGeom>
          <a:noFill/>
        </p:spPr>
        <p:txBody>
          <a:bodyPr wrap="square" rtlCol="0">
            <a:spAutoFit/>
          </a:bodyPr>
          <a:lstStyle/>
          <a:p>
            <a:pPr algn="ctr"/>
            <a:r>
              <a:rPr lang="en-US" sz="4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ER Diagram</a:t>
            </a:r>
            <a:endParaRPr lang="en-IN" sz="4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nvGrpSpPr>
          <p:cNvPr id="10" name="Group 9"/>
          <p:cNvGrpSpPr/>
          <p:nvPr/>
        </p:nvGrpSpPr>
        <p:grpSpPr>
          <a:xfrm>
            <a:off x="716575" y="903934"/>
            <a:ext cx="10478367" cy="5354097"/>
            <a:chOff x="716575" y="903934"/>
            <a:chExt cx="10478367" cy="5354097"/>
          </a:xfrm>
        </p:grpSpPr>
        <p:sp>
          <p:nvSpPr>
            <p:cNvPr id="18" name="Rounded Rectangle 17"/>
            <p:cNvSpPr/>
            <p:nvPr/>
          </p:nvSpPr>
          <p:spPr>
            <a:xfrm>
              <a:off x="1511811" y="5574999"/>
              <a:ext cx="862000" cy="641981"/>
            </a:xfrm>
            <a:prstGeom prst="roundRect">
              <a:avLst/>
            </a:prstGeom>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400" b="1" dirty="0">
                  <a:latin typeface="Times New Roman" panose="02020603050405020304" pitchFamily="18" charset="0"/>
                  <a:cs typeface="Times New Roman" panose="02020603050405020304" pitchFamily="18" charset="0"/>
                </a:rPr>
                <a:t>USER</a:t>
              </a:r>
            </a:p>
          </p:txBody>
        </p:sp>
        <p:sp>
          <p:nvSpPr>
            <p:cNvPr id="20" name="Rounded Rectangle 19"/>
            <p:cNvSpPr/>
            <p:nvPr/>
          </p:nvSpPr>
          <p:spPr>
            <a:xfrm>
              <a:off x="9149863" y="5574999"/>
              <a:ext cx="927387" cy="641981"/>
            </a:xfrm>
            <a:prstGeom prst="roundRect">
              <a:avLst/>
            </a:prstGeom>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400" b="1" dirty="0">
                  <a:latin typeface="Times New Roman" panose="02020603050405020304" pitchFamily="18" charset="0"/>
                  <a:cs typeface="Times New Roman" panose="02020603050405020304" pitchFamily="18" charset="0"/>
                </a:rPr>
                <a:t>Classification</a:t>
              </a:r>
            </a:p>
          </p:txBody>
        </p:sp>
        <p:sp>
          <p:nvSpPr>
            <p:cNvPr id="21" name="Rounded Rectangle 20"/>
            <p:cNvSpPr/>
            <p:nvPr/>
          </p:nvSpPr>
          <p:spPr>
            <a:xfrm>
              <a:off x="5152407" y="5574999"/>
              <a:ext cx="862000" cy="641981"/>
            </a:xfrm>
            <a:prstGeom prst="roundRect">
              <a:avLst/>
            </a:prstGeom>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100" b="1" dirty="0">
                  <a:latin typeface="Times New Roman" panose="02020603050405020304" pitchFamily="18" charset="0"/>
                  <a:cs typeface="Times New Roman" panose="02020603050405020304" pitchFamily="18" charset="0"/>
                </a:rPr>
                <a:t>Fake Product</a:t>
              </a:r>
            </a:p>
          </p:txBody>
        </p:sp>
        <p:sp>
          <p:nvSpPr>
            <p:cNvPr id="23" name="Oval 22"/>
            <p:cNvSpPr/>
            <p:nvPr/>
          </p:nvSpPr>
          <p:spPr>
            <a:xfrm>
              <a:off x="716575" y="1608438"/>
              <a:ext cx="1384973" cy="939756"/>
            </a:xfrm>
            <a:prstGeom prst="ellipse">
              <a:avLst/>
            </a:prstGeom>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latin typeface="Times New Roman" panose="02020603050405020304" pitchFamily="18" charset="0"/>
                  <a:cs typeface="Times New Roman" panose="02020603050405020304" pitchFamily="18" charset="0"/>
                </a:rPr>
                <a:t>Display data</a:t>
              </a:r>
            </a:p>
          </p:txBody>
        </p:sp>
        <p:sp>
          <p:nvSpPr>
            <p:cNvPr id="24" name="Oval 23"/>
            <p:cNvSpPr/>
            <p:nvPr/>
          </p:nvSpPr>
          <p:spPr>
            <a:xfrm>
              <a:off x="3002342" y="2650326"/>
              <a:ext cx="1196301" cy="962971"/>
            </a:xfrm>
            <a:prstGeom prst="ellipse">
              <a:avLst/>
            </a:prstGeom>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latin typeface="Times New Roman" panose="02020603050405020304" pitchFamily="18" charset="0"/>
                  <a:cs typeface="Times New Roman" panose="02020603050405020304" pitchFamily="18" charset="0"/>
                </a:rPr>
                <a:t>Read data</a:t>
              </a:r>
            </a:p>
          </p:txBody>
        </p:sp>
        <p:sp>
          <p:nvSpPr>
            <p:cNvPr id="26" name="Oval 25"/>
            <p:cNvSpPr/>
            <p:nvPr/>
          </p:nvSpPr>
          <p:spPr>
            <a:xfrm>
              <a:off x="2393958" y="1566981"/>
              <a:ext cx="1196301" cy="962971"/>
            </a:xfrm>
            <a:prstGeom prst="ellipse">
              <a:avLst/>
            </a:prstGeom>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latin typeface="Times New Roman" panose="02020603050405020304" pitchFamily="18" charset="0"/>
                  <a:cs typeface="Times New Roman" panose="02020603050405020304" pitchFamily="18" charset="0"/>
                </a:rPr>
                <a:t>Load data</a:t>
              </a:r>
            </a:p>
          </p:txBody>
        </p:sp>
        <p:sp>
          <p:nvSpPr>
            <p:cNvPr id="27" name="Oval 26"/>
            <p:cNvSpPr/>
            <p:nvPr/>
          </p:nvSpPr>
          <p:spPr>
            <a:xfrm>
              <a:off x="4064805" y="3782447"/>
              <a:ext cx="1196301" cy="962971"/>
            </a:xfrm>
            <a:prstGeom prst="ellipse">
              <a:avLst/>
            </a:prstGeom>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latin typeface="Times New Roman" panose="02020603050405020304" pitchFamily="18" charset="0"/>
                  <a:cs typeface="Times New Roman" panose="02020603050405020304" pitchFamily="18" charset="0"/>
                </a:rPr>
                <a:t>Streamlit UI</a:t>
              </a:r>
            </a:p>
          </p:txBody>
        </p:sp>
        <p:sp>
          <p:nvSpPr>
            <p:cNvPr id="28" name="Oval 27"/>
            <p:cNvSpPr/>
            <p:nvPr/>
          </p:nvSpPr>
          <p:spPr>
            <a:xfrm>
              <a:off x="6041317" y="3782446"/>
              <a:ext cx="1322716" cy="821948"/>
            </a:xfrm>
            <a:prstGeom prst="ellipse">
              <a:avLst/>
            </a:prstGeom>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r>
                <a:rPr lang="en-US" sz="1400" dirty="0">
                  <a:latin typeface="Times New Roman" panose="02020603050405020304" pitchFamily="18" charset="0"/>
                  <a:cs typeface="Times New Roman" panose="02020603050405020304" pitchFamily="18" charset="0"/>
                </a:rPr>
                <a:t>Prediction</a:t>
              </a:r>
            </a:p>
          </p:txBody>
        </p:sp>
        <p:sp>
          <p:nvSpPr>
            <p:cNvPr id="29" name="Oval 28"/>
            <p:cNvSpPr/>
            <p:nvPr/>
          </p:nvSpPr>
          <p:spPr>
            <a:xfrm>
              <a:off x="8036918" y="1957506"/>
              <a:ext cx="1384344" cy="962971"/>
            </a:xfrm>
            <a:prstGeom prst="ellipse">
              <a:avLst/>
            </a:prstGeom>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latin typeface="Times New Roman" panose="02020603050405020304" pitchFamily="18" charset="0"/>
                  <a:cs typeface="Times New Roman" panose="02020603050405020304" pitchFamily="18" charset="0"/>
                </a:rPr>
                <a:t>Accuracy and error rate</a:t>
              </a:r>
            </a:p>
          </p:txBody>
        </p:sp>
        <p:sp>
          <p:nvSpPr>
            <p:cNvPr id="30" name="Oval 29"/>
            <p:cNvSpPr/>
            <p:nvPr/>
          </p:nvSpPr>
          <p:spPr>
            <a:xfrm>
              <a:off x="5021802" y="903934"/>
              <a:ext cx="2501145" cy="962971"/>
            </a:xfrm>
            <a:prstGeom prst="ellipse">
              <a:avLst/>
            </a:prstGeom>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latin typeface="Times New Roman" panose="02020603050405020304" pitchFamily="18" charset="0"/>
                  <a:cs typeface="Times New Roman" panose="02020603050405020304" pitchFamily="18" charset="0"/>
                </a:rPr>
                <a:t>Text Preprocessing - NLP </a:t>
              </a:r>
            </a:p>
          </p:txBody>
        </p:sp>
        <p:sp>
          <p:nvSpPr>
            <p:cNvPr id="31" name="Oval 30"/>
            <p:cNvSpPr/>
            <p:nvPr/>
          </p:nvSpPr>
          <p:spPr>
            <a:xfrm>
              <a:off x="9876332" y="2142511"/>
              <a:ext cx="1196301" cy="962971"/>
            </a:xfrm>
            <a:prstGeom prst="ellipse">
              <a:avLst/>
            </a:prstGeom>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400" dirty="0">
                  <a:latin typeface="Times New Roman" panose="02020603050405020304" pitchFamily="18" charset="0"/>
                  <a:cs typeface="Times New Roman" panose="02020603050405020304" pitchFamily="18" charset="0"/>
                </a:rPr>
                <a:t>Accuracy and error rate</a:t>
              </a:r>
            </a:p>
            <a:p>
              <a:pPr algn="ctr"/>
              <a:endParaRPr lang="en-US" sz="1400" dirty="0">
                <a:latin typeface="Times New Roman" panose="02020603050405020304" pitchFamily="18" charset="0"/>
                <a:cs typeface="Times New Roman" panose="02020603050405020304" pitchFamily="18" charset="0"/>
              </a:endParaRPr>
            </a:p>
          </p:txBody>
        </p:sp>
        <p:cxnSp>
          <p:nvCxnSpPr>
            <p:cNvPr id="33" name="Straight Arrow Connector 32"/>
            <p:cNvCxnSpPr>
              <a:stCxn id="60" idx="0"/>
              <a:endCxn id="23" idx="4"/>
            </p:cNvCxnSpPr>
            <p:nvPr/>
          </p:nvCxnSpPr>
          <p:spPr>
            <a:xfrm flipH="1" flipV="1">
              <a:off x="1409062" y="2548194"/>
              <a:ext cx="521564" cy="1662427"/>
            </a:xfrm>
            <a:prstGeom prst="straightConnector1">
              <a:avLst/>
            </a:prstGeom>
            <a:ln>
              <a:solidFill>
                <a:schemeClr val="accent1"/>
              </a:solidFill>
              <a:tailEnd type="triangle"/>
            </a:ln>
          </p:spPr>
          <p:style>
            <a:lnRef idx="1">
              <a:schemeClr val="dk1"/>
            </a:lnRef>
            <a:fillRef idx="0">
              <a:schemeClr val="dk1"/>
            </a:fillRef>
            <a:effectRef idx="0">
              <a:schemeClr val="dk1"/>
            </a:effectRef>
            <a:fontRef idx="minor">
              <a:schemeClr val="tx1"/>
            </a:fontRef>
          </p:style>
        </p:cxnSp>
        <p:cxnSp>
          <p:nvCxnSpPr>
            <p:cNvPr id="35" name="Straight Arrow Connector 34"/>
            <p:cNvCxnSpPr>
              <a:stCxn id="60" idx="0"/>
              <a:endCxn id="26" idx="4"/>
            </p:cNvCxnSpPr>
            <p:nvPr/>
          </p:nvCxnSpPr>
          <p:spPr>
            <a:xfrm flipV="1">
              <a:off x="1930625" y="2529953"/>
              <a:ext cx="1061484" cy="1680668"/>
            </a:xfrm>
            <a:prstGeom prst="straightConnector1">
              <a:avLst/>
            </a:prstGeom>
            <a:ln>
              <a:solidFill>
                <a:schemeClr val="accent1"/>
              </a:solidFill>
              <a:tailEnd type="triangle"/>
            </a:ln>
          </p:spPr>
          <p:style>
            <a:lnRef idx="1">
              <a:schemeClr val="dk1"/>
            </a:lnRef>
            <a:fillRef idx="0">
              <a:schemeClr val="dk1"/>
            </a:fillRef>
            <a:effectRef idx="0">
              <a:schemeClr val="dk1"/>
            </a:effectRef>
            <a:fontRef idx="minor">
              <a:schemeClr val="tx1"/>
            </a:fontRef>
          </p:style>
        </p:cxnSp>
        <p:cxnSp>
          <p:nvCxnSpPr>
            <p:cNvPr id="36" name="Straight Arrow Connector 35"/>
            <p:cNvCxnSpPr>
              <a:stCxn id="60" idx="0"/>
              <a:endCxn id="24" idx="4"/>
            </p:cNvCxnSpPr>
            <p:nvPr/>
          </p:nvCxnSpPr>
          <p:spPr>
            <a:xfrm flipV="1">
              <a:off x="1930625" y="3613297"/>
              <a:ext cx="1669868" cy="597323"/>
            </a:xfrm>
            <a:prstGeom prst="straightConnector1">
              <a:avLst/>
            </a:prstGeom>
            <a:ln>
              <a:solidFill>
                <a:schemeClr val="accent1"/>
              </a:solidFill>
              <a:tailEnd type="triangle"/>
            </a:ln>
          </p:spPr>
          <p:style>
            <a:lnRef idx="1">
              <a:schemeClr val="dk1"/>
            </a:lnRef>
            <a:fillRef idx="0">
              <a:schemeClr val="dk1"/>
            </a:fillRef>
            <a:effectRef idx="0">
              <a:schemeClr val="dk1"/>
            </a:effectRef>
            <a:fontRef idx="minor">
              <a:schemeClr val="tx1"/>
            </a:fontRef>
          </p:style>
        </p:cxnSp>
        <p:cxnSp>
          <p:nvCxnSpPr>
            <p:cNvPr id="37" name="Straight Arrow Connector 36"/>
            <p:cNvCxnSpPr>
              <a:stCxn id="18" idx="0"/>
              <a:endCxn id="27" idx="3"/>
            </p:cNvCxnSpPr>
            <p:nvPr/>
          </p:nvCxnSpPr>
          <p:spPr>
            <a:xfrm flipV="1">
              <a:off x="1942812" y="4604394"/>
              <a:ext cx="2297188" cy="970605"/>
            </a:xfrm>
            <a:prstGeom prst="straightConnector1">
              <a:avLst/>
            </a:prstGeom>
            <a:ln>
              <a:solidFill>
                <a:schemeClr val="accent1"/>
              </a:solidFill>
              <a:tailEnd type="triangle"/>
            </a:ln>
          </p:spPr>
          <p:style>
            <a:lnRef idx="1">
              <a:schemeClr val="dk1"/>
            </a:lnRef>
            <a:fillRef idx="0">
              <a:schemeClr val="dk1"/>
            </a:fillRef>
            <a:effectRef idx="0">
              <a:schemeClr val="dk1"/>
            </a:effectRef>
            <a:fontRef idx="minor">
              <a:schemeClr val="tx1"/>
            </a:fontRef>
          </p:style>
        </p:cxnSp>
        <p:cxnSp>
          <p:nvCxnSpPr>
            <p:cNvPr id="38" name="Straight Arrow Connector 37"/>
            <p:cNvCxnSpPr>
              <a:stCxn id="21" idx="0"/>
              <a:endCxn id="27" idx="4"/>
            </p:cNvCxnSpPr>
            <p:nvPr/>
          </p:nvCxnSpPr>
          <p:spPr>
            <a:xfrm flipH="1" flipV="1">
              <a:off x="4662956" y="4745419"/>
              <a:ext cx="920452" cy="829580"/>
            </a:xfrm>
            <a:prstGeom prst="straightConnector1">
              <a:avLst/>
            </a:prstGeom>
            <a:ln>
              <a:solidFill>
                <a:schemeClr val="accent1"/>
              </a:solidFill>
              <a:tailEnd type="triangle"/>
            </a:ln>
          </p:spPr>
          <p:style>
            <a:lnRef idx="1">
              <a:schemeClr val="dk1"/>
            </a:lnRef>
            <a:fillRef idx="0">
              <a:schemeClr val="dk1"/>
            </a:fillRef>
            <a:effectRef idx="0">
              <a:schemeClr val="dk1"/>
            </a:effectRef>
            <a:fontRef idx="minor">
              <a:schemeClr val="tx1"/>
            </a:fontRef>
          </p:style>
        </p:cxnSp>
        <p:cxnSp>
          <p:nvCxnSpPr>
            <p:cNvPr id="39" name="Straight Arrow Connector 38"/>
            <p:cNvCxnSpPr>
              <a:stCxn id="18" idx="0"/>
              <a:endCxn id="30" idx="4"/>
            </p:cNvCxnSpPr>
            <p:nvPr/>
          </p:nvCxnSpPr>
          <p:spPr>
            <a:xfrm flipV="1">
              <a:off x="1942812" y="1866905"/>
              <a:ext cx="4329564" cy="3708094"/>
            </a:xfrm>
            <a:prstGeom prst="straightConnector1">
              <a:avLst/>
            </a:prstGeom>
            <a:ln>
              <a:solidFill>
                <a:schemeClr val="accent1"/>
              </a:solidFill>
              <a:tailEnd type="triangle"/>
            </a:ln>
          </p:spPr>
          <p:style>
            <a:lnRef idx="1">
              <a:schemeClr val="dk1"/>
            </a:lnRef>
            <a:fillRef idx="0">
              <a:schemeClr val="dk1"/>
            </a:fillRef>
            <a:effectRef idx="0">
              <a:schemeClr val="dk1"/>
            </a:effectRef>
            <a:fontRef idx="minor">
              <a:schemeClr val="tx1"/>
            </a:fontRef>
          </p:style>
        </p:cxnSp>
        <p:cxnSp>
          <p:nvCxnSpPr>
            <p:cNvPr id="40" name="Straight Arrow Connector 39"/>
            <p:cNvCxnSpPr>
              <a:stCxn id="21" idx="0"/>
              <a:endCxn id="28" idx="4"/>
            </p:cNvCxnSpPr>
            <p:nvPr/>
          </p:nvCxnSpPr>
          <p:spPr>
            <a:xfrm flipV="1">
              <a:off x="5583407" y="4604394"/>
              <a:ext cx="1119268" cy="970605"/>
            </a:xfrm>
            <a:prstGeom prst="straightConnector1">
              <a:avLst/>
            </a:prstGeom>
            <a:ln>
              <a:solidFill>
                <a:schemeClr val="accent1"/>
              </a:solidFill>
              <a:tailEnd type="triangle"/>
            </a:ln>
          </p:spPr>
          <p:style>
            <a:lnRef idx="1">
              <a:schemeClr val="dk1"/>
            </a:lnRef>
            <a:fillRef idx="0">
              <a:schemeClr val="dk1"/>
            </a:fillRef>
            <a:effectRef idx="0">
              <a:schemeClr val="dk1"/>
            </a:effectRef>
            <a:fontRef idx="minor">
              <a:schemeClr val="tx1"/>
            </a:fontRef>
          </p:style>
        </p:cxnSp>
        <p:cxnSp>
          <p:nvCxnSpPr>
            <p:cNvPr id="41" name="Straight Arrow Connector 40"/>
            <p:cNvCxnSpPr>
              <a:stCxn id="20" idx="0"/>
              <a:endCxn id="67" idx="2"/>
            </p:cNvCxnSpPr>
            <p:nvPr/>
          </p:nvCxnSpPr>
          <p:spPr>
            <a:xfrm flipV="1">
              <a:off x="9613557" y="4120537"/>
              <a:ext cx="911887" cy="1454462"/>
            </a:xfrm>
            <a:prstGeom prst="straightConnector1">
              <a:avLst/>
            </a:prstGeom>
            <a:ln>
              <a:solidFill>
                <a:schemeClr val="accent1"/>
              </a:solidFill>
              <a:tailEnd type="triangle"/>
            </a:ln>
          </p:spPr>
          <p:style>
            <a:lnRef idx="1">
              <a:schemeClr val="dk1"/>
            </a:lnRef>
            <a:fillRef idx="0">
              <a:schemeClr val="dk1"/>
            </a:fillRef>
            <a:effectRef idx="0">
              <a:schemeClr val="dk1"/>
            </a:effectRef>
            <a:fontRef idx="minor">
              <a:schemeClr val="tx1"/>
            </a:fontRef>
          </p:style>
        </p:cxnSp>
        <p:cxnSp>
          <p:nvCxnSpPr>
            <p:cNvPr id="45" name="Straight Arrow Connector 44"/>
            <p:cNvCxnSpPr>
              <a:stCxn id="20" idx="0"/>
              <a:endCxn id="30" idx="4"/>
            </p:cNvCxnSpPr>
            <p:nvPr/>
          </p:nvCxnSpPr>
          <p:spPr>
            <a:xfrm flipH="1" flipV="1">
              <a:off x="6272375" y="1866905"/>
              <a:ext cx="3341181" cy="3708094"/>
            </a:xfrm>
            <a:prstGeom prst="straightConnector1">
              <a:avLst/>
            </a:prstGeom>
            <a:ln>
              <a:solidFill>
                <a:schemeClr val="accent1"/>
              </a:solidFill>
              <a:tailEnd type="triangle"/>
            </a:ln>
          </p:spPr>
          <p:style>
            <a:lnRef idx="1">
              <a:schemeClr val="dk1"/>
            </a:lnRef>
            <a:fillRef idx="0">
              <a:schemeClr val="dk1"/>
            </a:fillRef>
            <a:effectRef idx="0">
              <a:schemeClr val="dk1"/>
            </a:effectRef>
            <a:fontRef idx="minor">
              <a:schemeClr val="tx1"/>
            </a:fontRef>
          </p:style>
        </p:cxnSp>
        <p:sp>
          <p:nvSpPr>
            <p:cNvPr id="46" name="Flowchart: Decision 45"/>
            <p:cNvSpPr/>
            <p:nvPr/>
          </p:nvSpPr>
          <p:spPr>
            <a:xfrm>
              <a:off x="3044174" y="5529676"/>
              <a:ext cx="1338996" cy="724083"/>
            </a:xfrm>
            <a:prstGeom prst="flowChartDecision">
              <a:avLst/>
            </a:prstGeom>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latin typeface="Times New Roman" panose="02020603050405020304" pitchFamily="18" charset="0"/>
                  <a:cs typeface="Times New Roman" panose="02020603050405020304" pitchFamily="18" charset="0"/>
                </a:rPr>
                <a:t>Prediction</a:t>
              </a:r>
              <a:endParaRPr lang="en-IN" sz="1200" dirty="0"/>
            </a:p>
          </p:txBody>
        </p:sp>
        <p:sp>
          <p:nvSpPr>
            <p:cNvPr id="47" name="Flowchart: Decision 46"/>
            <p:cNvSpPr/>
            <p:nvPr/>
          </p:nvSpPr>
          <p:spPr>
            <a:xfrm>
              <a:off x="6819535" y="5533948"/>
              <a:ext cx="1432098" cy="724083"/>
            </a:xfrm>
            <a:prstGeom prst="flowChartDecision">
              <a:avLst/>
            </a:prstGeom>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IN" sz="1200" dirty="0">
                  <a:latin typeface="Times New Roman" panose="02020603050405020304" pitchFamily="18" charset="0"/>
                  <a:cs typeface="Times New Roman" panose="02020603050405020304" pitchFamily="18" charset="0"/>
                </a:rPr>
                <a:t>Delete reviews</a:t>
              </a:r>
              <a:endParaRPr lang="en-IN" dirty="0">
                <a:latin typeface="Times New Roman" panose="02020603050405020304" pitchFamily="18" charset="0"/>
                <a:cs typeface="Times New Roman" panose="02020603050405020304" pitchFamily="18" charset="0"/>
              </a:endParaRPr>
            </a:p>
          </p:txBody>
        </p:sp>
        <p:cxnSp>
          <p:nvCxnSpPr>
            <p:cNvPr id="48" name="Straight Arrow Connector 47"/>
            <p:cNvCxnSpPr>
              <a:stCxn id="18" idx="3"/>
              <a:endCxn id="46" idx="1"/>
            </p:cNvCxnSpPr>
            <p:nvPr/>
          </p:nvCxnSpPr>
          <p:spPr>
            <a:xfrm flipV="1">
              <a:off x="2373811" y="5891718"/>
              <a:ext cx="670363" cy="4272"/>
            </a:xfrm>
            <a:prstGeom prst="straightConnector1">
              <a:avLst/>
            </a:prstGeom>
            <a:ln>
              <a:solidFill>
                <a:schemeClr val="accent1"/>
              </a:solidFill>
              <a:tailEnd type="triangle"/>
            </a:ln>
          </p:spPr>
          <p:style>
            <a:lnRef idx="1">
              <a:schemeClr val="dk1"/>
            </a:lnRef>
            <a:fillRef idx="0">
              <a:schemeClr val="dk1"/>
            </a:fillRef>
            <a:effectRef idx="0">
              <a:schemeClr val="dk1"/>
            </a:effectRef>
            <a:fontRef idx="minor">
              <a:schemeClr val="tx1"/>
            </a:fontRef>
          </p:style>
        </p:cxnSp>
        <p:cxnSp>
          <p:nvCxnSpPr>
            <p:cNvPr id="49" name="Straight Arrow Connector 48"/>
            <p:cNvCxnSpPr>
              <a:stCxn id="21" idx="3"/>
              <a:endCxn id="47" idx="1"/>
            </p:cNvCxnSpPr>
            <p:nvPr/>
          </p:nvCxnSpPr>
          <p:spPr>
            <a:xfrm>
              <a:off x="6014407" y="5895990"/>
              <a:ext cx="805128" cy="0"/>
            </a:xfrm>
            <a:prstGeom prst="straightConnector1">
              <a:avLst/>
            </a:prstGeom>
            <a:ln>
              <a:solidFill>
                <a:schemeClr val="accent1"/>
              </a:solidFill>
              <a:tailEnd type="triangle"/>
            </a:ln>
          </p:spPr>
          <p:style>
            <a:lnRef idx="1">
              <a:schemeClr val="dk1"/>
            </a:lnRef>
            <a:fillRef idx="0">
              <a:schemeClr val="dk1"/>
            </a:fillRef>
            <a:effectRef idx="0">
              <a:schemeClr val="dk1"/>
            </a:effectRef>
            <a:fontRef idx="minor">
              <a:schemeClr val="tx1"/>
            </a:fontRef>
          </p:style>
        </p:cxnSp>
        <p:cxnSp>
          <p:nvCxnSpPr>
            <p:cNvPr id="50" name="Straight Arrow Connector 49"/>
            <p:cNvCxnSpPr>
              <a:stCxn id="21" idx="1"/>
              <a:endCxn id="46" idx="3"/>
            </p:cNvCxnSpPr>
            <p:nvPr/>
          </p:nvCxnSpPr>
          <p:spPr>
            <a:xfrm flipH="1" flipV="1">
              <a:off x="4383170" y="5891718"/>
              <a:ext cx="769237" cy="4272"/>
            </a:xfrm>
            <a:prstGeom prst="straightConnector1">
              <a:avLst/>
            </a:prstGeom>
            <a:ln>
              <a:solidFill>
                <a:schemeClr val="accent1"/>
              </a:solidFill>
              <a:tailEnd type="triangle"/>
            </a:ln>
          </p:spPr>
          <p:style>
            <a:lnRef idx="1">
              <a:schemeClr val="dk1"/>
            </a:lnRef>
            <a:fillRef idx="0">
              <a:schemeClr val="dk1"/>
            </a:fillRef>
            <a:effectRef idx="0">
              <a:schemeClr val="dk1"/>
            </a:effectRef>
            <a:fontRef idx="minor">
              <a:schemeClr val="tx1"/>
            </a:fontRef>
          </p:style>
        </p:cxnSp>
        <p:cxnSp>
          <p:nvCxnSpPr>
            <p:cNvPr id="51" name="Straight Connector 50"/>
            <p:cNvCxnSpPr/>
            <p:nvPr/>
          </p:nvCxnSpPr>
          <p:spPr>
            <a:xfrm flipH="1">
              <a:off x="5053532" y="5763907"/>
              <a:ext cx="98874" cy="129034"/>
            </a:xfrm>
            <a:prstGeom prst="line">
              <a:avLst/>
            </a:prstGeom>
            <a:ln>
              <a:solidFill>
                <a:schemeClr val="accent1"/>
              </a:solidFill>
            </a:ln>
          </p:spPr>
          <p:style>
            <a:lnRef idx="1">
              <a:schemeClr val="dk1"/>
            </a:lnRef>
            <a:fillRef idx="0">
              <a:schemeClr val="dk1"/>
            </a:fillRef>
            <a:effectRef idx="0">
              <a:schemeClr val="dk1"/>
            </a:effectRef>
            <a:fontRef idx="minor">
              <a:schemeClr val="tx1"/>
            </a:fontRef>
          </p:style>
        </p:cxnSp>
        <p:cxnSp>
          <p:nvCxnSpPr>
            <p:cNvPr id="52" name="Straight Connector 51"/>
            <p:cNvCxnSpPr/>
            <p:nvPr/>
          </p:nvCxnSpPr>
          <p:spPr>
            <a:xfrm flipH="1" flipV="1">
              <a:off x="5053532" y="5892942"/>
              <a:ext cx="98874" cy="138725"/>
            </a:xfrm>
            <a:prstGeom prst="line">
              <a:avLst/>
            </a:prstGeom>
            <a:ln>
              <a:solidFill>
                <a:schemeClr val="accent1"/>
              </a:solidFill>
            </a:ln>
          </p:spPr>
          <p:style>
            <a:lnRef idx="1">
              <a:schemeClr val="dk1"/>
            </a:lnRef>
            <a:fillRef idx="0">
              <a:schemeClr val="dk1"/>
            </a:fillRef>
            <a:effectRef idx="0">
              <a:schemeClr val="dk1"/>
            </a:effectRef>
            <a:fontRef idx="minor">
              <a:schemeClr val="tx1"/>
            </a:fontRef>
          </p:style>
        </p:cxnSp>
        <p:cxnSp>
          <p:nvCxnSpPr>
            <p:cNvPr id="54" name="Straight Arrow Connector 53"/>
            <p:cNvCxnSpPr>
              <a:stCxn id="20" idx="1"/>
              <a:endCxn id="47" idx="3"/>
            </p:cNvCxnSpPr>
            <p:nvPr/>
          </p:nvCxnSpPr>
          <p:spPr>
            <a:xfrm flipH="1">
              <a:off x="8251633" y="5895990"/>
              <a:ext cx="898230" cy="0"/>
            </a:xfrm>
            <a:prstGeom prst="straightConnector1">
              <a:avLst/>
            </a:prstGeom>
            <a:ln>
              <a:solidFill>
                <a:schemeClr val="accent1"/>
              </a:solidFill>
              <a:tailEnd type="triangle"/>
            </a:ln>
          </p:spPr>
          <p:style>
            <a:lnRef idx="1">
              <a:schemeClr val="dk1"/>
            </a:lnRef>
            <a:fillRef idx="0">
              <a:schemeClr val="dk1"/>
            </a:fillRef>
            <a:effectRef idx="0">
              <a:schemeClr val="dk1"/>
            </a:effectRef>
            <a:fontRef idx="minor">
              <a:schemeClr val="tx1"/>
            </a:fontRef>
          </p:style>
        </p:cxnSp>
        <p:cxnSp>
          <p:nvCxnSpPr>
            <p:cNvPr id="55" name="Straight Connector 54"/>
            <p:cNvCxnSpPr/>
            <p:nvPr/>
          </p:nvCxnSpPr>
          <p:spPr>
            <a:xfrm flipH="1">
              <a:off x="9042850" y="5763907"/>
              <a:ext cx="98874" cy="129034"/>
            </a:xfrm>
            <a:prstGeom prst="line">
              <a:avLst/>
            </a:prstGeom>
            <a:ln>
              <a:solidFill>
                <a:schemeClr val="accent1"/>
              </a:solidFill>
            </a:ln>
          </p:spPr>
          <p:style>
            <a:lnRef idx="1">
              <a:schemeClr val="dk1"/>
            </a:lnRef>
            <a:fillRef idx="0">
              <a:schemeClr val="dk1"/>
            </a:fillRef>
            <a:effectRef idx="0">
              <a:schemeClr val="dk1"/>
            </a:effectRef>
            <a:fontRef idx="minor">
              <a:schemeClr val="tx1"/>
            </a:fontRef>
          </p:style>
        </p:cxnSp>
        <p:cxnSp>
          <p:nvCxnSpPr>
            <p:cNvPr id="56" name="Straight Connector 55"/>
            <p:cNvCxnSpPr/>
            <p:nvPr/>
          </p:nvCxnSpPr>
          <p:spPr>
            <a:xfrm flipH="1" flipV="1">
              <a:off x="9042850" y="5892942"/>
              <a:ext cx="98874" cy="138725"/>
            </a:xfrm>
            <a:prstGeom prst="line">
              <a:avLst/>
            </a:prstGeom>
            <a:ln>
              <a:solidFill>
                <a:schemeClr val="accent1"/>
              </a:solidFill>
            </a:ln>
          </p:spPr>
          <p:style>
            <a:lnRef idx="1">
              <a:schemeClr val="dk1"/>
            </a:lnRef>
            <a:fillRef idx="0">
              <a:schemeClr val="dk1"/>
            </a:fillRef>
            <a:effectRef idx="0">
              <a:schemeClr val="dk1"/>
            </a:effectRef>
            <a:fontRef idx="minor">
              <a:schemeClr val="tx1"/>
            </a:fontRef>
          </p:style>
        </p:cxnSp>
        <p:cxnSp>
          <p:nvCxnSpPr>
            <p:cNvPr id="57" name="Straight Connector 56"/>
            <p:cNvCxnSpPr/>
            <p:nvPr/>
          </p:nvCxnSpPr>
          <p:spPr>
            <a:xfrm>
              <a:off x="2444382" y="5763907"/>
              <a:ext cx="8864" cy="267760"/>
            </a:xfrm>
            <a:prstGeom prst="line">
              <a:avLst/>
            </a:prstGeom>
            <a:ln>
              <a:solidFill>
                <a:schemeClr val="accent1"/>
              </a:solidFill>
            </a:ln>
          </p:spPr>
          <p:style>
            <a:lnRef idx="1">
              <a:schemeClr val="dk1"/>
            </a:lnRef>
            <a:fillRef idx="0">
              <a:schemeClr val="dk1"/>
            </a:fillRef>
            <a:effectRef idx="0">
              <a:schemeClr val="dk1"/>
            </a:effectRef>
            <a:fontRef idx="minor">
              <a:schemeClr val="tx1"/>
            </a:fontRef>
          </p:style>
        </p:cxnSp>
        <p:cxnSp>
          <p:nvCxnSpPr>
            <p:cNvPr id="58" name="Straight Connector 57"/>
            <p:cNvCxnSpPr/>
            <p:nvPr/>
          </p:nvCxnSpPr>
          <p:spPr>
            <a:xfrm flipH="1" flipV="1">
              <a:off x="6023820" y="5749369"/>
              <a:ext cx="98874" cy="138725"/>
            </a:xfrm>
            <a:prstGeom prst="line">
              <a:avLst/>
            </a:prstGeom>
            <a:ln>
              <a:solidFill>
                <a:schemeClr val="accent1"/>
              </a:solidFill>
            </a:ln>
          </p:spPr>
          <p:style>
            <a:lnRef idx="1">
              <a:schemeClr val="dk1"/>
            </a:lnRef>
            <a:fillRef idx="0">
              <a:schemeClr val="dk1"/>
            </a:fillRef>
            <a:effectRef idx="0">
              <a:schemeClr val="dk1"/>
            </a:effectRef>
            <a:fontRef idx="minor">
              <a:schemeClr val="tx1"/>
            </a:fontRef>
          </p:style>
        </p:cxnSp>
        <p:cxnSp>
          <p:nvCxnSpPr>
            <p:cNvPr id="59" name="Straight Connector 58"/>
            <p:cNvCxnSpPr/>
            <p:nvPr/>
          </p:nvCxnSpPr>
          <p:spPr>
            <a:xfrm flipH="1">
              <a:off x="6022546" y="5888093"/>
              <a:ext cx="98873" cy="137626"/>
            </a:xfrm>
            <a:prstGeom prst="line">
              <a:avLst/>
            </a:prstGeom>
            <a:ln>
              <a:solidFill>
                <a:schemeClr val="accent1"/>
              </a:solidFill>
            </a:ln>
          </p:spPr>
          <p:style>
            <a:lnRef idx="1">
              <a:schemeClr val="dk1"/>
            </a:lnRef>
            <a:fillRef idx="0">
              <a:schemeClr val="dk1"/>
            </a:fillRef>
            <a:effectRef idx="0">
              <a:schemeClr val="dk1"/>
            </a:effectRef>
            <a:fontRef idx="minor">
              <a:schemeClr val="tx1"/>
            </a:fontRef>
          </p:style>
        </p:cxnSp>
        <p:sp>
          <p:nvSpPr>
            <p:cNvPr id="60" name="Flowchart: Decision 59"/>
            <p:cNvSpPr/>
            <p:nvPr/>
          </p:nvSpPr>
          <p:spPr>
            <a:xfrm>
              <a:off x="1261128" y="4210620"/>
              <a:ext cx="1338996" cy="724083"/>
            </a:xfrm>
            <a:prstGeom prst="flowChartDecision">
              <a:avLst/>
            </a:prstGeom>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latin typeface="Times New Roman" panose="02020603050405020304" pitchFamily="18" charset="0"/>
                  <a:cs typeface="Times New Roman" panose="02020603050405020304" pitchFamily="18" charset="0"/>
                </a:rPr>
                <a:t>Upload input</a:t>
              </a:r>
              <a:endParaRPr lang="en-IN" sz="1200" dirty="0"/>
            </a:p>
          </p:txBody>
        </p:sp>
        <p:sp>
          <p:nvSpPr>
            <p:cNvPr id="61" name="Flowchart: Decision 60"/>
            <p:cNvSpPr/>
            <p:nvPr/>
          </p:nvSpPr>
          <p:spPr>
            <a:xfrm>
              <a:off x="5483332" y="4707129"/>
              <a:ext cx="2046959" cy="724083"/>
            </a:xfrm>
            <a:prstGeom prst="flowChartDecision">
              <a:avLst/>
            </a:prstGeom>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000" dirty="0">
                  <a:latin typeface="Times New Roman" panose="02020603050405020304" pitchFamily="18" charset="0"/>
                  <a:cs typeface="Times New Roman" panose="02020603050405020304" pitchFamily="18" charset="0"/>
                </a:rPr>
                <a:t>Fake or real</a:t>
              </a:r>
              <a:endParaRPr lang="en-IN" sz="1000" dirty="0"/>
            </a:p>
          </p:txBody>
        </p:sp>
        <p:sp>
          <p:nvSpPr>
            <p:cNvPr id="62" name="Flowchart: Decision 61"/>
            <p:cNvSpPr/>
            <p:nvPr/>
          </p:nvSpPr>
          <p:spPr>
            <a:xfrm>
              <a:off x="8224960" y="3452803"/>
              <a:ext cx="1338996" cy="724083"/>
            </a:xfrm>
            <a:prstGeom prst="flowChartDecision">
              <a:avLst/>
            </a:prstGeom>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latin typeface="Times New Roman" panose="02020603050405020304" pitchFamily="18" charset="0"/>
                  <a:cs typeface="Times New Roman" panose="02020603050405020304" pitchFamily="18" charset="0"/>
                </a:rPr>
                <a:t>LR</a:t>
              </a:r>
              <a:endParaRPr lang="en-IN" sz="1200" dirty="0"/>
            </a:p>
          </p:txBody>
        </p:sp>
        <p:cxnSp>
          <p:nvCxnSpPr>
            <p:cNvPr id="63" name="Straight Arrow Connector 62"/>
            <p:cNvCxnSpPr>
              <a:stCxn id="20" idx="0"/>
              <a:endCxn id="62" idx="2"/>
            </p:cNvCxnSpPr>
            <p:nvPr/>
          </p:nvCxnSpPr>
          <p:spPr>
            <a:xfrm flipH="1" flipV="1">
              <a:off x="8894458" y="4176886"/>
              <a:ext cx="719099" cy="1398113"/>
            </a:xfrm>
            <a:prstGeom prst="straightConnector1">
              <a:avLst/>
            </a:prstGeom>
            <a:ln>
              <a:solidFill>
                <a:schemeClr val="accent1"/>
              </a:solidFill>
              <a:tailEnd type="triangle"/>
            </a:ln>
          </p:spPr>
          <p:style>
            <a:lnRef idx="1">
              <a:schemeClr val="dk1"/>
            </a:lnRef>
            <a:fillRef idx="0">
              <a:schemeClr val="dk1"/>
            </a:fillRef>
            <a:effectRef idx="0">
              <a:schemeClr val="dk1"/>
            </a:effectRef>
            <a:fontRef idx="minor">
              <a:schemeClr val="tx1"/>
            </a:fontRef>
          </p:style>
        </p:cxnSp>
        <p:cxnSp>
          <p:nvCxnSpPr>
            <p:cNvPr id="64" name="Straight Arrow Connector 63"/>
            <p:cNvCxnSpPr>
              <a:stCxn id="62" idx="0"/>
              <a:endCxn id="29" idx="4"/>
            </p:cNvCxnSpPr>
            <p:nvPr/>
          </p:nvCxnSpPr>
          <p:spPr>
            <a:xfrm flipH="1" flipV="1">
              <a:off x="8729090" y="2920477"/>
              <a:ext cx="165368" cy="532326"/>
            </a:xfrm>
            <a:prstGeom prst="straightConnector1">
              <a:avLst/>
            </a:prstGeom>
            <a:ln>
              <a:solidFill>
                <a:schemeClr val="accent1"/>
              </a:solidFill>
              <a:tailEnd type="triangle"/>
            </a:ln>
          </p:spPr>
          <p:style>
            <a:lnRef idx="1">
              <a:schemeClr val="dk1"/>
            </a:lnRef>
            <a:fillRef idx="0">
              <a:schemeClr val="dk1"/>
            </a:fillRef>
            <a:effectRef idx="0">
              <a:schemeClr val="dk1"/>
            </a:effectRef>
            <a:fontRef idx="minor">
              <a:schemeClr val="tx1"/>
            </a:fontRef>
          </p:style>
        </p:cxnSp>
        <p:cxnSp>
          <p:nvCxnSpPr>
            <p:cNvPr id="65" name="Straight Connector 64"/>
            <p:cNvCxnSpPr/>
            <p:nvPr/>
          </p:nvCxnSpPr>
          <p:spPr>
            <a:xfrm>
              <a:off x="8718815" y="2919502"/>
              <a:ext cx="132660" cy="215358"/>
            </a:xfrm>
            <a:prstGeom prst="line">
              <a:avLst/>
            </a:prstGeom>
            <a:ln>
              <a:solidFill>
                <a:schemeClr val="accent1"/>
              </a:solidFill>
            </a:ln>
          </p:spPr>
          <p:style>
            <a:lnRef idx="1">
              <a:schemeClr val="dk1"/>
            </a:lnRef>
            <a:fillRef idx="0">
              <a:schemeClr val="dk1"/>
            </a:fillRef>
            <a:effectRef idx="0">
              <a:schemeClr val="dk1"/>
            </a:effectRef>
            <a:fontRef idx="minor">
              <a:schemeClr val="tx1"/>
            </a:fontRef>
          </p:style>
        </p:cxnSp>
        <p:cxnSp>
          <p:nvCxnSpPr>
            <p:cNvPr id="66" name="Straight Connector 65"/>
            <p:cNvCxnSpPr/>
            <p:nvPr/>
          </p:nvCxnSpPr>
          <p:spPr>
            <a:xfrm flipH="1">
              <a:off x="8851476" y="2908335"/>
              <a:ext cx="88793" cy="223477"/>
            </a:xfrm>
            <a:prstGeom prst="line">
              <a:avLst/>
            </a:prstGeom>
            <a:ln>
              <a:solidFill>
                <a:schemeClr val="accent1"/>
              </a:solidFill>
            </a:ln>
          </p:spPr>
          <p:style>
            <a:lnRef idx="1">
              <a:schemeClr val="dk1"/>
            </a:lnRef>
            <a:fillRef idx="0">
              <a:schemeClr val="dk1"/>
            </a:fillRef>
            <a:effectRef idx="0">
              <a:schemeClr val="dk1"/>
            </a:effectRef>
            <a:fontRef idx="minor">
              <a:schemeClr val="tx1"/>
            </a:fontRef>
          </p:style>
        </p:cxnSp>
        <p:sp>
          <p:nvSpPr>
            <p:cNvPr id="67" name="Flowchart: Decision 66"/>
            <p:cNvSpPr/>
            <p:nvPr/>
          </p:nvSpPr>
          <p:spPr>
            <a:xfrm>
              <a:off x="9855946" y="3396454"/>
              <a:ext cx="1338996" cy="724083"/>
            </a:xfrm>
            <a:prstGeom prst="flowChartDecision">
              <a:avLst/>
            </a:prstGeom>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latin typeface="Times New Roman" panose="02020603050405020304" pitchFamily="18" charset="0"/>
                  <a:cs typeface="Times New Roman" panose="02020603050405020304" pitchFamily="18" charset="0"/>
                </a:rPr>
                <a:t>Hybrid DT + RF</a:t>
              </a:r>
              <a:endParaRPr lang="en-IN" sz="1200" dirty="0"/>
            </a:p>
          </p:txBody>
        </p:sp>
        <p:cxnSp>
          <p:nvCxnSpPr>
            <p:cNvPr id="68" name="Straight Arrow Connector 67"/>
            <p:cNvCxnSpPr>
              <a:stCxn id="67" idx="0"/>
              <a:endCxn id="31" idx="4"/>
            </p:cNvCxnSpPr>
            <p:nvPr/>
          </p:nvCxnSpPr>
          <p:spPr>
            <a:xfrm flipH="1" flipV="1">
              <a:off x="10474483" y="3105483"/>
              <a:ext cx="50961" cy="290971"/>
            </a:xfrm>
            <a:prstGeom prst="straightConnector1">
              <a:avLst/>
            </a:prstGeom>
            <a:ln>
              <a:solidFill>
                <a:schemeClr val="accent1"/>
              </a:solidFill>
              <a:tailEnd type="triangle"/>
            </a:ln>
          </p:spPr>
          <p:style>
            <a:lnRef idx="1">
              <a:schemeClr val="dk1"/>
            </a:lnRef>
            <a:fillRef idx="0">
              <a:schemeClr val="dk1"/>
            </a:fillRef>
            <a:effectRef idx="0">
              <a:schemeClr val="dk1"/>
            </a:effectRef>
            <a:fontRef idx="minor">
              <a:schemeClr val="tx1"/>
            </a:fontRef>
          </p:style>
        </p:cxnSp>
        <p:sp>
          <p:nvSpPr>
            <p:cNvPr id="69" name="Flowchart: Decision 68"/>
            <p:cNvSpPr/>
            <p:nvPr/>
          </p:nvSpPr>
          <p:spPr>
            <a:xfrm>
              <a:off x="2879609" y="4647234"/>
              <a:ext cx="1338996" cy="724083"/>
            </a:xfrm>
            <a:prstGeom prst="flowChartDecision">
              <a:avLst/>
            </a:prstGeom>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latin typeface="Times New Roman" panose="02020603050405020304" pitchFamily="18" charset="0"/>
                  <a:cs typeface="Times New Roman" panose="02020603050405020304" pitchFamily="18" charset="0"/>
                </a:rPr>
                <a:t>View</a:t>
              </a:r>
              <a:endParaRPr lang="en-IN" sz="1200" dirty="0"/>
            </a:p>
          </p:txBody>
        </p:sp>
        <p:cxnSp>
          <p:nvCxnSpPr>
            <p:cNvPr id="70" name="Straight Arrow Connector 69"/>
            <p:cNvCxnSpPr>
              <a:stCxn id="18" idx="0"/>
              <a:endCxn id="60" idx="2"/>
            </p:cNvCxnSpPr>
            <p:nvPr/>
          </p:nvCxnSpPr>
          <p:spPr>
            <a:xfrm flipH="1" flipV="1">
              <a:off x="1930625" y="4934704"/>
              <a:ext cx="12186" cy="640295"/>
            </a:xfrm>
            <a:prstGeom prst="straightConnector1">
              <a:avLst/>
            </a:prstGeom>
            <a:ln>
              <a:solidFill>
                <a:schemeClr val="accent1"/>
              </a:solidFill>
              <a:tailEnd type="triangle"/>
            </a:ln>
          </p:spPr>
          <p:style>
            <a:lnRef idx="1">
              <a:schemeClr val="dk1"/>
            </a:lnRef>
            <a:fillRef idx="0">
              <a:schemeClr val="dk1"/>
            </a:fillRef>
            <a:effectRef idx="0">
              <a:schemeClr val="dk1"/>
            </a:effectRef>
            <a:fontRef idx="minor">
              <a:schemeClr val="tx1"/>
            </a:fontRef>
          </p:style>
        </p:cxnSp>
        <p:cxnSp>
          <p:nvCxnSpPr>
            <p:cNvPr id="71" name="Straight Connector 70"/>
            <p:cNvCxnSpPr/>
            <p:nvPr/>
          </p:nvCxnSpPr>
          <p:spPr>
            <a:xfrm>
              <a:off x="1857582" y="5431212"/>
              <a:ext cx="158645" cy="0"/>
            </a:xfrm>
            <a:prstGeom prst="line">
              <a:avLst/>
            </a:prstGeom>
            <a:ln>
              <a:solidFill>
                <a:schemeClr val="accent1"/>
              </a:solidFill>
            </a:ln>
          </p:spPr>
          <p:style>
            <a:lnRef idx="1">
              <a:schemeClr val="dk1"/>
            </a:lnRef>
            <a:fillRef idx="0">
              <a:schemeClr val="dk1"/>
            </a:fillRef>
            <a:effectRef idx="0">
              <a:schemeClr val="dk1"/>
            </a:effectRef>
            <a:fontRef idx="minor">
              <a:schemeClr val="tx1"/>
            </a:fontRef>
          </p:style>
        </p:cxnSp>
        <p:sp>
          <p:nvSpPr>
            <p:cNvPr id="72" name="Flowchart: Decision 71"/>
            <p:cNvSpPr/>
            <p:nvPr/>
          </p:nvSpPr>
          <p:spPr>
            <a:xfrm>
              <a:off x="6188110" y="2769770"/>
              <a:ext cx="1566729" cy="724083"/>
            </a:xfrm>
            <a:prstGeom prst="flowChartDecision">
              <a:avLst/>
            </a:prstGeom>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latin typeface="Times New Roman" panose="02020603050405020304" pitchFamily="18" charset="0"/>
                  <a:cs typeface="Times New Roman" panose="02020603050405020304" pitchFamily="18" charset="0"/>
                </a:rPr>
                <a:t>Feature extraction</a:t>
              </a:r>
              <a:endParaRPr lang="en-IN" sz="1200" dirty="0"/>
            </a:p>
          </p:txBody>
        </p:sp>
        <p:sp>
          <p:nvSpPr>
            <p:cNvPr id="74" name="Flowchart: Decision 73"/>
            <p:cNvSpPr/>
            <p:nvPr/>
          </p:nvSpPr>
          <p:spPr>
            <a:xfrm>
              <a:off x="4465057" y="2426142"/>
              <a:ext cx="1480664" cy="724083"/>
            </a:xfrm>
            <a:prstGeom prst="flowChartDecision">
              <a:avLst/>
            </a:prstGeom>
            <a:ln>
              <a:solidFill>
                <a:schemeClr val="accent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latin typeface="Times New Roman" panose="02020603050405020304" pitchFamily="18" charset="0"/>
                  <a:cs typeface="Times New Roman" panose="02020603050405020304" pitchFamily="18" charset="0"/>
                </a:rPr>
                <a:t>Preprocessing</a:t>
              </a:r>
              <a:endParaRPr lang="en-IN" sz="1200" dirty="0"/>
            </a:p>
          </p:txBody>
        </p:sp>
        <p:cxnSp>
          <p:nvCxnSpPr>
            <p:cNvPr id="75" name="Straight Connector 74"/>
            <p:cNvCxnSpPr/>
            <p:nvPr/>
          </p:nvCxnSpPr>
          <p:spPr>
            <a:xfrm flipH="1">
              <a:off x="7522948" y="3341529"/>
              <a:ext cx="231891" cy="97399"/>
            </a:xfrm>
            <a:prstGeom prst="line">
              <a:avLst/>
            </a:prstGeom>
            <a:ln>
              <a:solidFill>
                <a:schemeClr val="accent1"/>
              </a:solidFill>
            </a:ln>
          </p:spPr>
          <p:style>
            <a:lnRef idx="1">
              <a:schemeClr val="dk1"/>
            </a:lnRef>
            <a:fillRef idx="0">
              <a:schemeClr val="dk1"/>
            </a:fillRef>
            <a:effectRef idx="0">
              <a:schemeClr val="dk1"/>
            </a:effectRef>
            <a:fontRef idx="minor">
              <a:schemeClr val="tx1"/>
            </a:fontRef>
          </p:style>
        </p:cxnSp>
        <p:cxnSp>
          <p:nvCxnSpPr>
            <p:cNvPr id="76" name="Straight Connector 75"/>
            <p:cNvCxnSpPr/>
            <p:nvPr/>
          </p:nvCxnSpPr>
          <p:spPr>
            <a:xfrm flipV="1">
              <a:off x="5342928" y="2426142"/>
              <a:ext cx="283650" cy="53418"/>
            </a:xfrm>
            <a:prstGeom prst="line">
              <a:avLst/>
            </a:prstGeom>
            <a:ln>
              <a:solidFill>
                <a:schemeClr val="accent1"/>
              </a:solidFill>
            </a:ln>
          </p:spPr>
          <p:style>
            <a:lnRef idx="1">
              <a:schemeClr val="dk1"/>
            </a:lnRef>
            <a:fillRef idx="0">
              <a:schemeClr val="dk1"/>
            </a:fillRef>
            <a:effectRef idx="0">
              <a:schemeClr val="dk1"/>
            </a:effectRef>
            <a:fontRef idx="minor">
              <a:schemeClr val="tx1"/>
            </a:fontRef>
          </p:style>
        </p:cxnSp>
        <p:cxnSp>
          <p:nvCxnSpPr>
            <p:cNvPr id="77" name="Straight Connector 76"/>
            <p:cNvCxnSpPr/>
            <p:nvPr/>
          </p:nvCxnSpPr>
          <p:spPr>
            <a:xfrm flipH="1" flipV="1">
              <a:off x="5626577" y="2438991"/>
              <a:ext cx="11018" cy="196148"/>
            </a:xfrm>
            <a:prstGeom prst="line">
              <a:avLst/>
            </a:prstGeom>
            <a:ln>
              <a:solidFill>
                <a:schemeClr val="accent1"/>
              </a:solidFill>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31267693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178271" y="138180"/>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16" name="TextBox 15"/>
          <p:cNvSpPr txBox="1"/>
          <p:nvPr/>
        </p:nvSpPr>
        <p:spPr>
          <a:xfrm>
            <a:off x="572113" y="257341"/>
            <a:ext cx="10870915" cy="707886"/>
          </a:xfrm>
          <a:prstGeom prst="rect">
            <a:avLst/>
          </a:prstGeom>
          <a:noFill/>
        </p:spPr>
        <p:txBody>
          <a:bodyPr wrap="square" rtlCol="0">
            <a:spAutoFit/>
          </a:bodyPr>
          <a:lstStyle/>
          <a:p>
            <a:pPr algn="ctr"/>
            <a:r>
              <a:rPr lang="en-US" sz="4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Sequence Diagram</a:t>
            </a:r>
            <a:endParaRPr lang="en-IN" sz="4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grpSp>
        <p:nvGrpSpPr>
          <p:cNvPr id="123" name="Group 122"/>
          <p:cNvGrpSpPr/>
          <p:nvPr/>
        </p:nvGrpSpPr>
        <p:grpSpPr>
          <a:xfrm>
            <a:off x="1229395" y="1188503"/>
            <a:ext cx="9331281" cy="5112912"/>
            <a:chOff x="1293789" y="1313645"/>
            <a:chExt cx="9048577" cy="5263645"/>
          </a:xfrm>
        </p:grpSpPr>
        <p:grpSp>
          <p:nvGrpSpPr>
            <p:cNvPr id="26" name="Group 25"/>
            <p:cNvGrpSpPr/>
            <p:nvPr/>
          </p:nvGrpSpPr>
          <p:grpSpPr>
            <a:xfrm>
              <a:off x="1674254" y="1313645"/>
              <a:ext cx="409230" cy="746602"/>
              <a:chOff x="1506827" y="1368382"/>
              <a:chExt cx="641051" cy="1258535"/>
            </a:xfrm>
          </p:grpSpPr>
          <p:sp>
            <p:nvSpPr>
              <p:cNvPr id="25" name="Freeform 24"/>
              <p:cNvSpPr>
                <a:spLocks/>
              </p:cNvSpPr>
              <p:nvPr/>
            </p:nvSpPr>
            <p:spPr bwMode="auto">
              <a:xfrm>
                <a:off x="1661147" y="1368382"/>
                <a:ext cx="322199" cy="357387"/>
              </a:xfrm>
              <a:custGeom>
                <a:avLst/>
                <a:gdLst>
                  <a:gd name="T0" fmla="*/ 335 w 732"/>
                  <a:gd name="T1" fmla="*/ 1 h 745"/>
                  <a:gd name="T2" fmla="*/ 278 w 732"/>
                  <a:gd name="T3" fmla="*/ 10 h 745"/>
                  <a:gd name="T4" fmla="*/ 223 w 732"/>
                  <a:gd name="T5" fmla="*/ 29 h 745"/>
                  <a:gd name="T6" fmla="*/ 173 w 732"/>
                  <a:gd name="T7" fmla="*/ 55 h 745"/>
                  <a:gd name="T8" fmla="*/ 127 w 732"/>
                  <a:gd name="T9" fmla="*/ 89 h 745"/>
                  <a:gd name="T10" fmla="*/ 88 w 732"/>
                  <a:gd name="T11" fmla="*/ 129 h 745"/>
                  <a:gd name="T12" fmla="*/ 54 w 732"/>
                  <a:gd name="T13" fmla="*/ 176 h 745"/>
                  <a:gd name="T14" fmla="*/ 28 w 732"/>
                  <a:gd name="T15" fmla="*/ 227 h 745"/>
                  <a:gd name="T16" fmla="*/ 10 w 732"/>
                  <a:gd name="T17" fmla="*/ 282 h 745"/>
                  <a:gd name="T18" fmla="*/ 1 w 732"/>
                  <a:gd name="T19" fmla="*/ 341 h 745"/>
                  <a:gd name="T20" fmla="*/ 1 w 732"/>
                  <a:gd name="T21" fmla="*/ 402 h 745"/>
                  <a:gd name="T22" fmla="*/ 10 w 732"/>
                  <a:gd name="T23" fmla="*/ 461 h 745"/>
                  <a:gd name="T24" fmla="*/ 28 w 732"/>
                  <a:gd name="T25" fmla="*/ 516 h 745"/>
                  <a:gd name="T26" fmla="*/ 54 w 732"/>
                  <a:gd name="T27" fmla="*/ 567 h 745"/>
                  <a:gd name="T28" fmla="*/ 88 w 732"/>
                  <a:gd name="T29" fmla="*/ 614 h 745"/>
                  <a:gd name="T30" fmla="*/ 127 w 732"/>
                  <a:gd name="T31" fmla="*/ 654 h 745"/>
                  <a:gd name="T32" fmla="*/ 173 w 732"/>
                  <a:gd name="T33" fmla="*/ 688 h 745"/>
                  <a:gd name="T34" fmla="*/ 223 w 732"/>
                  <a:gd name="T35" fmla="*/ 714 h 745"/>
                  <a:gd name="T36" fmla="*/ 278 w 732"/>
                  <a:gd name="T37" fmla="*/ 733 h 745"/>
                  <a:gd name="T38" fmla="*/ 335 w 732"/>
                  <a:gd name="T39" fmla="*/ 742 h 745"/>
                  <a:gd name="T40" fmla="*/ 396 w 732"/>
                  <a:gd name="T41" fmla="*/ 742 h 745"/>
                  <a:gd name="T42" fmla="*/ 453 w 732"/>
                  <a:gd name="T43" fmla="*/ 733 h 745"/>
                  <a:gd name="T44" fmla="*/ 508 w 732"/>
                  <a:gd name="T45" fmla="*/ 714 h 745"/>
                  <a:gd name="T46" fmla="*/ 558 w 732"/>
                  <a:gd name="T47" fmla="*/ 688 h 745"/>
                  <a:gd name="T48" fmla="*/ 604 w 732"/>
                  <a:gd name="T49" fmla="*/ 654 h 745"/>
                  <a:gd name="T50" fmla="*/ 643 w 732"/>
                  <a:gd name="T51" fmla="*/ 614 h 745"/>
                  <a:gd name="T52" fmla="*/ 677 w 732"/>
                  <a:gd name="T53" fmla="*/ 567 h 745"/>
                  <a:gd name="T54" fmla="*/ 703 w 732"/>
                  <a:gd name="T55" fmla="*/ 516 h 745"/>
                  <a:gd name="T56" fmla="*/ 721 w 732"/>
                  <a:gd name="T57" fmla="*/ 461 h 745"/>
                  <a:gd name="T58" fmla="*/ 730 w 732"/>
                  <a:gd name="T59" fmla="*/ 402 h 745"/>
                  <a:gd name="T60" fmla="*/ 730 w 732"/>
                  <a:gd name="T61" fmla="*/ 341 h 745"/>
                  <a:gd name="T62" fmla="*/ 721 w 732"/>
                  <a:gd name="T63" fmla="*/ 282 h 745"/>
                  <a:gd name="T64" fmla="*/ 703 w 732"/>
                  <a:gd name="T65" fmla="*/ 227 h 745"/>
                  <a:gd name="T66" fmla="*/ 677 w 732"/>
                  <a:gd name="T67" fmla="*/ 176 h 745"/>
                  <a:gd name="T68" fmla="*/ 643 w 732"/>
                  <a:gd name="T69" fmla="*/ 129 h 745"/>
                  <a:gd name="T70" fmla="*/ 604 w 732"/>
                  <a:gd name="T71" fmla="*/ 89 h 745"/>
                  <a:gd name="T72" fmla="*/ 558 w 732"/>
                  <a:gd name="T73" fmla="*/ 55 h 745"/>
                  <a:gd name="T74" fmla="*/ 508 w 732"/>
                  <a:gd name="T75" fmla="*/ 29 h 745"/>
                  <a:gd name="T76" fmla="*/ 453 w 732"/>
                  <a:gd name="T77" fmla="*/ 10 h 745"/>
                  <a:gd name="T78" fmla="*/ 396 w 732"/>
                  <a:gd name="T79" fmla="*/ 1 h 7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732" h="745">
                    <a:moveTo>
                      <a:pt x="366" y="0"/>
                    </a:moveTo>
                    <a:lnTo>
                      <a:pt x="335" y="1"/>
                    </a:lnTo>
                    <a:lnTo>
                      <a:pt x="306" y="4"/>
                    </a:lnTo>
                    <a:lnTo>
                      <a:pt x="278" y="10"/>
                    </a:lnTo>
                    <a:lnTo>
                      <a:pt x="250" y="18"/>
                    </a:lnTo>
                    <a:lnTo>
                      <a:pt x="223" y="29"/>
                    </a:lnTo>
                    <a:lnTo>
                      <a:pt x="197" y="41"/>
                    </a:lnTo>
                    <a:lnTo>
                      <a:pt x="173" y="55"/>
                    </a:lnTo>
                    <a:lnTo>
                      <a:pt x="149" y="71"/>
                    </a:lnTo>
                    <a:lnTo>
                      <a:pt x="127" y="89"/>
                    </a:lnTo>
                    <a:lnTo>
                      <a:pt x="107" y="108"/>
                    </a:lnTo>
                    <a:lnTo>
                      <a:pt x="88" y="129"/>
                    </a:lnTo>
                    <a:lnTo>
                      <a:pt x="70" y="152"/>
                    </a:lnTo>
                    <a:lnTo>
                      <a:pt x="54" y="176"/>
                    </a:lnTo>
                    <a:lnTo>
                      <a:pt x="40" y="201"/>
                    </a:lnTo>
                    <a:lnTo>
                      <a:pt x="28" y="227"/>
                    </a:lnTo>
                    <a:lnTo>
                      <a:pt x="18" y="254"/>
                    </a:lnTo>
                    <a:lnTo>
                      <a:pt x="10" y="282"/>
                    </a:lnTo>
                    <a:lnTo>
                      <a:pt x="4" y="311"/>
                    </a:lnTo>
                    <a:lnTo>
                      <a:pt x="1" y="341"/>
                    </a:lnTo>
                    <a:lnTo>
                      <a:pt x="0" y="372"/>
                    </a:lnTo>
                    <a:lnTo>
                      <a:pt x="1" y="402"/>
                    </a:lnTo>
                    <a:lnTo>
                      <a:pt x="4" y="432"/>
                    </a:lnTo>
                    <a:lnTo>
                      <a:pt x="10" y="461"/>
                    </a:lnTo>
                    <a:lnTo>
                      <a:pt x="18" y="489"/>
                    </a:lnTo>
                    <a:lnTo>
                      <a:pt x="28" y="516"/>
                    </a:lnTo>
                    <a:lnTo>
                      <a:pt x="40" y="542"/>
                    </a:lnTo>
                    <a:lnTo>
                      <a:pt x="54" y="567"/>
                    </a:lnTo>
                    <a:lnTo>
                      <a:pt x="70" y="591"/>
                    </a:lnTo>
                    <a:lnTo>
                      <a:pt x="88" y="614"/>
                    </a:lnTo>
                    <a:lnTo>
                      <a:pt x="107" y="635"/>
                    </a:lnTo>
                    <a:lnTo>
                      <a:pt x="127" y="654"/>
                    </a:lnTo>
                    <a:lnTo>
                      <a:pt x="149" y="672"/>
                    </a:lnTo>
                    <a:lnTo>
                      <a:pt x="173" y="688"/>
                    </a:lnTo>
                    <a:lnTo>
                      <a:pt x="197" y="702"/>
                    </a:lnTo>
                    <a:lnTo>
                      <a:pt x="223" y="714"/>
                    </a:lnTo>
                    <a:lnTo>
                      <a:pt x="250" y="725"/>
                    </a:lnTo>
                    <a:lnTo>
                      <a:pt x="278" y="733"/>
                    </a:lnTo>
                    <a:lnTo>
                      <a:pt x="306" y="739"/>
                    </a:lnTo>
                    <a:lnTo>
                      <a:pt x="335" y="742"/>
                    </a:lnTo>
                    <a:lnTo>
                      <a:pt x="366" y="744"/>
                    </a:lnTo>
                    <a:lnTo>
                      <a:pt x="396" y="742"/>
                    </a:lnTo>
                    <a:lnTo>
                      <a:pt x="425" y="739"/>
                    </a:lnTo>
                    <a:lnTo>
                      <a:pt x="453" y="733"/>
                    </a:lnTo>
                    <a:lnTo>
                      <a:pt x="481" y="725"/>
                    </a:lnTo>
                    <a:lnTo>
                      <a:pt x="508" y="714"/>
                    </a:lnTo>
                    <a:lnTo>
                      <a:pt x="534" y="702"/>
                    </a:lnTo>
                    <a:lnTo>
                      <a:pt x="558" y="688"/>
                    </a:lnTo>
                    <a:lnTo>
                      <a:pt x="582" y="672"/>
                    </a:lnTo>
                    <a:lnTo>
                      <a:pt x="604" y="654"/>
                    </a:lnTo>
                    <a:lnTo>
                      <a:pt x="624" y="635"/>
                    </a:lnTo>
                    <a:lnTo>
                      <a:pt x="643" y="614"/>
                    </a:lnTo>
                    <a:lnTo>
                      <a:pt x="661" y="591"/>
                    </a:lnTo>
                    <a:lnTo>
                      <a:pt x="677" y="567"/>
                    </a:lnTo>
                    <a:lnTo>
                      <a:pt x="691" y="542"/>
                    </a:lnTo>
                    <a:lnTo>
                      <a:pt x="703" y="516"/>
                    </a:lnTo>
                    <a:lnTo>
                      <a:pt x="713" y="489"/>
                    </a:lnTo>
                    <a:lnTo>
                      <a:pt x="721" y="461"/>
                    </a:lnTo>
                    <a:lnTo>
                      <a:pt x="727" y="432"/>
                    </a:lnTo>
                    <a:lnTo>
                      <a:pt x="730" y="402"/>
                    </a:lnTo>
                    <a:lnTo>
                      <a:pt x="732" y="372"/>
                    </a:lnTo>
                    <a:lnTo>
                      <a:pt x="730" y="341"/>
                    </a:lnTo>
                    <a:lnTo>
                      <a:pt x="727" y="311"/>
                    </a:lnTo>
                    <a:lnTo>
                      <a:pt x="721" y="282"/>
                    </a:lnTo>
                    <a:lnTo>
                      <a:pt x="713" y="254"/>
                    </a:lnTo>
                    <a:lnTo>
                      <a:pt x="703" y="227"/>
                    </a:lnTo>
                    <a:lnTo>
                      <a:pt x="691" y="201"/>
                    </a:lnTo>
                    <a:lnTo>
                      <a:pt x="677" y="176"/>
                    </a:lnTo>
                    <a:lnTo>
                      <a:pt x="661" y="152"/>
                    </a:lnTo>
                    <a:lnTo>
                      <a:pt x="643" y="129"/>
                    </a:lnTo>
                    <a:lnTo>
                      <a:pt x="624" y="108"/>
                    </a:lnTo>
                    <a:lnTo>
                      <a:pt x="604" y="89"/>
                    </a:lnTo>
                    <a:lnTo>
                      <a:pt x="582" y="71"/>
                    </a:lnTo>
                    <a:lnTo>
                      <a:pt x="558" y="55"/>
                    </a:lnTo>
                    <a:lnTo>
                      <a:pt x="534" y="41"/>
                    </a:lnTo>
                    <a:lnTo>
                      <a:pt x="508" y="29"/>
                    </a:lnTo>
                    <a:lnTo>
                      <a:pt x="481" y="18"/>
                    </a:lnTo>
                    <a:lnTo>
                      <a:pt x="453" y="10"/>
                    </a:lnTo>
                    <a:lnTo>
                      <a:pt x="425" y="4"/>
                    </a:lnTo>
                    <a:lnTo>
                      <a:pt x="396" y="1"/>
                    </a:lnTo>
                    <a:lnTo>
                      <a:pt x="366" y="0"/>
                    </a:lnTo>
                    <a:close/>
                  </a:path>
                </a:pathLst>
              </a:custGeom>
              <a:noFill/>
              <a:ln w="9525">
                <a:solidFill>
                  <a:srgbClr val="C00000"/>
                </a:solidFill>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cxnSp>
            <p:nvCxnSpPr>
              <p:cNvPr id="3" name="Straight Connector 2"/>
              <p:cNvCxnSpPr/>
              <p:nvPr/>
            </p:nvCxnSpPr>
            <p:spPr>
              <a:xfrm>
                <a:off x="1822148" y="1725769"/>
                <a:ext cx="6651" cy="636822"/>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flipH="1">
                <a:off x="1506828" y="1712890"/>
                <a:ext cx="325395" cy="318411"/>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a:stCxn id="25" idx="19"/>
              </p:cNvCxnSpPr>
              <p:nvPr/>
            </p:nvCxnSpPr>
            <p:spPr>
              <a:xfrm>
                <a:off x="1808601" y="1724330"/>
                <a:ext cx="329064" cy="306971"/>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a:off x="1818814" y="2319946"/>
                <a:ext cx="329064" cy="306971"/>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flipH="1">
                <a:off x="1506827" y="2304945"/>
                <a:ext cx="325395" cy="318411"/>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27" name="Rectangle 26"/>
            <p:cNvSpPr/>
            <p:nvPr/>
          </p:nvSpPr>
          <p:spPr>
            <a:xfrm>
              <a:off x="1293789" y="2155878"/>
              <a:ext cx="1146220" cy="321972"/>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a:ln w="0"/>
                  <a:solidFill>
                    <a:schemeClr val="tx1"/>
                  </a:solidFill>
                  <a:latin typeface="Times New Roman" panose="02020603050405020304" pitchFamily="18" charset="0"/>
                  <a:cs typeface="Times New Roman" panose="02020603050405020304" pitchFamily="18" charset="0"/>
                </a:rPr>
                <a:t>USER</a:t>
              </a:r>
            </a:p>
          </p:txBody>
        </p:sp>
        <p:sp>
          <p:nvSpPr>
            <p:cNvPr id="39" name="Rectangle 38"/>
            <p:cNvSpPr/>
            <p:nvPr/>
          </p:nvSpPr>
          <p:spPr>
            <a:xfrm>
              <a:off x="3555527" y="2155878"/>
              <a:ext cx="1146220" cy="321972"/>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a:ln w="0"/>
                  <a:solidFill>
                    <a:schemeClr val="tx1"/>
                  </a:solidFill>
                  <a:latin typeface="Times New Roman" panose="02020603050405020304" pitchFamily="18" charset="0"/>
                  <a:cs typeface="Times New Roman" panose="02020603050405020304" pitchFamily="18" charset="0"/>
                </a:rPr>
                <a:t>SYSTEM</a:t>
              </a:r>
            </a:p>
          </p:txBody>
        </p:sp>
        <p:sp>
          <p:nvSpPr>
            <p:cNvPr id="30" name="Rounded Rectangle 29"/>
            <p:cNvSpPr/>
            <p:nvPr/>
          </p:nvSpPr>
          <p:spPr>
            <a:xfrm>
              <a:off x="1717720" y="3810800"/>
              <a:ext cx="365763" cy="1818475"/>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41" name="Straight Connector 40"/>
            <p:cNvCxnSpPr>
              <a:stCxn id="27" idx="2"/>
              <a:endCxn id="30" idx="0"/>
            </p:cNvCxnSpPr>
            <p:nvPr/>
          </p:nvCxnSpPr>
          <p:spPr>
            <a:xfrm>
              <a:off x="1866899" y="2477850"/>
              <a:ext cx="33703" cy="1332950"/>
            </a:xfrm>
            <a:prstGeom prst="line">
              <a:avLst/>
            </a:prstGeom>
            <a:ln>
              <a:solidFill>
                <a:srgbClr val="C00000"/>
              </a:solidFill>
              <a:prstDash val="dashDot"/>
            </a:ln>
          </p:spPr>
          <p:style>
            <a:lnRef idx="1">
              <a:schemeClr val="accent1"/>
            </a:lnRef>
            <a:fillRef idx="0">
              <a:schemeClr val="accent1"/>
            </a:fillRef>
            <a:effectRef idx="0">
              <a:schemeClr val="accent1"/>
            </a:effectRef>
            <a:fontRef idx="minor">
              <a:schemeClr val="tx1"/>
            </a:fontRef>
          </p:style>
        </p:cxnSp>
        <p:sp>
          <p:nvSpPr>
            <p:cNvPr id="55" name="Rounded Rectangle 54"/>
            <p:cNvSpPr/>
            <p:nvPr/>
          </p:nvSpPr>
          <p:spPr>
            <a:xfrm>
              <a:off x="3944049" y="3645004"/>
              <a:ext cx="310716" cy="574409"/>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6" name="Straight Connector 55"/>
            <p:cNvCxnSpPr>
              <a:endCxn id="55" idx="0"/>
            </p:cNvCxnSpPr>
            <p:nvPr/>
          </p:nvCxnSpPr>
          <p:spPr>
            <a:xfrm>
              <a:off x="4099407" y="2500574"/>
              <a:ext cx="0" cy="1144430"/>
            </a:xfrm>
            <a:prstGeom prst="line">
              <a:avLst/>
            </a:prstGeom>
            <a:ln>
              <a:solidFill>
                <a:srgbClr val="C00000"/>
              </a:solidFill>
              <a:prstDash val="dashDot"/>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p:nvPr/>
          </p:nvCxnSpPr>
          <p:spPr>
            <a:xfrm>
              <a:off x="1873418" y="2915369"/>
              <a:ext cx="2225989" cy="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57" name="TextBox 56"/>
            <p:cNvSpPr txBox="1"/>
            <p:nvPr/>
          </p:nvSpPr>
          <p:spPr>
            <a:xfrm>
              <a:off x="2366944" y="2590327"/>
              <a:ext cx="1220073" cy="369332"/>
            </a:xfrm>
            <a:prstGeom prst="rect">
              <a:avLst/>
            </a:prstGeom>
            <a:noFill/>
            <a:ln>
              <a:solidFill>
                <a:srgbClr val="C00000"/>
              </a:solidFill>
            </a:ln>
          </p:spPr>
          <p:txBody>
            <a:bodyPr wrap="square" rtlCol="0">
              <a:spAutoFit/>
            </a:bodyPr>
            <a:lstStyle/>
            <a:p>
              <a:pPr algn="ctr"/>
              <a:r>
                <a:rPr lang="en-IN" b="1" dirty="0">
                  <a:latin typeface="Times New Roman" panose="02020603050405020304" pitchFamily="18" charset="0"/>
                  <a:cs typeface="Times New Roman" panose="02020603050405020304" pitchFamily="18" charset="0"/>
                </a:rPr>
                <a:t>1. Input</a:t>
              </a:r>
            </a:p>
          </p:txBody>
        </p:sp>
        <p:sp>
          <p:nvSpPr>
            <p:cNvPr id="61" name="Rectangle 60"/>
            <p:cNvSpPr/>
            <p:nvPr/>
          </p:nvSpPr>
          <p:spPr>
            <a:xfrm>
              <a:off x="6007570" y="2159620"/>
              <a:ext cx="1722730" cy="340953"/>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a:ln w="0"/>
                  <a:solidFill>
                    <a:schemeClr val="tx1"/>
                  </a:solidFill>
                  <a:latin typeface="Times New Roman" panose="02020603050405020304" pitchFamily="18" charset="0"/>
                  <a:cs typeface="Times New Roman" panose="02020603050405020304" pitchFamily="18" charset="0"/>
                </a:rPr>
                <a:t>CLASSIFICATION</a:t>
              </a:r>
            </a:p>
          </p:txBody>
        </p:sp>
        <p:sp>
          <p:nvSpPr>
            <p:cNvPr id="62" name="Rectangle 61"/>
            <p:cNvSpPr/>
            <p:nvPr/>
          </p:nvSpPr>
          <p:spPr>
            <a:xfrm>
              <a:off x="8619636" y="2180020"/>
              <a:ext cx="1722730" cy="340953"/>
            </a:xfrm>
            <a:prstGeom prst="rect">
              <a:avLst/>
            </a:prstGeom>
            <a:solidFill>
              <a:schemeClr val="bg1"/>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a:ln w="0"/>
                  <a:solidFill>
                    <a:schemeClr val="tx1"/>
                  </a:solidFill>
                  <a:latin typeface="Times New Roman" panose="02020603050405020304" pitchFamily="18" charset="0"/>
                  <a:cs typeface="Times New Roman" panose="02020603050405020304" pitchFamily="18" charset="0"/>
                </a:rPr>
                <a:t>RESULT</a:t>
              </a:r>
            </a:p>
          </p:txBody>
        </p:sp>
        <p:sp>
          <p:nvSpPr>
            <p:cNvPr id="71" name="Rounded Rectangle 70"/>
            <p:cNvSpPr/>
            <p:nvPr/>
          </p:nvSpPr>
          <p:spPr>
            <a:xfrm>
              <a:off x="6649461" y="4106851"/>
              <a:ext cx="310716" cy="574409"/>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72" name="Straight Connector 71"/>
            <p:cNvCxnSpPr>
              <a:endCxn id="71" idx="0"/>
            </p:cNvCxnSpPr>
            <p:nvPr/>
          </p:nvCxnSpPr>
          <p:spPr>
            <a:xfrm>
              <a:off x="6804819" y="2500574"/>
              <a:ext cx="0" cy="1606277"/>
            </a:xfrm>
            <a:prstGeom prst="line">
              <a:avLst/>
            </a:prstGeom>
            <a:ln>
              <a:solidFill>
                <a:srgbClr val="C00000"/>
              </a:solidFill>
              <a:prstDash val="dashDot"/>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p:nvPr/>
          </p:nvCxnSpPr>
          <p:spPr>
            <a:xfrm>
              <a:off x="4128637" y="2803982"/>
              <a:ext cx="2676182" cy="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76" name="TextBox 75"/>
            <p:cNvSpPr txBox="1"/>
            <p:nvPr/>
          </p:nvSpPr>
          <p:spPr>
            <a:xfrm>
              <a:off x="4809808" y="2435725"/>
              <a:ext cx="1799118" cy="665385"/>
            </a:xfrm>
            <a:prstGeom prst="rect">
              <a:avLst/>
            </a:prstGeom>
            <a:noFill/>
            <a:ln>
              <a:solidFill>
                <a:srgbClr val="C00000"/>
              </a:solidFill>
            </a:ln>
          </p:spPr>
          <p:txBody>
            <a:bodyPr wrap="square" rtlCol="0">
              <a:spAutoFit/>
            </a:bodyPr>
            <a:lstStyle/>
            <a:p>
              <a:pPr algn="ctr"/>
              <a:r>
                <a:rPr lang="en-IN" b="1" dirty="0">
                  <a:latin typeface="Times New Roman" panose="02020603050405020304" pitchFamily="18" charset="0"/>
                  <a:cs typeface="Times New Roman" panose="02020603050405020304" pitchFamily="18" charset="0"/>
                </a:rPr>
                <a:t>3. Text Preprocessing</a:t>
              </a:r>
            </a:p>
          </p:txBody>
        </p:sp>
        <p:sp>
          <p:nvSpPr>
            <p:cNvPr id="77" name="Rounded Rectangle 76"/>
            <p:cNvSpPr/>
            <p:nvPr/>
          </p:nvSpPr>
          <p:spPr>
            <a:xfrm>
              <a:off x="9325643" y="4216850"/>
              <a:ext cx="310716" cy="574409"/>
            </a:xfrm>
            <a:prstGeom prst="round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78" name="Straight Connector 77"/>
            <p:cNvCxnSpPr/>
            <p:nvPr/>
          </p:nvCxnSpPr>
          <p:spPr>
            <a:xfrm>
              <a:off x="9481001" y="2527025"/>
              <a:ext cx="0" cy="1606277"/>
            </a:xfrm>
            <a:prstGeom prst="line">
              <a:avLst/>
            </a:prstGeom>
            <a:ln>
              <a:solidFill>
                <a:srgbClr val="C00000"/>
              </a:solidFill>
              <a:prstDash val="dashDot"/>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p:nvPr/>
          </p:nvCxnSpPr>
          <p:spPr>
            <a:xfrm>
              <a:off x="6804819" y="3184982"/>
              <a:ext cx="2676182" cy="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81" name="TextBox 80"/>
            <p:cNvSpPr txBox="1"/>
            <p:nvPr/>
          </p:nvSpPr>
          <p:spPr>
            <a:xfrm>
              <a:off x="7164134" y="2788918"/>
              <a:ext cx="1957550" cy="380220"/>
            </a:xfrm>
            <a:prstGeom prst="rect">
              <a:avLst/>
            </a:prstGeom>
            <a:noFill/>
            <a:ln>
              <a:solidFill>
                <a:srgbClr val="C00000"/>
              </a:solidFill>
            </a:ln>
          </p:spPr>
          <p:txBody>
            <a:bodyPr wrap="square" rtlCol="0">
              <a:spAutoFit/>
            </a:bodyPr>
            <a:lstStyle/>
            <a:p>
              <a:pPr algn="ctr"/>
              <a:r>
                <a:rPr lang="en-IN" b="1" dirty="0">
                  <a:latin typeface="Times New Roman" panose="02020603050405020304" pitchFamily="18" charset="0"/>
                  <a:cs typeface="Times New Roman" panose="02020603050405020304" pitchFamily="18" charset="0"/>
                </a:rPr>
                <a:t>5.Hybrid LR+ RF</a:t>
              </a:r>
            </a:p>
          </p:txBody>
        </p:sp>
        <p:sp>
          <p:nvSpPr>
            <p:cNvPr id="100" name="Arc 99"/>
            <p:cNvSpPr/>
            <p:nvPr/>
          </p:nvSpPr>
          <p:spPr>
            <a:xfrm rot="4888700">
              <a:off x="4055927" y="2611362"/>
              <a:ext cx="397674" cy="1626340"/>
            </a:xfrm>
            <a:prstGeom prst="arc">
              <a:avLst>
                <a:gd name="adj1" fmla="val 8892775"/>
                <a:gd name="adj2" fmla="val 3000279"/>
              </a:avLst>
            </a:prstGeom>
            <a:ln>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cxnSp>
          <p:nvCxnSpPr>
            <p:cNvPr id="103" name="Straight Arrow Connector 102"/>
            <p:cNvCxnSpPr>
              <a:stCxn id="100" idx="2"/>
            </p:cNvCxnSpPr>
            <p:nvPr/>
          </p:nvCxnSpPr>
          <p:spPr>
            <a:xfrm flipH="1" flipV="1">
              <a:off x="1866899" y="3645004"/>
              <a:ext cx="2191128" cy="2032"/>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04" name="TextBox 103"/>
            <p:cNvSpPr txBox="1"/>
            <p:nvPr/>
          </p:nvSpPr>
          <p:spPr>
            <a:xfrm>
              <a:off x="2213333" y="3303712"/>
              <a:ext cx="1659458" cy="369332"/>
            </a:xfrm>
            <a:prstGeom prst="rect">
              <a:avLst/>
            </a:prstGeom>
            <a:noFill/>
            <a:ln>
              <a:solidFill>
                <a:srgbClr val="C00000"/>
              </a:solidFill>
            </a:ln>
          </p:spPr>
          <p:txBody>
            <a:bodyPr wrap="square" rtlCol="0">
              <a:spAutoFit/>
            </a:bodyPr>
            <a:lstStyle/>
            <a:p>
              <a:pPr algn="ctr"/>
              <a:r>
                <a:rPr lang="en-IN" b="1" dirty="0">
                  <a:latin typeface="Times New Roman" panose="02020603050405020304" pitchFamily="18" charset="0"/>
                  <a:cs typeface="Times New Roman" panose="02020603050405020304" pitchFamily="18" charset="0"/>
                </a:rPr>
                <a:t>2.Priliminary </a:t>
              </a:r>
            </a:p>
          </p:txBody>
        </p:sp>
        <p:cxnSp>
          <p:nvCxnSpPr>
            <p:cNvPr id="105" name="Straight Connector 104"/>
            <p:cNvCxnSpPr/>
            <p:nvPr/>
          </p:nvCxnSpPr>
          <p:spPr>
            <a:xfrm>
              <a:off x="4128637" y="4216850"/>
              <a:ext cx="0" cy="1606277"/>
            </a:xfrm>
            <a:prstGeom prst="line">
              <a:avLst/>
            </a:prstGeom>
            <a:ln>
              <a:solidFill>
                <a:srgbClr val="C00000"/>
              </a:solidFill>
              <a:prstDash val="dashDot"/>
            </a:ln>
          </p:spPr>
          <p:style>
            <a:lnRef idx="1">
              <a:schemeClr val="accent1"/>
            </a:lnRef>
            <a:fillRef idx="0">
              <a:schemeClr val="accent1"/>
            </a:fillRef>
            <a:effectRef idx="0">
              <a:schemeClr val="accent1"/>
            </a:effectRef>
            <a:fontRef idx="minor">
              <a:schemeClr val="tx1"/>
            </a:fontRef>
          </p:style>
        </p:cxnSp>
        <p:sp>
          <p:nvSpPr>
            <p:cNvPr id="106" name="TextBox 105"/>
            <p:cNvSpPr txBox="1"/>
            <p:nvPr/>
          </p:nvSpPr>
          <p:spPr>
            <a:xfrm>
              <a:off x="4651986" y="3686260"/>
              <a:ext cx="1482620" cy="380220"/>
            </a:xfrm>
            <a:prstGeom prst="rect">
              <a:avLst/>
            </a:prstGeom>
            <a:noFill/>
            <a:ln>
              <a:solidFill>
                <a:srgbClr val="C00000"/>
              </a:solidFill>
            </a:ln>
          </p:spPr>
          <p:txBody>
            <a:bodyPr wrap="square" rtlCol="0">
              <a:spAutoFit/>
            </a:bodyPr>
            <a:lstStyle/>
            <a:p>
              <a:pPr algn="ctr"/>
              <a:r>
                <a:rPr lang="en-IN" b="1" dirty="0">
                  <a:latin typeface="Times New Roman" panose="02020603050405020304" pitchFamily="18" charset="0"/>
                  <a:cs typeface="Times New Roman" panose="02020603050405020304" pitchFamily="18" charset="0"/>
                </a:rPr>
                <a:t>4. LR</a:t>
              </a:r>
            </a:p>
          </p:txBody>
        </p:sp>
        <p:cxnSp>
          <p:nvCxnSpPr>
            <p:cNvPr id="107" name="Straight Arrow Connector 106"/>
            <p:cNvCxnSpPr/>
            <p:nvPr/>
          </p:nvCxnSpPr>
          <p:spPr>
            <a:xfrm>
              <a:off x="4192753" y="4075021"/>
              <a:ext cx="2676182" cy="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p:nvPr/>
          </p:nvCxnSpPr>
          <p:spPr>
            <a:xfrm>
              <a:off x="6801466" y="4681260"/>
              <a:ext cx="3353" cy="1141867"/>
            </a:xfrm>
            <a:prstGeom prst="line">
              <a:avLst/>
            </a:prstGeom>
            <a:ln>
              <a:solidFill>
                <a:srgbClr val="C00000"/>
              </a:solidFill>
              <a:prstDash val="dashDot"/>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p:nvPr/>
          </p:nvCxnSpPr>
          <p:spPr>
            <a:xfrm>
              <a:off x="1906774" y="5629275"/>
              <a:ext cx="0" cy="948015"/>
            </a:xfrm>
            <a:prstGeom prst="line">
              <a:avLst/>
            </a:prstGeom>
            <a:ln>
              <a:solidFill>
                <a:srgbClr val="C00000"/>
              </a:solidFill>
              <a:prstDash val="dashDot"/>
            </a:ln>
          </p:spPr>
          <p:style>
            <a:lnRef idx="1">
              <a:schemeClr val="accent1"/>
            </a:lnRef>
            <a:fillRef idx="0">
              <a:schemeClr val="accent1"/>
            </a:fillRef>
            <a:effectRef idx="0">
              <a:schemeClr val="accent1"/>
            </a:effectRef>
            <a:fontRef idx="minor">
              <a:schemeClr val="tx1"/>
            </a:fontRef>
          </p:style>
        </p:cxnSp>
        <p:cxnSp>
          <p:nvCxnSpPr>
            <p:cNvPr id="113" name="Straight Connector 112"/>
            <p:cNvCxnSpPr/>
            <p:nvPr/>
          </p:nvCxnSpPr>
          <p:spPr>
            <a:xfrm>
              <a:off x="9481001" y="4791259"/>
              <a:ext cx="0" cy="1180916"/>
            </a:xfrm>
            <a:prstGeom prst="line">
              <a:avLst/>
            </a:prstGeom>
            <a:ln>
              <a:solidFill>
                <a:srgbClr val="C00000"/>
              </a:solidFill>
              <a:prstDash val="dashDot"/>
            </a:ln>
          </p:spPr>
          <p:style>
            <a:lnRef idx="1">
              <a:schemeClr val="accent1"/>
            </a:lnRef>
            <a:fillRef idx="0">
              <a:schemeClr val="accent1"/>
            </a:fillRef>
            <a:effectRef idx="0">
              <a:schemeClr val="accent1"/>
            </a:effectRef>
            <a:fontRef idx="minor">
              <a:schemeClr val="tx1"/>
            </a:fontRef>
          </p:style>
        </p:cxnSp>
        <p:cxnSp>
          <p:nvCxnSpPr>
            <p:cNvPr id="115" name="Straight Arrow Connector 114"/>
            <p:cNvCxnSpPr>
              <a:stCxn id="77" idx="0"/>
            </p:cNvCxnSpPr>
            <p:nvPr/>
          </p:nvCxnSpPr>
          <p:spPr>
            <a:xfrm flipH="1">
              <a:off x="6960177" y="4216850"/>
              <a:ext cx="2520824" cy="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16" name="TextBox 115"/>
            <p:cNvSpPr txBox="1"/>
            <p:nvPr/>
          </p:nvSpPr>
          <p:spPr>
            <a:xfrm>
              <a:off x="7504045" y="3810800"/>
              <a:ext cx="1433088" cy="369332"/>
            </a:xfrm>
            <a:prstGeom prst="rect">
              <a:avLst/>
            </a:prstGeom>
            <a:noFill/>
            <a:ln>
              <a:solidFill>
                <a:srgbClr val="C00000"/>
              </a:solidFill>
            </a:ln>
          </p:spPr>
          <p:txBody>
            <a:bodyPr wrap="square" rtlCol="0">
              <a:spAutoFit/>
            </a:bodyPr>
            <a:lstStyle/>
            <a:p>
              <a:pPr algn="ctr"/>
              <a:r>
                <a:rPr lang="en-IN" b="1" dirty="0">
                  <a:latin typeface="Times New Roman" panose="02020603050405020304" pitchFamily="18" charset="0"/>
                  <a:cs typeface="Times New Roman" panose="02020603050405020304" pitchFamily="18" charset="0"/>
                </a:rPr>
                <a:t>6. Prediction</a:t>
              </a:r>
            </a:p>
          </p:txBody>
        </p:sp>
        <p:cxnSp>
          <p:nvCxnSpPr>
            <p:cNvPr id="118" name="Straight Arrow Connector 117"/>
            <p:cNvCxnSpPr>
              <a:endCxn id="30" idx="2"/>
            </p:cNvCxnSpPr>
            <p:nvPr/>
          </p:nvCxnSpPr>
          <p:spPr>
            <a:xfrm flipH="1">
              <a:off x="1900602" y="5629275"/>
              <a:ext cx="7580399" cy="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22" name="TextBox 121"/>
            <p:cNvSpPr txBox="1"/>
            <p:nvPr/>
          </p:nvSpPr>
          <p:spPr>
            <a:xfrm>
              <a:off x="6292428" y="5220662"/>
              <a:ext cx="2337550" cy="380220"/>
            </a:xfrm>
            <a:prstGeom prst="rect">
              <a:avLst/>
            </a:prstGeom>
            <a:noFill/>
            <a:ln>
              <a:solidFill>
                <a:srgbClr val="C00000"/>
              </a:solidFill>
            </a:ln>
          </p:spPr>
          <p:txBody>
            <a:bodyPr wrap="square" rtlCol="0">
              <a:spAutoFit/>
            </a:bodyPr>
            <a:lstStyle/>
            <a:p>
              <a:pPr algn="ctr"/>
              <a:r>
                <a:rPr lang="en-IN" b="1" dirty="0">
                  <a:latin typeface="Times New Roman" panose="02020603050405020304" pitchFamily="18" charset="0"/>
                  <a:cs typeface="Times New Roman" panose="02020603050405020304" pitchFamily="18" charset="0"/>
                </a:rPr>
                <a:t>Fake Product</a:t>
              </a:r>
            </a:p>
          </p:txBody>
        </p:sp>
      </p:grpSp>
    </p:spTree>
    <p:extLst>
      <p:ext uri="{BB962C8B-B14F-4D97-AF65-F5344CB8AC3E}">
        <p14:creationId xmlns:p14="http://schemas.microsoft.com/office/powerpoint/2010/main" val="28876138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20316" y="364762"/>
            <a:ext cx="10090507" cy="707886"/>
          </a:xfrm>
          <a:prstGeom prst="rect">
            <a:avLst/>
          </a:prstGeom>
          <a:noFill/>
        </p:spPr>
        <p:txBody>
          <a:bodyPr wrap="square" rtlCol="0">
            <a:spAutoFit/>
          </a:bodyPr>
          <a:lstStyle/>
          <a:p>
            <a:pPr algn="ctr"/>
            <a:r>
              <a:rPr lang="en-US" sz="4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Class Diagram</a:t>
            </a:r>
            <a:endParaRPr lang="en-IN" sz="4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57" name="Rectangle 56"/>
          <p:cNvSpPr/>
          <p:nvPr/>
        </p:nvSpPr>
        <p:spPr>
          <a:xfrm>
            <a:off x="178271" y="138180"/>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grpSp>
        <p:nvGrpSpPr>
          <p:cNvPr id="20" name="Group 19"/>
          <p:cNvGrpSpPr/>
          <p:nvPr/>
        </p:nvGrpSpPr>
        <p:grpSpPr>
          <a:xfrm>
            <a:off x="387911" y="1713187"/>
            <a:ext cx="10854250" cy="3693648"/>
            <a:chOff x="478063" y="1146516"/>
            <a:chExt cx="10854250" cy="3693648"/>
          </a:xfrm>
        </p:grpSpPr>
        <p:grpSp>
          <p:nvGrpSpPr>
            <p:cNvPr id="37" name="Group 36"/>
            <p:cNvGrpSpPr/>
            <p:nvPr/>
          </p:nvGrpSpPr>
          <p:grpSpPr>
            <a:xfrm>
              <a:off x="4573632" y="1146516"/>
              <a:ext cx="2443893" cy="1247127"/>
              <a:chOff x="9149" y="51009"/>
              <a:chExt cx="1842448" cy="1624088"/>
            </a:xfrm>
          </p:grpSpPr>
          <p:sp>
            <p:nvSpPr>
              <p:cNvPr id="94" name="Rectangle 93"/>
              <p:cNvSpPr/>
              <p:nvPr/>
            </p:nvSpPr>
            <p:spPr>
              <a:xfrm>
                <a:off x="9149" y="51013"/>
                <a:ext cx="1842448" cy="162408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cxnSp>
            <p:nvCxnSpPr>
              <p:cNvPr id="95" name="Straight Connector 94"/>
              <p:cNvCxnSpPr/>
              <p:nvPr/>
            </p:nvCxnSpPr>
            <p:spPr>
              <a:xfrm>
                <a:off x="9149" y="427169"/>
                <a:ext cx="18424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6" name="TextBox 6"/>
              <p:cNvSpPr txBox="1"/>
              <p:nvPr/>
            </p:nvSpPr>
            <p:spPr>
              <a:xfrm>
                <a:off x="118328" y="467231"/>
                <a:ext cx="1610442" cy="400807"/>
              </a:xfrm>
              <a:prstGeom prst="rect">
                <a:avLst/>
              </a:prstGeom>
              <a:noFill/>
            </p:spPr>
            <p:txBody>
              <a:bodyPr wrap="square" rtlCol="0">
                <a:spAutoFit/>
              </a:bodyPr>
              <a:lstStyle/>
              <a:p>
                <a:pPr algn="ctr">
                  <a:spcAft>
                    <a:spcPts val="0"/>
                  </a:spcAft>
                </a:pPr>
                <a:r>
                  <a:rPr lang="en-US" sz="1400" kern="1200" dirty="0">
                    <a:solidFill>
                      <a:srgbClr val="000000"/>
                    </a:solidFill>
                    <a:effectLst/>
                    <a:latin typeface="Times New Roman" panose="02020603050405020304" pitchFamily="18" charset="0"/>
                    <a:ea typeface="Times New Roman" panose="02020603050405020304" pitchFamily="18" charset="0"/>
                  </a:rPr>
                  <a:t>Select data ()</a:t>
                </a:r>
                <a:endParaRPr lang="en-IN" sz="1200" dirty="0">
                  <a:effectLst/>
                  <a:latin typeface="Times New Roman" panose="02020603050405020304" pitchFamily="18" charset="0"/>
                  <a:ea typeface="Times New Roman" panose="02020603050405020304" pitchFamily="18" charset="0"/>
                </a:endParaRPr>
              </a:p>
            </p:txBody>
          </p:sp>
          <p:sp>
            <p:nvSpPr>
              <p:cNvPr id="97" name="TextBox 7"/>
              <p:cNvSpPr txBox="1"/>
              <p:nvPr/>
            </p:nvSpPr>
            <p:spPr>
              <a:xfrm>
                <a:off x="118328" y="829707"/>
                <a:ext cx="1610442" cy="400807"/>
              </a:xfrm>
              <a:prstGeom prst="rect">
                <a:avLst/>
              </a:prstGeom>
              <a:noFill/>
            </p:spPr>
            <p:txBody>
              <a:bodyPr wrap="square" rtlCol="0">
                <a:spAutoFit/>
              </a:bodyPr>
              <a:lstStyle/>
              <a:p>
                <a:pPr algn="ctr">
                  <a:spcAft>
                    <a:spcPts val="0"/>
                  </a:spcAft>
                </a:pPr>
                <a:r>
                  <a:rPr lang="en-US" sz="1400" kern="1200" dirty="0">
                    <a:solidFill>
                      <a:srgbClr val="000000"/>
                    </a:solidFill>
                    <a:effectLst/>
                    <a:latin typeface="Times New Roman" panose="02020603050405020304" pitchFamily="18" charset="0"/>
                    <a:ea typeface="Times New Roman" panose="02020603050405020304" pitchFamily="18" charset="0"/>
                  </a:rPr>
                  <a:t>Load </a:t>
                </a:r>
                <a:r>
                  <a:rPr lang="en-US" sz="1400" dirty="0">
                    <a:solidFill>
                      <a:srgbClr val="000000"/>
                    </a:solidFill>
                    <a:latin typeface="Times New Roman" panose="02020603050405020304" pitchFamily="18" charset="0"/>
                    <a:ea typeface="Times New Roman" panose="02020603050405020304" pitchFamily="18" charset="0"/>
                  </a:rPr>
                  <a:t>data ()</a:t>
                </a:r>
                <a:endParaRPr lang="en-IN" sz="1200" dirty="0">
                  <a:effectLst/>
                  <a:latin typeface="Times New Roman" panose="02020603050405020304" pitchFamily="18" charset="0"/>
                  <a:ea typeface="Times New Roman" panose="02020603050405020304" pitchFamily="18" charset="0"/>
                </a:endParaRPr>
              </a:p>
            </p:txBody>
          </p:sp>
          <p:sp>
            <p:nvSpPr>
              <p:cNvPr id="98" name="TextBox 8"/>
              <p:cNvSpPr txBox="1"/>
              <p:nvPr/>
            </p:nvSpPr>
            <p:spPr>
              <a:xfrm>
                <a:off x="125153" y="1192183"/>
                <a:ext cx="1610442" cy="400807"/>
              </a:xfrm>
              <a:prstGeom prst="rect">
                <a:avLst/>
              </a:prstGeom>
              <a:noFill/>
            </p:spPr>
            <p:txBody>
              <a:bodyPr wrap="square" rtlCol="0">
                <a:spAutoFit/>
              </a:bodyPr>
              <a:lstStyle/>
              <a:p>
                <a:pPr algn="ctr">
                  <a:spcAft>
                    <a:spcPts val="0"/>
                  </a:spcAft>
                </a:pPr>
                <a:r>
                  <a:rPr lang="en-US" sz="1400" kern="1200" dirty="0">
                    <a:solidFill>
                      <a:srgbClr val="000000"/>
                    </a:solidFill>
                    <a:effectLst/>
                    <a:latin typeface="Times New Roman" panose="02020603050405020304" pitchFamily="18" charset="0"/>
                    <a:ea typeface="Times New Roman" panose="02020603050405020304" pitchFamily="18" charset="0"/>
                  </a:rPr>
                  <a:t>View </a:t>
                </a:r>
                <a:r>
                  <a:rPr lang="en-US" sz="1400" dirty="0">
                    <a:solidFill>
                      <a:srgbClr val="000000"/>
                    </a:solidFill>
                    <a:latin typeface="Times New Roman" panose="02020603050405020304" pitchFamily="18" charset="0"/>
                    <a:ea typeface="Times New Roman" panose="02020603050405020304" pitchFamily="18" charset="0"/>
                  </a:rPr>
                  <a:t>data ()</a:t>
                </a:r>
                <a:endParaRPr lang="en-IN" sz="1200" dirty="0">
                  <a:effectLst/>
                  <a:latin typeface="Times New Roman" panose="02020603050405020304" pitchFamily="18" charset="0"/>
                  <a:ea typeface="Times New Roman" panose="02020603050405020304" pitchFamily="18" charset="0"/>
                </a:endParaRPr>
              </a:p>
            </p:txBody>
          </p:sp>
          <p:sp>
            <p:nvSpPr>
              <p:cNvPr id="99" name="TextBox 9"/>
              <p:cNvSpPr txBox="1"/>
              <p:nvPr/>
            </p:nvSpPr>
            <p:spPr>
              <a:xfrm>
                <a:off x="118328" y="51009"/>
                <a:ext cx="1610442" cy="400807"/>
              </a:xfrm>
              <a:prstGeom prst="rect">
                <a:avLst/>
              </a:prstGeom>
              <a:noFill/>
            </p:spPr>
            <p:txBody>
              <a:bodyPr wrap="square" rtlCol="0">
                <a:spAutoFit/>
              </a:bodyPr>
              <a:lstStyle/>
              <a:p>
                <a:pPr algn="ctr">
                  <a:spcAft>
                    <a:spcPts val="0"/>
                  </a:spcAft>
                </a:pPr>
                <a:r>
                  <a:rPr lang="en-US" sz="1400" kern="1200" dirty="0">
                    <a:solidFill>
                      <a:srgbClr val="000000"/>
                    </a:solidFill>
                    <a:effectLst/>
                    <a:latin typeface="Times New Roman" panose="02020603050405020304" pitchFamily="18" charset="0"/>
                    <a:ea typeface="Times New Roman" panose="02020603050405020304" pitchFamily="18" charset="0"/>
                  </a:rPr>
                  <a:t>    </a:t>
                </a:r>
                <a:r>
                  <a:rPr lang="en-US" sz="1400" b="1" kern="1200" dirty="0">
                    <a:solidFill>
                      <a:srgbClr val="000000"/>
                    </a:solidFill>
                    <a:effectLst/>
                    <a:latin typeface="Times New Roman" panose="02020603050405020304" pitchFamily="18" charset="0"/>
                    <a:ea typeface="Times New Roman" panose="02020603050405020304" pitchFamily="18" charset="0"/>
                  </a:rPr>
                  <a:t>INPUT</a:t>
                </a:r>
                <a:endParaRPr lang="en-IN" sz="1200" b="1" dirty="0">
                  <a:effectLst/>
                  <a:latin typeface="Times New Roman" panose="02020603050405020304" pitchFamily="18" charset="0"/>
                  <a:ea typeface="Times New Roman" panose="02020603050405020304" pitchFamily="18" charset="0"/>
                </a:endParaRPr>
              </a:p>
            </p:txBody>
          </p:sp>
        </p:grpSp>
        <p:grpSp>
          <p:nvGrpSpPr>
            <p:cNvPr id="42" name="Group 41"/>
            <p:cNvGrpSpPr/>
            <p:nvPr/>
          </p:nvGrpSpPr>
          <p:grpSpPr>
            <a:xfrm>
              <a:off x="478063" y="3397741"/>
              <a:ext cx="2453692" cy="1440714"/>
              <a:chOff x="2427157" y="0"/>
              <a:chExt cx="1450055" cy="1489276"/>
            </a:xfrm>
          </p:grpSpPr>
          <p:grpSp>
            <p:nvGrpSpPr>
              <p:cNvPr id="51" name="Group 50"/>
              <p:cNvGrpSpPr/>
              <p:nvPr/>
            </p:nvGrpSpPr>
            <p:grpSpPr>
              <a:xfrm>
                <a:off x="2427157" y="0"/>
                <a:ext cx="1450055" cy="1489276"/>
                <a:chOff x="2427157" y="0"/>
                <a:chExt cx="1842448" cy="1141272"/>
              </a:xfrm>
            </p:grpSpPr>
            <p:grpSp>
              <p:nvGrpSpPr>
                <p:cNvPr id="54" name="Group 53"/>
                <p:cNvGrpSpPr/>
                <p:nvPr/>
              </p:nvGrpSpPr>
              <p:grpSpPr>
                <a:xfrm>
                  <a:off x="2427157" y="0"/>
                  <a:ext cx="1842448" cy="1141272"/>
                  <a:chOff x="2427157" y="0"/>
                  <a:chExt cx="1842448" cy="1141272"/>
                </a:xfrm>
              </p:grpSpPr>
              <p:sp>
                <p:nvSpPr>
                  <p:cNvPr id="56" name="Rectangle 55"/>
                  <p:cNvSpPr/>
                  <p:nvPr/>
                </p:nvSpPr>
                <p:spPr>
                  <a:xfrm>
                    <a:off x="2427157" y="0"/>
                    <a:ext cx="1842448" cy="114127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cxnSp>
                <p:nvCxnSpPr>
                  <p:cNvPr id="58" name="Straight Connector 57"/>
                  <p:cNvCxnSpPr/>
                  <p:nvPr/>
                </p:nvCxnSpPr>
                <p:spPr>
                  <a:xfrm>
                    <a:off x="2427157" y="345868"/>
                    <a:ext cx="18424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5" name="TextBox 12"/>
                <p:cNvSpPr txBox="1"/>
                <p:nvPr/>
              </p:nvSpPr>
              <p:spPr>
                <a:xfrm>
                  <a:off x="2517616" y="66694"/>
                  <a:ext cx="1751989" cy="243808"/>
                </a:xfrm>
                <a:prstGeom prst="rect">
                  <a:avLst/>
                </a:prstGeom>
                <a:noFill/>
              </p:spPr>
              <p:txBody>
                <a:bodyPr wrap="square" rtlCol="0">
                  <a:spAutoFit/>
                </a:bodyPr>
                <a:lstStyle/>
                <a:p>
                  <a:pPr algn="ctr">
                    <a:spcAft>
                      <a:spcPts val="0"/>
                    </a:spcAft>
                  </a:pPr>
                  <a:r>
                    <a:rPr lang="en-US" sz="1400" b="1" kern="1200" dirty="0">
                      <a:solidFill>
                        <a:srgbClr val="000000"/>
                      </a:solidFill>
                      <a:effectLst/>
                      <a:latin typeface="Times New Roman" panose="02020603050405020304" pitchFamily="18" charset="0"/>
                      <a:ea typeface="Times New Roman" panose="02020603050405020304" pitchFamily="18" charset="0"/>
                    </a:rPr>
                    <a:t>PREMILINARY PROCESS</a:t>
                  </a:r>
                  <a:endParaRPr lang="en-IN" sz="1400" b="1" dirty="0">
                    <a:effectLst/>
                    <a:latin typeface="Times New Roman" panose="02020603050405020304" pitchFamily="18" charset="0"/>
                    <a:ea typeface="Times New Roman" panose="02020603050405020304" pitchFamily="18" charset="0"/>
                  </a:endParaRPr>
                </a:p>
              </p:txBody>
            </p:sp>
          </p:grpSp>
          <p:sp>
            <p:nvSpPr>
              <p:cNvPr id="52" name="TextBox 1"/>
              <p:cNvSpPr txBox="1"/>
              <p:nvPr/>
            </p:nvSpPr>
            <p:spPr>
              <a:xfrm>
                <a:off x="2498351" y="535465"/>
                <a:ext cx="1267460" cy="318151"/>
              </a:xfrm>
              <a:prstGeom prst="rect">
                <a:avLst/>
              </a:prstGeom>
              <a:noFill/>
            </p:spPr>
            <p:txBody>
              <a:bodyPr wrap="square" rtlCol="0">
                <a:spAutoFit/>
              </a:bodyPr>
              <a:lstStyle/>
              <a:p>
                <a:pPr algn="ctr">
                  <a:spcAft>
                    <a:spcPts val="0"/>
                  </a:spcAft>
                </a:pPr>
                <a:r>
                  <a:rPr lang="en-US" sz="1400" kern="1200" dirty="0">
                    <a:solidFill>
                      <a:srgbClr val="000000"/>
                    </a:solidFill>
                    <a:effectLst/>
                    <a:latin typeface="Times New Roman" panose="02020603050405020304" pitchFamily="18" charset="0"/>
                    <a:ea typeface="Times New Roman" panose="02020603050405020304" pitchFamily="18" charset="0"/>
                  </a:rPr>
                  <a:t>Missing values ()</a:t>
                </a:r>
                <a:endParaRPr lang="en-IN" sz="1400" dirty="0">
                  <a:effectLst/>
                  <a:latin typeface="Times New Roman" panose="02020603050405020304" pitchFamily="18" charset="0"/>
                  <a:ea typeface="Times New Roman" panose="02020603050405020304" pitchFamily="18" charset="0"/>
                </a:endParaRPr>
              </a:p>
            </p:txBody>
          </p:sp>
          <p:sp>
            <p:nvSpPr>
              <p:cNvPr id="53" name="TextBox 2"/>
              <p:cNvSpPr txBox="1"/>
              <p:nvPr/>
            </p:nvSpPr>
            <p:spPr>
              <a:xfrm>
                <a:off x="2524065" y="881636"/>
                <a:ext cx="1241746" cy="318151"/>
              </a:xfrm>
              <a:prstGeom prst="rect">
                <a:avLst/>
              </a:prstGeom>
              <a:noFill/>
            </p:spPr>
            <p:txBody>
              <a:bodyPr wrap="square" rtlCol="0">
                <a:spAutoFit/>
              </a:bodyPr>
              <a:lstStyle/>
              <a:p>
                <a:pPr algn="ctr">
                  <a:spcAft>
                    <a:spcPts val="0"/>
                  </a:spcAft>
                </a:pPr>
                <a:r>
                  <a:rPr lang="en-US" sz="1400" kern="1200" dirty="0">
                    <a:solidFill>
                      <a:srgbClr val="000000"/>
                    </a:solidFill>
                    <a:effectLst/>
                    <a:latin typeface="Times New Roman" panose="02020603050405020304" pitchFamily="18" charset="0"/>
                    <a:ea typeface="Times New Roman" panose="02020603050405020304" pitchFamily="18" charset="0"/>
                  </a:rPr>
                  <a:t>Label Encoding ()</a:t>
                </a:r>
                <a:endParaRPr lang="en-IN" sz="1400" dirty="0">
                  <a:effectLst/>
                  <a:latin typeface="Times New Roman" panose="02020603050405020304" pitchFamily="18" charset="0"/>
                  <a:ea typeface="Times New Roman" panose="02020603050405020304" pitchFamily="18" charset="0"/>
                </a:endParaRPr>
              </a:p>
            </p:txBody>
          </p:sp>
        </p:grpSp>
        <p:grpSp>
          <p:nvGrpSpPr>
            <p:cNvPr id="59" name="Group 58"/>
            <p:cNvGrpSpPr/>
            <p:nvPr/>
          </p:nvGrpSpPr>
          <p:grpSpPr>
            <a:xfrm>
              <a:off x="3286552" y="3399450"/>
              <a:ext cx="2453692" cy="1440714"/>
              <a:chOff x="2427157" y="0"/>
              <a:chExt cx="1450055" cy="1489276"/>
            </a:xfrm>
          </p:grpSpPr>
          <p:grpSp>
            <p:nvGrpSpPr>
              <p:cNvPr id="60" name="Group 59"/>
              <p:cNvGrpSpPr/>
              <p:nvPr/>
            </p:nvGrpSpPr>
            <p:grpSpPr>
              <a:xfrm>
                <a:off x="2427157" y="0"/>
                <a:ext cx="1450055" cy="1489276"/>
                <a:chOff x="2427157" y="0"/>
                <a:chExt cx="1842448" cy="1141272"/>
              </a:xfrm>
            </p:grpSpPr>
            <p:grpSp>
              <p:nvGrpSpPr>
                <p:cNvPr id="63" name="Group 62"/>
                <p:cNvGrpSpPr/>
                <p:nvPr/>
              </p:nvGrpSpPr>
              <p:grpSpPr>
                <a:xfrm>
                  <a:off x="2427157" y="0"/>
                  <a:ext cx="1842448" cy="1141272"/>
                  <a:chOff x="2427157" y="0"/>
                  <a:chExt cx="1842448" cy="1141272"/>
                </a:xfrm>
              </p:grpSpPr>
              <p:sp>
                <p:nvSpPr>
                  <p:cNvPr id="65" name="Rectangle 64"/>
                  <p:cNvSpPr/>
                  <p:nvPr/>
                </p:nvSpPr>
                <p:spPr>
                  <a:xfrm>
                    <a:off x="2427157" y="0"/>
                    <a:ext cx="1842448" cy="114127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cxnSp>
                <p:nvCxnSpPr>
                  <p:cNvPr id="66" name="Straight Connector 65"/>
                  <p:cNvCxnSpPr/>
                  <p:nvPr/>
                </p:nvCxnSpPr>
                <p:spPr>
                  <a:xfrm>
                    <a:off x="2427157" y="345868"/>
                    <a:ext cx="18424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4" name="TextBox 12"/>
                <p:cNvSpPr txBox="1"/>
                <p:nvPr/>
              </p:nvSpPr>
              <p:spPr>
                <a:xfrm>
                  <a:off x="2517616" y="66694"/>
                  <a:ext cx="1751989" cy="243808"/>
                </a:xfrm>
                <a:prstGeom prst="rect">
                  <a:avLst/>
                </a:prstGeom>
                <a:noFill/>
              </p:spPr>
              <p:txBody>
                <a:bodyPr wrap="square" rtlCol="0">
                  <a:spAutoFit/>
                </a:bodyPr>
                <a:lstStyle/>
                <a:p>
                  <a:pPr algn="ctr">
                    <a:spcAft>
                      <a:spcPts val="0"/>
                    </a:spcAft>
                  </a:pPr>
                  <a:r>
                    <a:rPr lang="en-US" sz="1400" b="1" kern="1200" dirty="0">
                      <a:solidFill>
                        <a:srgbClr val="000000"/>
                      </a:solidFill>
                      <a:effectLst/>
                      <a:latin typeface="Times New Roman" panose="02020603050405020304" pitchFamily="18" charset="0"/>
                      <a:ea typeface="Times New Roman" panose="02020603050405020304" pitchFamily="18" charset="0"/>
                    </a:rPr>
                    <a:t>TEXT PREPROCESSING</a:t>
                  </a:r>
                  <a:endParaRPr lang="en-IN" sz="1400" b="1" dirty="0">
                    <a:effectLst/>
                    <a:latin typeface="Times New Roman" panose="02020603050405020304" pitchFamily="18" charset="0"/>
                    <a:ea typeface="Times New Roman" panose="02020603050405020304" pitchFamily="18" charset="0"/>
                  </a:endParaRPr>
                </a:p>
              </p:txBody>
            </p:sp>
          </p:grpSp>
          <p:sp>
            <p:nvSpPr>
              <p:cNvPr id="61" name="TextBox 1"/>
              <p:cNvSpPr txBox="1"/>
              <p:nvPr/>
            </p:nvSpPr>
            <p:spPr>
              <a:xfrm>
                <a:off x="2498351" y="535465"/>
                <a:ext cx="1267460" cy="318151"/>
              </a:xfrm>
              <a:prstGeom prst="rect">
                <a:avLst/>
              </a:prstGeom>
              <a:noFill/>
            </p:spPr>
            <p:txBody>
              <a:bodyPr wrap="square" rtlCol="0">
                <a:spAutoFit/>
              </a:bodyPr>
              <a:lstStyle/>
              <a:p>
                <a:pPr algn="ctr">
                  <a:spcAft>
                    <a:spcPts val="0"/>
                  </a:spcAft>
                </a:pPr>
                <a:r>
                  <a:rPr lang="en-US" sz="1400" kern="1200" dirty="0">
                    <a:solidFill>
                      <a:srgbClr val="000000"/>
                    </a:solidFill>
                    <a:effectLst/>
                    <a:latin typeface="Times New Roman" panose="02020603050405020304" pitchFamily="18" charset="0"/>
                    <a:ea typeface="Times New Roman" panose="02020603050405020304" pitchFamily="18" charset="0"/>
                  </a:rPr>
                  <a:t>NLP ()</a:t>
                </a:r>
                <a:endParaRPr lang="en-IN" sz="1400" dirty="0">
                  <a:effectLst/>
                  <a:latin typeface="Times New Roman" panose="02020603050405020304" pitchFamily="18" charset="0"/>
                  <a:ea typeface="Times New Roman" panose="02020603050405020304" pitchFamily="18" charset="0"/>
                </a:endParaRPr>
              </a:p>
            </p:txBody>
          </p:sp>
          <p:sp>
            <p:nvSpPr>
              <p:cNvPr id="62" name="TextBox 2"/>
              <p:cNvSpPr txBox="1"/>
              <p:nvPr/>
            </p:nvSpPr>
            <p:spPr>
              <a:xfrm>
                <a:off x="2511208" y="828933"/>
                <a:ext cx="1241746" cy="540856"/>
              </a:xfrm>
              <a:prstGeom prst="rect">
                <a:avLst/>
              </a:prstGeom>
              <a:noFill/>
            </p:spPr>
            <p:txBody>
              <a:bodyPr wrap="square" rtlCol="0">
                <a:spAutoFit/>
              </a:bodyPr>
              <a:lstStyle/>
              <a:p>
                <a:pPr algn="ctr">
                  <a:spcAft>
                    <a:spcPts val="0"/>
                  </a:spcAft>
                </a:pPr>
                <a:r>
                  <a:rPr lang="en-US" sz="1400" kern="1200" dirty="0">
                    <a:solidFill>
                      <a:srgbClr val="000000"/>
                    </a:solidFill>
                    <a:effectLst/>
                    <a:latin typeface="Times New Roman" panose="02020603050405020304" pitchFamily="18" charset="0"/>
                    <a:ea typeface="Times New Roman" panose="02020603050405020304" pitchFamily="18" charset="0"/>
                  </a:rPr>
                  <a:t>Vectorization ()</a:t>
                </a:r>
              </a:p>
              <a:p>
                <a:pPr algn="ctr">
                  <a:spcAft>
                    <a:spcPts val="0"/>
                  </a:spcAft>
                </a:pPr>
                <a:endParaRPr lang="en-IN" sz="1400" dirty="0">
                  <a:effectLst/>
                  <a:latin typeface="Times New Roman" panose="02020603050405020304" pitchFamily="18" charset="0"/>
                  <a:ea typeface="Times New Roman" panose="02020603050405020304" pitchFamily="18" charset="0"/>
                </a:endParaRPr>
              </a:p>
            </p:txBody>
          </p:sp>
        </p:grpSp>
        <p:grpSp>
          <p:nvGrpSpPr>
            <p:cNvPr id="67" name="Group 66"/>
            <p:cNvGrpSpPr/>
            <p:nvPr/>
          </p:nvGrpSpPr>
          <p:grpSpPr>
            <a:xfrm>
              <a:off x="6070132" y="3397741"/>
              <a:ext cx="2453692" cy="1440714"/>
              <a:chOff x="2427157" y="0"/>
              <a:chExt cx="1450055" cy="1489276"/>
            </a:xfrm>
          </p:grpSpPr>
          <p:grpSp>
            <p:nvGrpSpPr>
              <p:cNvPr id="68" name="Group 67"/>
              <p:cNvGrpSpPr/>
              <p:nvPr/>
            </p:nvGrpSpPr>
            <p:grpSpPr>
              <a:xfrm>
                <a:off x="2427157" y="0"/>
                <a:ext cx="1450055" cy="1489276"/>
                <a:chOff x="2427157" y="0"/>
                <a:chExt cx="1842448" cy="1141272"/>
              </a:xfrm>
            </p:grpSpPr>
            <p:grpSp>
              <p:nvGrpSpPr>
                <p:cNvPr id="71" name="Group 70"/>
                <p:cNvGrpSpPr/>
                <p:nvPr/>
              </p:nvGrpSpPr>
              <p:grpSpPr>
                <a:xfrm>
                  <a:off x="2427157" y="0"/>
                  <a:ext cx="1842448" cy="1141272"/>
                  <a:chOff x="2427157" y="0"/>
                  <a:chExt cx="1842448" cy="1141272"/>
                </a:xfrm>
              </p:grpSpPr>
              <p:sp>
                <p:nvSpPr>
                  <p:cNvPr id="74" name="Rectangle 73"/>
                  <p:cNvSpPr/>
                  <p:nvPr/>
                </p:nvSpPr>
                <p:spPr>
                  <a:xfrm>
                    <a:off x="2427157" y="0"/>
                    <a:ext cx="1842448" cy="114127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cxnSp>
                <p:nvCxnSpPr>
                  <p:cNvPr id="75" name="Straight Connector 74"/>
                  <p:cNvCxnSpPr/>
                  <p:nvPr/>
                </p:nvCxnSpPr>
                <p:spPr>
                  <a:xfrm>
                    <a:off x="2427157" y="345868"/>
                    <a:ext cx="18424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2" name="TextBox 12"/>
                <p:cNvSpPr txBox="1"/>
                <p:nvPr/>
              </p:nvSpPr>
              <p:spPr>
                <a:xfrm>
                  <a:off x="2517616" y="66694"/>
                  <a:ext cx="1751989" cy="243808"/>
                </a:xfrm>
                <a:prstGeom prst="rect">
                  <a:avLst/>
                </a:prstGeom>
                <a:noFill/>
              </p:spPr>
              <p:txBody>
                <a:bodyPr wrap="square" rtlCol="0">
                  <a:spAutoFit/>
                </a:bodyPr>
                <a:lstStyle/>
                <a:p>
                  <a:pPr algn="ctr">
                    <a:spcAft>
                      <a:spcPts val="0"/>
                    </a:spcAft>
                  </a:pPr>
                  <a:r>
                    <a:rPr lang="en-US" sz="1400" b="1" kern="1200" dirty="0">
                      <a:solidFill>
                        <a:srgbClr val="000000"/>
                      </a:solidFill>
                      <a:effectLst/>
                      <a:latin typeface="Times New Roman" panose="02020603050405020304" pitchFamily="18" charset="0"/>
                      <a:ea typeface="Times New Roman" panose="02020603050405020304" pitchFamily="18" charset="0"/>
                    </a:rPr>
                    <a:t>CLASSIFICATION</a:t>
                  </a:r>
                  <a:endParaRPr lang="en-IN" sz="1400" b="1" dirty="0">
                    <a:effectLst/>
                    <a:latin typeface="Times New Roman" panose="02020603050405020304" pitchFamily="18" charset="0"/>
                    <a:ea typeface="Times New Roman" panose="02020603050405020304" pitchFamily="18" charset="0"/>
                  </a:endParaRPr>
                </a:p>
              </p:txBody>
            </p:sp>
          </p:grpSp>
          <p:sp>
            <p:nvSpPr>
              <p:cNvPr id="69" name="TextBox 1"/>
              <p:cNvSpPr txBox="1"/>
              <p:nvPr/>
            </p:nvSpPr>
            <p:spPr>
              <a:xfrm>
                <a:off x="2498351" y="535465"/>
                <a:ext cx="1267460" cy="318151"/>
              </a:xfrm>
              <a:prstGeom prst="rect">
                <a:avLst/>
              </a:prstGeom>
              <a:noFill/>
            </p:spPr>
            <p:txBody>
              <a:bodyPr wrap="square" rtlCol="0">
                <a:spAutoFit/>
              </a:bodyPr>
              <a:lstStyle/>
              <a:p>
                <a:pPr algn="ctr">
                  <a:spcAft>
                    <a:spcPts val="0"/>
                  </a:spcAft>
                </a:pPr>
                <a:r>
                  <a:rPr lang="en-US" sz="1400" kern="1200" dirty="0">
                    <a:solidFill>
                      <a:srgbClr val="000000"/>
                    </a:solidFill>
                    <a:effectLst/>
                    <a:latin typeface="Times New Roman" panose="02020603050405020304" pitchFamily="18" charset="0"/>
                    <a:ea typeface="Times New Roman" panose="02020603050405020304" pitchFamily="18" charset="0"/>
                  </a:rPr>
                  <a:t>LR ()</a:t>
                </a:r>
                <a:endParaRPr lang="en-IN" sz="1400" dirty="0">
                  <a:effectLst/>
                  <a:latin typeface="Times New Roman" panose="02020603050405020304" pitchFamily="18" charset="0"/>
                  <a:ea typeface="Times New Roman" panose="02020603050405020304" pitchFamily="18" charset="0"/>
                </a:endParaRPr>
              </a:p>
            </p:txBody>
          </p:sp>
          <p:sp>
            <p:nvSpPr>
              <p:cNvPr id="70" name="TextBox 2"/>
              <p:cNvSpPr txBox="1"/>
              <p:nvPr/>
            </p:nvSpPr>
            <p:spPr>
              <a:xfrm>
                <a:off x="2511208" y="828933"/>
                <a:ext cx="1241746" cy="540856"/>
              </a:xfrm>
              <a:prstGeom prst="rect">
                <a:avLst/>
              </a:prstGeom>
              <a:noFill/>
            </p:spPr>
            <p:txBody>
              <a:bodyPr wrap="square" rtlCol="0">
                <a:spAutoFit/>
              </a:bodyPr>
              <a:lstStyle/>
              <a:p>
                <a:pPr algn="ctr">
                  <a:spcAft>
                    <a:spcPts val="0"/>
                  </a:spcAft>
                </a:pPr>
                <a:r>
                  <a:rPr lang="en-US" sz="1400" kern="1200" dirty="0">
                    <a:solidFill>
                      <a:srgbClr val="000000"/>
                    </a:solidFill>
                    <a:effectLst/>
                    <a:latin typeface="Times New Roman" panose="02020603050405020304" pitchFamily="18" charset="0"/>
                    <a:ea typeface="Times New Roman" panose="02020603050405020304" pitchFamily="18" charset="0"/>
                  </a:rPr>
                  <a:t>Hybrid RF + DT ()</a:t>
                </a:r>
              </a:p>
              <a:p>
                <a:pPr algn="ctr">
                  <a:spcAft>
                    <a:spcPts val="0"/>
                  </a:spcAft>
                </a:pPr>
                <a:r>
                  <a:rPr lang="en-US" sz="1400" dirty="0">
                    <a:solidFill>
                      <a:srgbClr val="000000"/>
                    </a:solidFill>
                    <a:latin typeface="Times New Roman" panose="02020603050405020304" pitchFamily="18" charset="0"/>
                    <a:ea typeface="Times New Roman" panose="02020603050405020304" pitchFamily="18" charset="0"/>
                  </a:rPr>
                  <a:t>Prediction ()</a:t>
                </a:r>
                <a:endParaRPr lang="en-IN" sz="1400" dirty="0">
                  <a:effectLst/>
                  <a:latin typeface="Times New Roman" panose="02020603050405020304" pitchFamily="18" charset="0"/>
                  <a:ea typeface="Times New Roman" panose="02020603050405020304" pitchFamily="18" charset="0"/>
                </a:endParaRPr>
              </a:p>
            </p:txBody>
          </p:sp>
        </p:grpSp>
        <p:grpSp>
          <p:nvGrpSpPr>
            <p:cNvPr id="76" name="Group 75"/>
            <p:cNvGrpSpPr/>
            <p:nvPr/>
          </p:nvGrpSpPr>
          <p:grpSpPr>
            <a:xfrm>
              <a:off x="8878621" y="3397741"/>
              <a:ext cx="2453692" cy="1440714"/>
              <a:chOff x="2427157" y="0"/>
              <a:chExt cx="1450055" cy="1489276"/>
            </a:xfrm>
          </p:grpSpPr>
          <p:grpSp>
            <p:nvGrpSpPr>
              <p:cNvPr id="77" name="Group 76"/>
              <p:cNvGrpSpPr/>
              <p:nvPr/>
            </p:nvGrpSpPr>
            <p:grpSpPr>
              <a:xfrm>
                <a:off x="2427157" y="0"/>
                <a:ext cx="1450055" cy="1489276"/>
                <a:chOff x="2427157" y="0"/>
                <a:chExt cx="1842448" cy="1141272"/>
              </a:xfrm>
            </p:grpSpPr>
            <p:grpSp>
              <p:nvGrpSpPr>
                <p:cNvPr id="80" name="Group 79"/>
                <p:cNvGrpSpPr/>
                <p:nvPr/>
              </p:nvGrpSpPr>
              <p:grpSpPr>
                <a:xfrm>
                  <a:off x="2427157" y="0"/>
                  <a:ext cx="1842448" cy="1141272"/>
                  <a:chOff x="2427157" y="0"/>
                  <a:chExt cx="1842448" cy="1141272"/>
                </a:xfrm>
              </p:grpSpPr>
              <p:sp>
                <p:nvSpPr>
                  <p:cNvPr id="82" name="Rectangle 81"/>
                  <p:cNvSpPr/>
                  <p:nvPr/>
                </p:nvSpPr>
                <p:spPr>
                  <a:xfrm>
                    <a:off x="2427157" y="0"/>
                    <a:ext cx="1842448" cy="114127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p>
                </p:txBody>
              </p:sp>
              <p:cxnSp>
                <p:nvCxnSpPr>
                  <p:cNvPr id="83" name="Straight Connector 82"/>
                  <p:cNvCxnSpPr/>
                  <p:nvPr/>
                </p:nvCxnSpPr>
                <p:spPr>
                  <a:xfrm>
                    <a:off x="2427157" y="345868"/>
                    <a:ext cx="18424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1" name="TextBox 12"/>
                <p:cNvSpPr txBox="1"/>
                <p:nvPr/>
              </p:nvSpPr>
              <p:spPr>
                <a:xfrm>
                  <a:off x="2517616" y="66694"/>
                  <a:ext cx="1751989" cy="243808"/>
                </a:xfrm>
                <a:prstGeom prst="rect">
                  <a:avLst/>
                </a:prstGeom>
                <a:noFill/>
              </p:spPr>
              <p:txBody>
                <a:bodyPr wrap="square" rtlCol="0">
                  <a:spAutoFit/>
                </a:bodyPr>
                <a:lstStyle/>
                <a:p>
                  <a:pPr algn="ctr">
                    <a:spcAft>
                      <a:spcPts val="0"/>
                    </a:spcAft>
                  </a:pPr>
                  <a:r>
                    <a:rPr lang="en-US" sz="1400" b="1" kern="1200" dirty="0">
                      <a:solidFill>
                        <a:srgbClr val="000000"/>
                      </a:solidFill>
                      <a:effectLst/>
                      <a:latin typeface="Times New Roman" panose="02020603050405020304" pitchFamily="18" charset="0"/>
                      <a:ea typeface="Times New Roman" panose="02020603050405020304" pitchFamily="18" charset="0"/>
                    </a:rPr>
                    <a:t>PERFORMANCE</a:t>
                  </a:r>
                  <a:endParaRPr lang="en-IN" sz="1400" b="1" dirty="0">
                    <a:effectLst/>
                    <a:latin typeface="Times New Roman" panose="02020603050405020304" pitchFamily="18" charset="0"/>
                    <a:ea typeface="Times New Roman" panose="02020603050405020304" pitchFamily="18" charset="0"/>
                  </a:endParaRPr>
                </a:p>
              </p:txBody>
            </p:sp>
          </p:grpSp>
          <p:sp>
            <p:nvSpPr>
              <p:cNvPr id="78" name="TextBox 1"/>
              <p:cNvSpPr txBox="1"/>
              <p:nvPr/>
            </p:nvSpPr>
            <p:spPr>
              <a:xfrm>
                <a:off x="2498351" y="535465"/>
                <a:ext cx="1267460" cy="318151"/>
              </a:xfrm>
              <a:prstGeom prst="rect">
                <a:avLst/>
              </a:prstGeom>
              <a:noFill/>
            </p:spPr>
            <p:txBody>
              <a:bodyPr wrap="square" rtlCol="0">
                <a:spAutoFit/>
              </a:bodyPr>
              <a:lstStyle/>
              <a:p>
                <a:pPr algn="ctr">
                  <a:spcAft>
                    <a:spcPts val="0"/>
                  </a:spcAft>
                </a:pPr>
                <a:r>
                  <a:rPr lang="en-US" sz="1400" kern="1200" dirty="0">
                    <a:solidFill>
                      <a:srgbClr val="000000"/>
                    </a:solidFill>
                    <a:effectLst/>
                    <a:latin typeface="Times New Roman" panose="02020603050405020304" pitchFamily="18" charset="0"/>
                    <a:ea typeface="Times New Roman" panose="02020603050405020304" pitchFamily="18" charset="0"/>
                  </a:rPr>
                  <a:t>Accuracy  ()</a:t>
                </a:r>
                <a:endParaRPr lang="en-IN" sz="1400" dirty="0">
                  <a:effectLst/>
                  <a:latin typeface="Times New Roman" panose="02020603050405020304" pitchFamily="18" charset="0"/>
                  <a:ea typeface="Times New Roman" panose="02020603050405020304" pitchFamily="18" charset="0"/>
                </a:endParaRPr>
              </a:p>
            </p:txBody>
          </p:sp>
          <p:sp>
            <p:nvSpPr>
              <p:cNvPr id="79" name="TextBox 2"/>
              <p:cNvSpPr txBox="1"/>
              <p:nvPr/>
            </p:nvSpPr>
            <p:spPr>
              <a:xfrm>
                <a:off x="2511208" y="828933"/>
                <a:ext cx="1241746" cy="318151"/>
              </a:xfrm>
              <a:prstGeom prst="rect">
                <a:avLst/>
              </a:prstGeom>
              <a:noFill/>
            </p:spPr>
            <p:txBody>
              <a:bodyPr wrap="square" rtlCol="0">
                <a:spAutoFit/>
              </a:bodyPr>
              <a:lstStyle/>
              <a:p>
                <a:pPr algn="ctr">
                  <a:spcAft>
                    <a:spcPts val="0"/>
                  </a:spcAft>
                </a:pPr>
                <a:r>
                  <a:rPr lang="en-US" sz="1400" kern="1200" dirty="0">
                    <a:solidFill>
                      <a:srgbClr val="000000"/>
                    </a:solidFill>
                    <a:effectLst/>
                    <a:latin typeface="Times New Roman" panose="02020603050405020304" pitchFamily="18" charset="0"/>
                    <a:ea typeface="Times New Roman" panose="02020603050405020304" pitchFamily="18" charset="0"/>
                  </a:rPr>
                  <a:t>Error rate ()</a:t>
                </a:r>
              </a:p>
            </p:txBody>
          </p:sp>
        </p:grpSp>
        <p:cxnSp>
          <p:nvCxnSpPr>
            <p:cNvPr id="10" name="Straight Connector 9"/>
            <p:cNvCxnSpPr/>
            <p:nvPr/>
          </p:nvCxnSpPr>
          <p:spPr>
            <a:xfrm>
              <a:off x="1670891" y="2898400"/>
              <a:ext cx="0" cy="49934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10147313" y="2898399"/>
              <a:ext cx="0" cy="49934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1670891" y="2898399"/>
              <a:ext cx="84948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a:endCxn id="65" idx="0"/>
            </p:cNvCxnSpPr>
            <p:nvPr/>
          </p:nvCxnSpPr>
          <p:spPr>
            <a:xfrm flipH="1">
              <a:off x="4513398" y="2897545"/>
              <a:ext cx="13952" cy="50190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flipH="1">
              <a:off x="7242320" y="2881601"/>
              <a:ext cx="13952" cy="50190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Isosceles Triangle 16"/>
            <p:cNvSpPr/>
            <p:nvPr/>
          </p:nvSpPr>
          <p:spPr>
            <a:xfrm>
              <a:off x="5639900" y="2405472"/>
              <a:ext cx="210261" cy="222243"/>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9" name="Straight Connector 18"/>
            <p:cNvCxnSpPr/>
            <p:nvPr/>
          </p:nvCxnSpPr>
          <p:spPr>
            <a:xfrm>
              <a:off x="5758018" y="2618538"/>
              <a:ext cx="0" cy="2833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4287929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a:latin typeface="Times New Roman" panose="02020603050405020304" pitchFamily="18" charset="0"/>
                <a:cs typeface="Times New Roman" panose="02020603050405020304" pitchFamily="18" charset="0"/>
              </a:rPr>
              <a:t>Modules</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63639" y="1468192"/>
            <a:ext cx="11333409" cy="4945487"/>
          </a:xfrm>
        </p:spPr>
        <p:txBody>
          <a:bodyPr>
            <a:normAutofit/>
          </a:bodyPr>
          <a:lstStyle/>
          <a:p>
            <a:pPr lvl="0" algn="just">
              <a:lnSpc>
                <a:spcPct val="150000"/>
              </a:lnSpc>
            </a:pPr>
            <a:r>
              <a:rPr lang="en-IN" sz="2000" dirty="0">
                <a:latin typeface="Times New Roman" panose="02020603050405020304" pitchFamily="18" charset="0"/>
                <a:cs typeface="Times New Roman" panose="02020603050405020304" pitchFamily="18" charset="0"/>
              </a:rPr>
              <a:t>Data Selection</a:t>
            </a:r>
          </a:p>
          <a:p>
            <a:pPr lvl="0" algn="just">
              <a:lnSpc>
                <a:spcPct val="150000"/>
              </a:lnSpc>
            </a:pPr>
            <a:r>
              <a:rPr lang="en-IN" sz="2000" dirty="0">
                <a:latin typeface="Times New Roman" panose="02020603050405020304" pitchFamily="18" charset="0"/>
                <a:cs typeface="Times New Roman" panose="02020603050405020304" pitchFamily="18" charset="0"/>
              </a:rPr>
              <a:t>Data Pre-processing</a:t>
            </a:r>
          </a:p>
          <a:p>
            <a:pPr lvl="0" algn="just">
              <a:lnSpc>
                <a:spcPct val="150000"/>
              </a:lnSpc>
            </a:pPr>
            <a:r>
              <a:rPr lang="en-IN" sz="2000" dirty="0">
                <a:latin typeface="Times New Roman" panose="02020603050405020304" pitchFamily="18" charset="0"/>
                <a:cs typeface="Times New Roman" panose="02020603050405020304" pitchFamily="18" charset="0"/>
              </a:rPr>
              <a:t>Text Pre-processing</a:t>
            </a:r>
          </a:p>
          <a:p>
            <a:pPr lvl="0" algn="just">
              <a:lnSpc>
                <a:spcPct val="150000"/>
              </a:lnSpc>
            </a:pPr>
            <a:r>
              <a:rPr lang="en-IN" sz="2000" dirty="0">
                <a:latin typeface="Times New Roman" panose="02020603050405020304" pitchFamily="18" charset="0"/>
                <a:cs typeface="Times New Roman" panose="02020603050405020304" pitchFamily="18" charset="0"/>
              </a:rPr>
              <a:t>Vectorization</a:t>
            </a:r>
          </a:p>
          <a:p>
            <a:pPr lvl="0" algn="just">
              <a:lnSpc>
                <a:spcPct val="150000"/>
              </a:lnSpc>
            </a:pPr>
            <a:r>
              <a:rPr lang="en-IN" sz="2000" dirty="0">
                <a:latin typeface="Times New Roman" panose="02020603050405020304" pitchFamily="18" charset="0"/>
                <a:cs typeface="Times New Roman" panose="02020603050405020304" pitchFamily="18" charset="0"/>
              </a:rPr>
              <a:t>Data splitting</a:t>
            </a:r>
          </a:p>
          <a:p>
            <a:pPr lvl="0" algn="just">
              <a:lnSpc>
                <a:spcPct val="150000"/>
              </a:lnSpc>
            </a:pPr>
            <a:r>
              <a:rPr lang="en-IN" sz="2000" dirty="0">
                <a:latin typeface="Times New Roman" panose="02020603050405020304" pitchFamily="18" charset="0"/>
                <a:cs typeface="Times New Roman" panose="02020603050405020304" pitchFamily="18" charset="0"/>
              </a:rPr>
              <a:t>Classification</a:t>
            </a:r>
          </a:p>
          <a:p>
            <a:pPr lvl="0" algn="just">
              <a:lnSpc>
                <a:spcPct val="150000"/>
              </a:lnSpc>
            </a:pPr>
            <a:r>
              <a:rPr lang="en-IN" sz="2000" dirty="0">
                <a:latin typeface="Times New Roman" panose="02020603050405020304" pitchFamily="18" charset="0"/>
                <a:cs typeface="Times New Roman" panose="02020603050405020304" pitchFamily="18" charset="0"/>
              </a:rPr>
              <a:t>Estimate Performance</a:t>
            </a:r>
          </a:p>
          <a:p>
            <a:pPr lvl="0" algn="just">
              <a:lnSpc>
                <a:spcPct val="150000"/>
              </a:lnSpc>
            </a:pPr>
            <a:r>
              <a:rPr lang="en-IN" sz="2000" dirty="0">
                <a:latin typeface="Times New Roman" panose="02020603050405020304" pitchFamily="18" charset="0"/>
                <a:cs typeface="Times New Roman" panose="02020603050405020304" pitchFamily="18" charset="0"/>
              </a:rPr>
              <a:t>Prediction</a:t>
            </a:r>
          </a:p>
          <a:p>
            <a:pPr algn="just">
              <a:lnSpc>
                <a:spcPct val="150000"/>
              </a:lnSpc>
            </a:pPr>
            <a:endParaRPr lang="en-IN" sz="20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32264121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4350" y="2521471"/>
            <a:ext cx="11126053" cy="1325563"/>
          </a:xfrm>
        </p:spPr>
        <p:txBody>
          <a:bodyPr>
            <a:normAutofit/>
          </a:bodyPr>
          <a:lstStyle/>
          <a:p>
            <a:pPr algn="ctr"/>
            <a:r>
              <a:rPr lang="en-US" b="1" dirty="0">
                <a:latin typeface="Times New Roman" panose="02020603050405020304" pitchFamily="18" charset="0"/>
                <a:cs typeface="Times New Roman" panose="02020603050405020304" pitchFamily="18" charset="0"/>
              </a:rPr>
              <a:t>Modules description</a:t>
            </a:r>
            <a:endParaRPr lang="en-IN" b="1" dirty="0">
              <a:latin typeface="Times New Roman" panose="02020603050405020304" pitchFamily="18" charset="0"/>
              <a:cs typeface="Times New Roman" panose="02020603050405020304" pitchFamily="18" charset="0"/>
            </a:endParaRPr>
          </a:p>
        </p:txBody>
      </p:sp>
      <p:sp>
        <p:nvSpPr>
          <p:cNvPr id="3" name="Rectangle 2"/>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36513416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a:latin typeface="Times New Roman" panose="02020603050405020304" pitchFamily="18" charset="0"/>
                <a:cs typeface="Times New Roman" panose="02020603050405020304" pitchFamily="18" charset="0"/>
              </a:rPr>
              <a:t>Data Selection</a:t>
            </a:r>
          </a:p>
        </p:txBody>
      </p:sp>
      <p:sp>
        <p:nvSpPr>
          <p:cNvPr id="3" name="Content Placeholder 2"/>
          <p:cNvSpPr>
            <a:spLocks noGrp="1"/>
          </p:cNvSpPr>
          <p:nvPr>
            <p:ph idx="1"/>
          </p:nvPr>
        </p:nvSpPr>
        <p:spPr>
          <a:xfrm>
            <a:off x="553792" y="1812925"/>
            <a:ext cx="11217498" cy="4536360"/>
          </a:xfrm>
        </p:spPr>
        <p:txBody>
          <a:bodyPr>
            <a:normAutofit/>
          </a:bodyPr>
          <a:lstStyle/>
          <a:p>
            <a:pPr lvl="0" algn="just">
              <a:lnSpc>
                <a:spcPct val="150000"/>
              </a:lnSpc>
            </a:pPr>
            <a:r>
              <a:rPr lang="en-IN" sz="2000" dirty="0">
                <a:latin typeface="Times New Roman" panose="02020603050405020304" pitchFamily="18" charset="0"/>
                <a:cs typeface="Times New Roman" panose="02020603050405020304" pitchFamily="18" charset="0"/>
              </a:rPr>
              <a:t>The data for this study is sourced from the sentiment analysis dataset available on </a:t>
            </a:r>
            <a:r>
              <a:rPr lang="en-IN" sz="2000" dirty="0" err="1">
                <a:latin typeface="Times New Roman" panose="02020603050405020304" pitchFamily="18" charset="0"/>
                <a:cs typeface="Times New Roman" panose="02020603050405020304" pitchFamily="18" charset="0"/>
              </a:rPr>
              <a:t>Kaggle</a:t>
            </a:r>
            <a:r>
              <a:rPr lang="en-IN" sz="2000" dirty="0">
                <a:latin typeface="Times New Roman" panose="02020603050405020304" pitchFamily="18" charset="0"/>
                <a:cs typeface="Times New Roman" panose="02020603050405020304" pitchFamily="18" charset="0"/>
              </a:rPr>
              <a:t>. </a:t>
            </a:r>
          </a:p>
          <a:p>
            <a:pPr lvl="0" algn="just">
              <a:lnSpc>
                <a:spcPct val="150000"/>
              </a:lnSpc>
            </a:pPr>
            <a:r>
              <a:rPr lang="en-IN" sz="2000" dirty="0">
                <a:latin typeface="Times New Roman" panose="02020603050405020304" pitchFamily="18" charset="0"/>
                <a:cs typeface="Times New Roman" panose="02020603050405020304" pitchFamily="18" charset="0"/>
              </a:rPr>
              <a:t>This dataset contains user comments along with corresponding labels (fake/ real), which are essential for understanding user reactions. </a:t>
            </a:r>
          </a:p>
          <a:p>
            <a:pPr lvl="0" algn="just">
              <a:lnSpc>
                <a:spcPct val="150000"/>
              </a:lnSpc>
            </a:pPr>
            <a:r>
              <a:rPr lang="en-IN" sz="2000" dirty="0">
                <a:latin typeface="Times New Roman" panose="02020603050405020304" pitchFamily="18" charset="0"/>
                <a:cs typeface="Times New Roman" panose="02020603050405020304" pitchFamily="18" charset="0"/>
              </a:rPr>
              <a:t>Here we can fetch or read or load the collected data by using the panda’s packages.</a:t>
            </a:r>
          </a:p>
          <a:p>
            <a:pPr lvl="0" algn="just">
              <a:lnSpc>
                <a:spcPct val="150000"/>
              </a:lnSpc>
            </a:pPr>
            <a:r>
              <a:rPr lang="en-IN" sz="2000" dirty="0">
                <a:latin typeface="Times New Roman" panose="02020603050405020304" pitchFamily="18" charset="0"/>
                <a:cs typeface="Times New Roman" panose="02020603050405020304" pitchFamily="18" charset="0"/>
              </a:rPr>
              <a:t>Our dataset, is in the form of ‘.</a:t>
            </a:r>
            <a:r>
              <a:rPr lang="en-IN" sz="2000" dirty="0" err="1">
                <a:latin typeface="Times New Roman" panose="02020603050405020304" pitchFamily="18" charset="0"/>
                <a:cs typeface="Times New Roman" panose="02020603050405020304" pitchFamily="18" charset="0"/>
              </a:rPr>
              <a:t>csv</a:t>
            </a:r>
            <a:r>
              <a:rPr lang="en-IN" sz="2000" dirty="0">
                <a:latin typeface="Times New Roman" panose="02020603050405020304" pitchFamily="18" charset="0"/>
                <a:cs typeface="Times New Roman" panose="02020603050405020304" pitchFamily="18" charset="0"/>
              </a:rPr>
              <a:t>’ file extension.</a:t>
            </a: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21459585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a:latin typeface="Times New Roman" panose="02020603050405020304" pitchFamily="18" charset="0"/>
                <a:cs typeface="Times New Roman" panose="02020603050405020304" pitchFamily="18" charset="0"/>
              </a:rPr>
              <a:t>Data Pre-Processing</a:t>
            </a:r>
          </a:p>
        </p:txBody>
      </p:sp>
      <p:sp>
        <p:nvSpPr>
          <p:cNvPr id="3" name="Content Placeholder 2"/>
          <p:cNvSpPr>
            <a:spLocks noGrp="1"/>
          </p:cNvSpPr>
          <p:nvPr>
            <p:ph idx="1"/>
          </p:nvPr>
        </p:nvSpPr>
        <p:spPr>
          <a:xfrm>
            <a:off x="489397" y="1690689"/>
            <a:ext cx="11230378" cy="4710112"/>
          </a:xfrm>
        </p:spPr>
        <p:txBody>
          <a:bodyPr>
            <a:normAutofit/>
          </a:bodyPr>
          <a:lstStyle/>
          <a:p>
            <a:pPr lvl="0" algn="just">
              <a:lnSpc>
                <a:spcPct val="150000"/>
              </a:lnSpc>
            </a:pPr>
            <a:r>
              <a:rPr lang="en-IN" sz="2000" dirty="0">
                <a:latin typeface="Times New Roman" panose="02020603050405020304" pitchFamily="18" charset="0"/>
                <a:cs typeface="Times New Roman" panose="02020603050405020304" pitchFamily="18" charset="0"/>
              </a:rPr>
              <a:t>Data pre-processing is a crucial step to ensure the dataset is clean and ready for analysis. </a:t>
            </a:r>
          </a:p>
          <a:p>
            <a:pPr lvl="0" algn="just">
              <a:lnSpc>
                <a:spcPct val="150000"/>
              </a:lnSpc>
            </a:pPr>
            <a:r>
              <a:rPr lang="en-IN" sz="2000" b="1" dirty="0">
                <a:latin typeface="Times New Roman" panose="02020603050405020304" pitchFamily="18" charset="0"/>
                <a:cs typeface="Times New Roman" panose="02020603050405020304" pitchFamily="18" charset="0"/>
              </a:rPr>
              <a:t>Handling Missing Values</a:t>
            </a:r>
            <a:r>
              <a:rPr lang="en-IN" sz="2000" dirty="0">
                <a:latin typeface="Times New Roman" panose="02020603050405020304" pitchFamily="18" charset="0"/>
                <a:cs typeface="Times New Roman" panose="02020603050405020304" pitchFamily="18" charset="0"/>
              </a:rPr>
              <a:t>: Missing values in the dataset can lead to inaccuracies in the analysis.</a:t>
            </a:r>
          </a:p>
          <a:p>
            <a:pPr lvl="0" algn="just">
              <a:lnSpc>
                <a:spcPct val="150000"/>
              </a:lnSpc>
            </a:pPr>
            <a:r>
              <a:rPr lang="en-IN" sz="2000" dirty="0">
                <a:latin typeface="Times New Roman" panose="02020603050405020304" pitchFamily="18" charset="0"/>
                <a:cs typeface="Times New Roman" panose="02020603050405020304" pitchFamily="18" charset="0"/>
              </a:rPr>
              <a:t> Methods such as imputation (replacing missing values with mean, median, or mode) or removal of records with missing values are employed to handle these gaps in the data.</a:t>
            </a:r>
          </a:p>
          <a:p>
            <a:pPr lvl="0" algn="just">
              <a:lnSpc>
                <a:spcPct val="150000"/>
              </a:lnSpc>
            </a:pPr>
            <a:r>
              <a:rPr lang="en-IN" sz="2000" b="1" dirty="0">
                <a:latin typeface="Times New Roman" panose="02020603050405020304" pitchFamily="18" charset="0"/>
                <a:cs typeface="Times New Roman" panose="02020603050405020304" pitchFamily="18" charset="0"/>
              </a:rPr>
              <a:t>Label Encoding</a:t>
            </a:r>
            <a:r>
              <a:rPr lang="en-IN" sz="2000" dirty="0">
                <a:latin typeface="Times New Roman" panose="02020603050405020304" pitchFamily="18" charset="0"/>
                <a:cs typeface="Times New Roman" panose="02020603050405020304" pitchFamily="18" charset="0"/>
              </a:rPr>
              <a:t>: To convert categorical variables (such as gender and emotions) into numerical format, label encoding is used. </a:t>
            </a:r>
          </a:p>
          <a:p>
            <a:pPr lvl="0" algn="just">
              <a:lnSpc>
                <a:spcPct val="150000"/>
              </a:lnSpc>
            </a:pPr>
            <a:r>
              <a:rPr lang="en-IN" sz="2000" dirty="0">
                <a:latin typeface="Times New Roman" panose="02020603050405020304" pitchFamily="18" charset="0"/>
                <a:cs typeface="Times New Roman" panose="02020603050405020304" pitchFamily="18" charset="0"/>
              </a:rPr>
              <a:t>This process assigns a unique integer to each category, enabling machine learning algorithms to process these variables effectively.</a:t>
            </a: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8292680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a:latin typeface="Times New Roman" panose="02020603050405020304" pitchFamily="18" charset="0"/>
                <a:cs typeface="Times New Roman" panose="02020603050405020304" pitchFamily="18" charset="0"/>
              </a:rPr>
              <a:t>Text Preprocessing</a:t>
            </a:r>
          </a:p>
        </p:txBody>
      </p:sp>
      <p:sp>
        <p:nvSpPr>
          <p:cNvPr id="3" name="Content Placeholder 2"/>
          <p:cNvSpPr>
            <a:spLocks noGrp="1"/>
          </p:cNvSpPr>
          <p:nvPr>
            <p:ph idx="1"/>
          </p:nvPr>
        </p:nvSpPr>
        <p:spPr>
          <a:xfrm>
            <a:off x="489397" y="1390918"/>
            <a:ext cx="11320530" cy="5125792"/>
          </a:xfrm>
        </p:spPr>
        <p:txBody>
          <a:bodyPr>
            <a:noAutofit/>
          </a:bodyPr>
          <a:lstStyle/>
          <a:p>
            <a:pPr lvl="0" algn="just">
              <a:lnSpc>
                <a:spcPct val="150000"/>
              </a:lnSpc>
            </a:pPr>
            <a:r>
              <a:rPr lang="en-IN" sz="2000" dirty="0">
                <a:latin typeface="Times New Roman" panose="02020603050405020304" pitchFamily="18" charset="0"/>
                <a:cs typeface="Times New Roman" panose="02020603050405020304" pitchFamily="18" charset="0"/>
              </a:rPr>
              <a:t>In this step, we can implement the different Natural Language Processing techniques.</a:t>
            </a:r>
          </a:p>
          <a:p>
            <a:pPr lvl="0" algn="just">
              <a:lnSpc>
                <a:spcPct val="150000"/>
              </a:lnSpc>
            </a:pPr>
            <a:r>
              <a:rPr lang="en-IN" sz="2000" b="1" dirty="0">
                <a:latin typeface="Times New Roman" panose="02020603050405020304" pitchFamily="18" charset="0"/>
                <a:cs typeface="Times New Roman" panose="02020603050405020304" pitchFamily="18" charset="0"/>
              </a:rPr>
              <a:t>NLP</a:t>
            </a:r>
            <a:r>
              <a:rPr lang="en-IN" sz="2000" dirty="0">
                <a:latin typeface="Times New Roman" panose="02020603050405020304" pitchFamily="18" charset="0"/>
                <a:cs typeface="Times New Roman" panose="02020603050405020304" pitchFamily="18" charset="0"/>
              </a:rPr>
              <a:t> is a field in machine learning with the ability of a computer to understand, </a:t>
            </a:r>
            <a:r>
              <a:rPr lang="en-IN" sz="2000" dirty="0" err="1">
                <a:latin typeface="Times New Roman" panose="02020603050405020304" pitchFamily="18" charset="0"/>
                <a:cs typeface="Times New Roman" panose="02020603050405020304" pitchFamily="18" charset="0"/>
              </a:rPr>
              <a:t>analyze</a:t>
            </a:r>
            <a:r>
              <a:rPr lang="en-IN" sz="2000" dirty="0">
                <a:latin typeface="Times New Roman" panose="02020603050405020304" pitchFamily="18" charset="0"/>
                <a:cs typeface="Times New Roman" panose="02020603050405020304" pitchFamily="18" charset="0"/>
              </a:rPr>
              <a:t>, manipulate, and potentially generate human language. Cleaning (or pre-processing) the data typically consists of a number of steps: </a:t>
            </a:r>
          </a:p>
          <a:p>
            <a:pPr lvl="0" algn="just">
              <a:lnSpc>
                <a:spcPct val="150000"/>
              </a:lnSpc>
            </a:pPr>
            <a:r>
              <a:rPr lang="en-IN" sz="2000" b="1" dirty="0">
                <a:latin typeface="Times New Roman" panose="02020603050405020304" pitchFamily="18" charset="0"/>
                <a:cs typeface="Times New Roman" panose="02020603050405020304" pitchFamily="18" charset="0"/>
              </a:rPr>
              <a:t>Remove punctuation</a:t>
            </a:r>
            <a:r>
              <a:rPr lang="en-IN" sz="2000" dirty="0">
                <a:latin typeface="Times New Roman" panose="02020603050405020304" pitchFamily="18" charset="0"/>
                <a:cs typeface="Times New Roman" panose="02020603050405020304" pitchFamily="18" charset="0"/>
              </a:rPr>
              <a:t>: Punctuation can provide grammatical context to a sentence which supports our understanding. </a:t>
            </a:r>
          </a:p>
          <a:p>
            <a:pPr lvl="0" algn="just">
              <a:lnSpc>
                <a:spcPct val="150000"/>
              </a:lnSpc>
            </a:pPr>
            <a:r>
              <a:rPr lang="en-IN" sz="2000" dirty="0">
                <a:latin typeface="Times New Roman" panose="02020603050405020304" pitchFamily="18" charset="0"/>
                <a:cs typeface="Times New Roman" panose="02020603050405020304" pitchFamily="18" charset="0"/>
              </a:rPr>
              <a:t>But for our </a:t>
            </a:r>
            <a:r>
              <a:rPr lang="en-IN" sz="2000" dirty="0" err="1">
                <a:latin typeface="Times New Roman" panose="02020603050405020304" pitchFamily="18" charset="0"/>
                <a:cs typeface="Times New Roman" panose="02020603050405020304" pitchFamily="18" charset="0"/>
              </a:rPr>
              <a:t>vectorizer</a:t>
            </a:r>
            <a:r>
              <a:rPr lang="en-IN" sz="2000" dirty="0">
                <a:latin typeface="Times New Roman" panose="02020603050405020304" pitchFamily="18" charset="0"/>
                <a:cs typeface="Times New Roman" panose="02020603050405020304" pitchFamily="18" charset="0"/>
              </a:rPr>
              <a:t> which counts the number of words and not the context, it does not add value, so we remove all special characters. </a:t>
            </a:r>
            <a:r>
              <a:rPr lang="en-IN" sz="2000" dirty="0" err="1">
                <a:latin typeface="Times New Roman" panose="02020603050405020304" pitchFamily="18" charset="0"/>
                <a:cs typeface="Times New Roman" panose="02020603050405020304" pitchFamily="18" charset="0"/>
              </a:rPr>
              <a:t>eg</a:t>
            </a:r>
            <a:r>
              <a:rPr lang="en-IN" sz="2000" dirty="0">
                <a:latin typeface="Times New Roman" panose="02020603050405020304" pitchFamily="18" charset="0"/>
                <a:cs typeface="Times New Roman" panose="02020603050405020304" pitchFamily="18" charset="0"/>
              </a:rPr>
              <a:t>: How are you?-&gt;How are you.</a:t>
            </a:r>
          </a:p>
          <a:p>
            <a:pPr lvl="0" algn="just">
              <a:lnSpc>
                <a:spcPct val="150000"/>
              </a:lnSpc>
            </a:pPr>
            <a:r>
              <a:rPr lang="en-IN" sz="2000" b="1" dirty="0">
                <a:latin typeface="Times New Roman" panose="02020603050405020304" pitchFamily="18" charset="0"/>
                <a:cs typeface="Times New Roman" panose="02020603050405020304" pitchFamily="18" charset="0"/>
              </a:rPr>
              <a:t>Tokenization</a:t>
            </a:r>
            <a:r>
              <a:rPr lang="en-IN" sz="2000" dirty="0">
                <a:latin typeface="Times New Roman" panose="02020603050405020304" pitchFamily="18" charset="0"/>
                <a:cs typeface="Times New Roman" panose="02020603050405020304" pitchFamily="18" charset="0"/>
              </a:rPr>
              <a:t>: Tokenizing separates text into units such as sentences or words. It gives structure to previously unstructured text. </a:t>
            </a:r>
            <a:r>
              <a:rPr lang="en-IN" sz="2000" dirty="0" err="1">
                <a:latin typeface="Times New Roman" panose="02020603050405020304" pitchFamily="18" charset="0"/>
                <a:cs typeface="Times New Roman" panose="02020603050405020304" pitchFamily="18" charset="0"/>
              </a:rPr>
              <a:t>eg</a:t>
            </a:r>
            <a:r>
              <a:rPr lang="en-IN" sz="2000" dirty="0">
                <a:latin typeface="Times New Roman" panose="02020603050405020304" pitchFamily="18" charset="0"/>
                <a:cs typeface="Times New Roman" panose="02020603050405020304" pitchFamily="18" charset="0"/>
              </a:rPr>
              <a:t>: Plata o </a:t>
            </a:r>
            <a:r>
              <a:rPr lang="en-IN" sz="2000" dirty="0" err="1">
                <a:latin typeface="Times New Roman" panose="02020603050405020304" pitchFamily="18" charset="0"/>
                <a:cs typeface="Times New Roman" panose="02020603050405020304" pitchFamily="18" charset="0"/>
              </a:rPr>
              <a:t>Plomo</a:t>
            </a:r>
            <a:r>
              <a:rPr lang="en-IN" sz="2000" dirty="0">
                <a:latin typeface="Times New Roman" panose="02020603050405020304" pitchFamily="18" charset="0"/>
                <a:cs typeface="Times New Roman" panose="02020603050405020304" pitchFamily="18" charset="0"/>
              </a:rPr>
              <a:t>-&gt; ‘Plata’,’o’,’</a:t>
            </a:r>
            <a:r>
              <a:rPr lang="en-IN" sz="2000" dirty="0" err="1">
                <a:latin typeface="Times New Roman" panose="02020603050405020304" pitchFamily="18" charset="0"/>
                <a:cs typeface="Times New Roman" panose="02020603050405020304" pitchFamily="18" charset="0"/>
              </a:rPr>
              <a:t>Plomo</a:t>
            </a:r>
            <a:r>
              <a:rPr lang="en-IN" sz="2000" dirty="0">
                <a:latin typeface="Times New Roman" panose="02020603050405020304" pitchFamily="18" charset="0"/>
                <a:cs typeface="Times New Roman" panose="02020603050405020304" pitchFamily="18" charset="0"/>
              </a:rPr>
              <a:t>’.</a:t>
            </a: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3881233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a:latin typeface="Times New Roman" panose="02020603050405020304" pitchFamily="18" charset="0"/>
                <a:cs typeface="Times New Roman" panose="02020603050405020304" pitchFamily="18" charset="0"/>
              </a:rPr>
              <a:t>Text Preprocessing</a:t>
            </a:r>
          </a:p>
        </p:txBody>
      </p:sp>
      <p:sp>
        <p:nvSpPr>
          <p:cNvPr id="3" name="Content Placeholder 2"/>
          <p:cNvSpPr>
            <a:spLocks noGrp="1"/>
          </p:cNvSpPr>
          <p:nvPr>
            <p:ph idx="1"/>
          </p:nvPr>
        </p:nvSpPr>
        <p:spPr>
          <a:xfrm>
            <a:off x="489397" y="1390918"/>
            <a:ext cx="11320530" cy="5125792"/>
          </a:xfrm>
        </p:spPr>
        <p:txBody>
          <a:bodyPr>
            <a:noAutofit/>
          </a:bodyPr>
          <a:lstStyle/>
          <a:p>
            <a:pPr lvl="0" algn="just">
              <a:lnSpc>
                <a:spcPct val="150000"/>
              </a:lnSpc>
            </a:pPr>
            <a:r>
              <a:rPr lang="en-IN" sz="2000" b="1" dirty="0">
                <a:latin typeface="Times New Roman" panose="02020603050405020304" pitchFamily="18" charset="0"/>
                <a:cs typeface="Times New Roman" panose="02020603050405020304" pitchFamily="18" charset="0"/>
              </a:rPr>
              <a:t>Remove </a:t>
            </a:r>
            <a:r>
              <a:rPr lang="en-IN" sz="2000" b="1" dirty="0" err="1">
                <a:latin typeface="Times New Roman" panose="02020603050405020304" pitchFamily="18" charset="0"/>
                <a:cs typeface="Times New Roman" panose="02020603050405020304" pitchFamily="18" charset="0"/>
              </a:rPr>
              <a:t>stopwords</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Stopwords</a:t>
            </a:r>
            <a:r>
              <a:rPr lang="en-IN" sz="2000" dirty="0">
                <a:latin typeface="Times New Roman" panose="02020603050405020304" pitchFamily="18" charset="0"/>
                <a:cs typeface="Times New Roman" panose="02020603050405020304" pitchFamily="18" charset="0"/>
              </a:rPr>
              <a:t> are common words that will likely appear in any text. They don’t tell us much about our data so we remove them. e.g.: silver or lead is fine for me-&gt; silver, lead, fine.</a:t>
            </a:r>
          </a:p>
          <a:p>
            <a:pPr lvl="0" algn="just">
              <a:lnSpc>
                <a:spcPct val="150000"/>
              </a:lnSpc>
            </a:pPr>
            <a:r>
              <a:rPr lang="en-IN" sz="2000" b="1" dirty="0">
                <a:latin typeface="Times New Roman" panose="02020603050405020304" pitchFamily="18" charset="0"/>
                <a:cs typeface="Times New Roman" panose="02020603050405020304" pitchFamily="18" charset="0"/>
              </a:rPr>
              <a:t>Stemming</a:t>
            </a:r>
            <a:r>
              <a:rPr lang="en-IN" sz="2000" dirty="0">
                <a:latin typeface="Times New Roman" panose="02020603050405020304" pitchFamily="18" charset="0"/>
                <a:cs typeface="Times New Roman" panose="02020603050405020304" pitchFamily="18" charset="0"/>
              </a:rPr>
              <a:t>: Stemming helps reduce a word to its stem form. It often makes sense to treat related words in the same way. It removes suffices, like “</a:t>
            </a:r>
            <a:r>
              <a:rPr lang="en-IN" sz="2000" dirty="0" err="1">
                <a:latin typeface="Times New Roman" panose="02020603050405020304" pitchFamily="18" charset="0"/>
                <a:cs typeface="Times New Roman" panose="02020603050405020304" pitchFamily="18" charset="0"/>
              </a:rPr>
              <a:t>ing</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ly</a:t>
            </a:r>
            <a:r>
              <a:rPr lang="en-IN" sz="2000" dirty="0">
                <a:latin typeface="Times New Roman" panose="02020603050405020304" pitchFamily="18" charset="0"/>
                <a:cs typeface="Times New Roman" panose="02020603050405020304" pitchFamily="18" charset="0"/>
              </a:rPr>
              <a:t>”, “s”, etc. by a simple rule-based approach.</a:t>
            </a: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250660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a:latin typeface="Times New Roman" panose="02020603050405020304" pitchFamily="18" charset="0"/>
                <a:cs typeface="Times New Roman" panose="02020603050405020304" pitchFamily="18" charset="0"/>
              </a:rPr>
              <a:t>Vectorization</a:t>
            </a:r>
          </a:p>
        </p:txBody>
      </p:sp>
      <p:sp>
        <p:nvSpPr>
          <p:cNvPr id="3" name="Content Placeholder 2"/>
          <p:cNvSpPr>
            <a:spLocks noGrp="1"/>
          </p:cNvSpPr>
          <p:nvPr>
            <p:ph idx="1"/>
          </p:nvPr>
        </p:nvSpPr>
        <p:spPr>
          <a:xfrm>
            <a:off x="386367" y="1352282"/>
            <a:ext cx="11372044" cy="5048518"/>
          </a:xfrm>
        </p:spPr>
        <p:txBody>
          <a:bodyPr>
            <a:noAutofit/>
          </a:bodyPr>
          <a:lstStyle/>
          <a:p>
            <a:pPr lvl="0" algn="just">
              <a:lnSpc>
                <a:spcPct val="150000"/>
              </a:lnSpc>
            </a:pPr>
            <a:r>
              <a:rPr lang="en-IN" sz="2000" dirty="0">
                <a:latin typeface="Times New Roman" panose="02020603050405020304" pitchFamily="18" charset="0"/>
                <a:cs typeface="Times New Roman" panose="02020603050405020304" pitchFamily="18" charset="0"/>
              </a:rPr>
              <a:t>In this step, we can implement the different </a:t>
            </a:r>
            <a:r>
              <a:rPr lang="en-IN" sz="2000" dirty="0" err="1">
                <a:latin typeface="Times New Roman" panose="02020603050405020304" pitchFamily="18" charset="0"/>
                <a:cs typeface="Times New Roman" panose="02020603050405020304" pitchFamily="18" charset="0"/>
              </a:rPr>
              <a:t>vectorization</a:t>
            </a:r>
            <a:r>
              <a:rPr lang="en-IN" sz="2000" dirty="0">
                <a:latin typeface="Times New Roman" panose="02020603050405020304" pitchFamily="18" charset="0"/>
                <a:cs typeface="Times New Roman" panose="02020603050405020304" pitchFamily="18" charset="0"/>
              </a:rPr>
              <a:t> method such as count </a:t>
            </a:r>
            <a:r>
              <a:rPr lang="en-IN" sz="2000" dirty="0" err="1">
                <a:latin typeface="Times New Roman" panose="02020603050405020304" pitchFamily="18" charset="0"/>
                <a:cs typeface="Times New Roman" panose="02020603050405020304" pitchFamily="18" charset="0"/>
              </a:rPr>
              <a:t>vectorization</a:t>
            </a:r>
            <a:r>
              <a:rPr lang="en-IN" sz="2000" dirty="0">
                <a:latin typeface="Times New Roman" panose="02020603050405020304" pitchFamily="18" charset="0"/>
                <a:cs typeface="Times New Roman" panose="02020603050405020304" pitchFamily="18" charset="0"/>
              </a:rPr>
              <a:t>.</a:t>
            </a:r>
          </a:p>
          <a:p>
            <a:pPr lvl="0" algn="just">
              <a:lnSpc>
                <a:spcPct val="150000"/>
              </a:lnSpc>
            </a:pPr>
            <a:r>
              <a:rPr lang="en-IN" sz="2000" dirty="0" err="1">
                <a:latin typeface="Times New Roman" panose="02020603050405020304" pitchFamily="18" charset="0"/>
                <a:cs typeface="Times New Roman" panose="02020603050405020304" pitchFamily="18" charset="0"/>
              </a:rPr>
              <a:t>Vectorizing</a:t>
            </a:r>
            <a:r>
              <a:rPr lang="en-IN" sz="2000" dirty="0">
                <a:latin typeface="Times New Roman" panose="02020603050405020304" pitchFamily="18" charset="0"/>
                <a:cs typeface="Times New Roman" panose="02020603050405020304" pitchFamily="18" charset="0"/>
              </a:rPr>
              <a:t> is the process of encoding text as integer’s i.e. numeric form to create feature vectors so that machine learning algorithms can understand our data.</a:t>
            </a:r>
          </a:p>
          <a:p>
            <a:pPr lvl="0" algn="just">
              <a:lnSpc>
                <a:spcPct val="150000"/>
              </a:lnSpc>
            </a:pPr>
            <a:r>
              <a:rPr lang="en-IN" sz="2000" dirty="0">
                <a:latin typeface="Times New Roman" panose="02020603050405020304" pitchFamily="18" charset="0"/>
                <a:cs typeface="Times New Roman" panose="02020603050405020304" pitchFamily="18" charset="0"/>
              </a:rPr>
              <a:t>Both are methods for converting text data into vectors as model can process only numerical data.</a:t>
            </a:r>
          </a:p>
          <a:p>
            <a:pPr lvl="0" algn="just">
              <a:lnSpc>
                <a:spcPct val="150000"/>
              </a:lnSpc>
            </a:pPr>
            <a:r>
              <a:rPr lang="en-IN" sz="2000" b="1" dirty="0" err="1">
                <a:latin typeface="Times New Roman" panose="02020603050405020304" pitchFamily="18" charset="0"/>
                <a:cs typeface="Times New Roman" panose="02020603050405020304" pitchFamily="18" charset="0"/>
              </a:rPr>
              <a:t>CountVectorizer</a:t>
            </a:r>
            <a:r>
              <a:rPr lang="en-IN" sz="2000" dirty="0">
                <a:latin typeface="Times New Roman" panose="02020603050405020304" pitchFamily="18" charset="0"/>
                <a:cs typeface="Times New Roman" panose="02020603050405020304" pitchFamily="18" charset="0"/>
              </a:rPr>
              <a:t> creates a matrix in which each unique word is represented by a column of the matrix, and each text sample from the document is a row in the matrix. The value of each cell is nothing but the count of the word in that particular text sample.</a:t>
            </a:r>
          </a:p>
          <a:p>
            <a:pPr lvl="0" algn="just">
              <a:lnSpc>
                <a:spcPct val="150000"/>
              </a:lnSpc>
            </a:pPr>
            <a:r>
              <a:rPr lang="en-IN" sz="2000" dirty="0">
                <a:latin typeface="Times New Roman" panose="02020603050405020304" pitchFamily="18" charset="0"/>
                <a:cs typeface="Times New Roman" panose="02020603050405020304" pitchFamily="18" charset="0"/>
              </a:rPr>
              <a:t>The value of each cell is nothing but the count of the word in that particular text </a:t>
            </a:r>
            <a:r>
              <a:rPr lang="en-IN" sz="2000" dirty="0" err="1">
                <a:latin typeface="Times New Roman" panose="02020603050405020304" pitchFamily="18" charset="0"/>
                <a:cs typeface="Times New Roman" panose="02020603050405020304" pitchFamily="18" charset="0"/>
              </a:rPr>
              <a:t>sample.This</a:t>
            </a:r>
            <a:r>
              <a:rPr lang="en-IN" sz="2000" dirty="0">
                <a:latin typeface="Times New Roman" panose="02020603050405020304" pitchFamily="18" charset="0"/>
                <a:cs typeface="Times New Roman" panose="02020603050405020304" pitchFamily="18" charset="0"/>
              </a:rPr>
              <a:t> technique converts the text into a matrix of token counts. Each word in the text is represented as a feature, and the frequency of each word in the text is captured in the matrix. </a:t>
            </a:r>
          </a:p>
          <a:p>
            <a:pPr lvl="0" algn="just">
              <a:lnSpc>
                <a:spcPct val="150000"/>
              </a:lnSpc>
            </a:pPr>
            <a:endParaRPr lang="en-IN" sz="2000" dirty="0">
              <a:latin typeface="Times New Roman" panose="02020603050405020304" pitchFamily="18" charset="0"/>
              <a:cs typeface="Times New Roman" panose="02020603050405020304" pitchFamily="18" charset="0"/>
            </a:endParaRPr>
          </a:p>
          <a:p>
            <a:pPr lvl="0" algn="just">
              <a:lnSpc>
                <a:spcPct val="150000"/>
              </a:lnSpc>
            </a:pPr>
            <a:endParaRPr lang="en-IN" sz="20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30714983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a:latin typeface="Times New Roman" panose="02020603050405020304" pitchFamily="18" charset="0"/>
                <a:cs typeface="Times New Roman" panose="02020603050405020304" pitchFamily="18" charset="0"/>
              </a:rPr>
              <a:t>Data Splitting</a:t>
            </a:r>
          </a:p>
        </p:txBody>
      </p:sp>
      <p:sp>
        <p:nvSpPr>
          <p:cNvPr id="3" name="Content Placeholder 2"/>
          <p:cNvSpPr>
            <a:spLocks noGrp="1"/>
          </p:cNvSpPr>
          <p:nvPr>
            <p:ph idx="1"/>
          </p:nvPr>
        </p:nvSpPr>
        <p:spPr>
          <a:xfrm>
            <a:off x="425003" y="1690688"/>
            <a:ext cx="11333408" cy="4710112"/>
          </a:xfrm>
        </p:spPr>
        <p:txBody>
          <a:bodyPr>
            <a:noAutofit/>
          </a:bodyPr>
          <a:lstStyle/>
          <a:p>
            <a:pPr lvl="0" algn="just">
              <a:lnSpc>
                <a:spcPct val="150000"/>
              </a:lnSpc>
            </a:pPr>
            <a:r>
              <a:rPr lang="en-IN" sz="2000" dirty="0">
                <a:latin typeface="Times New Roman" panose="02020603050405020304" pitchFamily="18" charset="0"/>
                <a:cs typeface="Times New Roman" panose="02020603050405020304" pitchFamily="18" charset="0"/>
              </a:rPr>
              <a:t>During the machine learning process, data are needed so that learning can take place. </a:t>
            </a:r>
          </a:p>
          <a:p>
            <a:pPr lvl="0" algn="just">
              <a:lnSpc>
                <a:spcPct val="150000"/>
              </a:lnSpc>
            </a:pPr>
            <a:r>
              <a:rPr lang="en-IN" sz="2000" dirty="0">
                <a:latin typeface="Times New Roman" panose="02020603050405020304" pitchFamily="18" charset="0"/>
                <a:cs typeface="Times New Roman" panose="02020603050405020304" pitchFamily="18" charset="0"/>
              </a:rPr>
              <a:t>In addition to the data required for training, test data are needed to evaluate the performance of the algorithm in order to see how well it works. </a:t>
            </a:r>
          </a:p>
          <a:p>
            <a:pPr lvl="0" algn="just">
              <a:lnSpc>
                <a:spcPct val="150000"/>
              </a:lnSpc>
            </a:pPr>
            <a:r>
              <a:rPr lang="en-IN" sz="2000" dirty="0">
                <a:latin typeface="Times New Roman" panose="02020603050405020304" pitchFamily="18" charset="0"/>
                <a:cs typeface="Times New Roman" panose="02020603050405020304" pitchFamily="18" charset="0"/>
              </a:rPr>
              <a:t>In our process, we considered 70% of the our dataset to be the training data and the remaining 30% to be the testing data.</a:t>
            </a:r>
          </a:p>
          <a:p>
            <a:pPr lvl="0" algn="just">
              <a:lnSpc>
                <a:spcPct val="150000"/>
              </a:lnSpc>
            </a:pPr>
            <a:r>
              <a:rPr lang="en-US" sz="2000" dirty="0">
                <a:latin typeface="Times New Roman" panose="02020603050405020304" pitchFamily="18" charset="0"/>
                <a:cs typeface="Times New Roman" panose="02020603050405020304" pitchFamily="18" charset="0"/>
              </a:rPr>
              <a:t>Data splitting is the act of partitioning available data into two portions, usually for cross-validator purposes.  </a:t>
            </a:r>
            <a:endParaRPr lang="en-IN" sz="2000" dirty="0">
              <a:latin typeface="Times New Roman" panose="02020603050405020304" pitchFamily="18" charset="0"/>
              <a:cs typeface="Times New Roman" panose="02020603050405020304" pitchFamily="18" charset="0"/>
            </a:endParaRPr>
          </a:p>
          <a:p>
            <a:pPr lvl="0" algn="just">
              <a:lnSpc>
                <a:spcPct val="150000"/>
              </a:lnSpc>
            </a:pPr>
            <a:r>
              <a:rPr lang="en-IN" sz="2000" dirty="0">
                <a:latin typeface="Times New Roman" panose="02020603050405020304" pitchFamily="18" charset="0"/>
                <a:cs typeface="Times New Roman" panose="02020603050405020304" pitchFamily="18" charset="0"/>
              </a:rPr>
              <a:t>One Portion of the data is used to develop a predictive model and the other to evaluate the model's performance.</a:t>
            </a:r>
          </a:p>
          <a:p>
            <a:endParaRPr lang="en-IN" sz="2000" dirty="0"/>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30380441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a:latin typeface="Times New Roman" panose="02020603050405020304" pitchFamily="18" charset="0"/>
                <a:cs typeface="Times New Roman" panose="02020603050405020304" pitchFamily="18" charset="0"/>
              </a:rPr>
              <a:t>Classification</a:t>
            </a:r>
          </a:p>
        </p:txBody>
      </p:sp>
      <p:sp>
        <p:nvSpPr>
          <p:cNvPr id="3" name="Content Placeholder 2"/>
          <p:cNvSpPr>
            <a:spLocks noGrp="1"/>
          </p:cNvSpPr>
          <p:nvPr>
            <p:ph idx="1"/>
          </p:nvPr>
        </p:nvSpPr>
        <p:spPr>
          <a:xfrm>
            <a:off x="476517" y="1558343"/>
            <a:ext cx="11359167" cy="4932609"/>
          </a:xfrm>
        </p:spPr>
        <p:txBody>
          <a:bodyPr>
            <a:noAutofit/>
          </a:bodyPr>
          <a:lstStyle/>
          <a:p>
            <a:pPr lvl="0" algn="just">
              <a:lnSpc>
                <a:spcPct val="150000"/>
              </a:lnSpc>
            </a:pPr>
            <a:r>
              <a:rPr lang="en-IN" sz="2000" dirty="0">
                <a:latin typeface="Times New Roman" panose="02020603050405020304" pitchFamily="18" charset="0"/>
                <a:cs typeface="Times New Roman" panose="02020603050405020304" pitchFamily="18" charset="0"/>
              </a:rPr>
              <a:t>In our process, we can implement the machine learning algorithm such as random forest and hybrid algorithms such as decision tree and logistic regression.</a:t>
            </a:r>
          </a:p>
          <a:p>
            <a:pPr lvl="0" algn="just">
              <a:lnSpc>
                <a:spcPct val="150000"/>
              </a:lnSpc>
            </a:pP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Random Forest</a:t>
            </a:r>
            <a:r>
              <a:rPr lang="en-IN" sz="2000" dirty="0">
                <a:latin typeface="Times New Roman" panose="02020603050405020304" pitchFamily="18" charset="0"/>
                <a:cs typeface="Times New Roman" panose="02020603050405020304" pitchFamily="18" charset="0"/>
              </a:rPr>
              <a:t>: This ensemble learning method constructs multiple decision trees and merges their outputs to improve classification accuracy and prevent over fitting. It is robust and effective for complex datasets.</a:t>
            </a:r>
          </a:p>
          <a:p>
            <a:pPr lvl="0" algn="just">
              <a:lnSpc>
                <a:spcPct val="150000"/>
              </a:lnSpc>
            </a:pPr>
            <a:r>
              <a:rPr lang="en-IN" sz="2000" b="1" dirty="0">
                <a:latin typeface="Times New Roman" panose="02020603050405020304" pitchFamily="18" charset="0"/>
                <a:cs typeface="Times New Roman" panose="02020603050405020304" pitchFamily="18" charset="0"/>
              </a:rPr>
              <a:t>Hybrid Model (Voting Classifier)</a:t>
            </a:r>
            <a:r>
              <a:rPr lang="en-IN" sz="2000" dirty="0">
                <a:latin typeface="Times New Roman" panose="02020603050405020304" pitchFamily="18" charset="0"/>
                <a:cs typeface="Times New Roman" panose="02020603050405020304" pitchFamily="18" charset="0"/>
              </a:rPr>
              <a:t>: A hybrid model combines multiple algorithms, such as Decision Tree and Logistic Regression, using a voting classifier. </a:t>
            </a:r>
          </a:p>
          <a:p>
            <a:pPr lvl="0" algn="just">
              <a:lnSpc>
                <a:spcPct val="150000"/>
              </a:lnSpc>
            </a:pPr>
            <a:r>
              <a:rPr lang="en-IN" sz="2000" dirty="0">
                <a:latin typeface="Times New Roman" panose="02020603050405020304" pitchFamily="18" charset="0"/>
                <a:cs typeface="Times New Roman" panose="02020603050405020304" pitchFamily="18" charset="0"/>
              </a:rPr>
              <a:t>The voting classifier aggregates the predictions from each model to make a final decision. This approach leverages the strengths of each individual model to improve overall performance.</a:t>
            </a: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5986498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a:latin typeface="Times New Roman" panose="02020603050405020304" pitchFamily="18" charset="0"/>
                <a:cs typeface="Times New Roman" panose="02020603050405020304" pitchFamily="18" charset="0"/>
              </a:rPr>
              <a:t>Estimate Performance</a:t>
            </a:r>
          </a:p>
        </p:txBody>
      </p:sp>
      <p:sp>
        <p:nvSpPr>
          <p:cNvPr id="3" name="Content Placeholder 2"/>
          <p:cNvSpPr>
            <a:spLocks noGrp="1"/>
          </p:cNvSpPr>
          <p:nvPr>
            <p:ph idx="1"/>
          </p:nvPr>
        </p:nvSpPr>
        <p:spPr>
          <a:xfrm>
            <a:off x="399245" y="1584101"/>
            <a:ext cx="11217499" cy="4803820"/>
          </a:xfrm>
        </p:spPr>
        <p:txBody>
          <a:bodyPr>
            <a:noAutofit/>
          </a:bodyPr>
          <a:lstStyle/>
          <a:p>
            <a:pPr algn="just">
              <a:lnSpc>
                <a:spcPct val="150000"/>
              </a:lnSpc>
            </a:pPr>
            <a:r>
              <a:rPr lang="en-IN" sz="2000" dirty="0">
                <a:latin typeface="Times New Roman" panose="02020603050405020304" pitchFamily="18" charset="0"/>
                <a:cs typeface="Times New Roman" panose="02020603050405020304" pitchFamily="18" charset="0"/>
              </a:rPr>
              <a:t>The Final Result will get generated based on the overall classification and prediction. The performance of this proposed approach is evaluated using some measures like,</a:t>
            </a:r>
          </a:p>
          <a:p>
            <a:pPr marL="0" lvl="0" indent="0" algn="just">
              <a:lnSpc>
                <a:spcPct val="150000"/>
              </a:lnSpc>
              <a:buNone/>
            </a:pPr>
            <a:r>
              <a:rPr lang="en-US" sz="2000" b="1" dirty="0">
                <a:latin typeface="Times New Roman" panose="02020603050405020304" pitchFamily="18" charset="0"/>
                <a:cs typeface="Times New Roman" panose="02020603050405020304" pitchFamily="18" charset="0"/>
              </a:rPr>
              <a:t>Accuracy</a:t>
            </a:r>
            <a:endParaRPr lang="en-IN" sz="2000" dirty="0">
              <a:latin typeface="Times New Roman" panose="02020603050405020304" pitchFamily="18" charset="0"/>
              <a:cs typeface="Times New Roman" panose="02020603050405020304" pitchFamily="18" charset="0"/>
            </a:endParaRPr>
          </a:p>
          <a:p>
            <a:pPr algn="just">
              <a:lnSpc>
                <a:spcPct val="150000"/>
              </a:lnSpc>
            </a:pPr>
            <a:r>
              <a:rPr lang="en-IN" sz="2000" dirty="0">
                <a:latin typeface="Times New Roman" panose="02020603050405020304" pitchFamily="18" charset="0"/>
                <a:cs typeface="Times New Roman" panose="02020603050405020304" pitchFamily="18" charset="0"/>
              </a:rPr>
              <a:t>Accuracy of classifier refers to the ability of classifier. It predicts the class label correctly and the accuracy of the predictor refers to how well a given predictor can guess the value of predicted attribute for a new data.</a:t>
            </a:r>
          </a:p>
          <a:p>
            <a:pPr marL="0" indent="0" algn="ctr">
              <a:lnSpc>
                <a:spcPct val="150000"/>
              </a:lnSpc>
              <a:buNone/>
            </a:pPr>
            <a:r>
              <a:rPr lang="en-IN" sz="2000" b="1" dirty="0">
                <a:latin typeface="Times New Roman" panose="02020603050405020304" pitchFamily="18" charset="0"/>
                <a:cs typeface="Times New Roman" panose="02020603050405020304" pitchFamily="18" charset="0"/>
              </a:rPr>
              <a:t>	AC= (TP+TN)/ (TP+TN+FP+FN)</a:t>
            </a:r>
          </a:p>
          <a:p>
            <a:pPr algn="just">
              <a:lnSpc>
                <a:spcPct val="150000"/>
              </a:lnSpc>
            </a:pPr>
            <a:endParaRPr lang="en-IN" sz="20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3169329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Estimate Performance</a:t>
            </a:r>
          </a:p>
        </p:txBody>
      </p:sp>
      <p:sp>
        <p:nvSpPr>
          <p:cNvPr id="3" name="Content Placeholder 2"/>
          <p:cNvSpPr>
            <a:spLocks noGrp="1"/>
          </p:cNvSpPr>
          <p:nvPr>
            <p:ph idx="1"/>
          </p:nvPr>
        </p:nvSpPr>
        <p:spPr>
          <a:xfrm>
            <a:off x="566669" y="1558344"/>
            <a:ext cx="11153105" cy="4778062"/>
          </a:xfrm>
        </p:spPr>
        <p:txBody>
          <a:bodyPr>
            <a:normAutofit/>
          </a:bodyPr>
          <a:lstStyle/>
          <a:p>
            <a:pPr marL="0" lvl="0" indent="0" algn="just">
              <a:lnSpc>
                <a:spcPct val="150000"/>
              </a:lnSpc>
              <a:buNone/>
            </a:pPr>
            <a:r>
              <a:rPr lang="en-US" sz="2000" b="1" dirty="0">
                <a:latin typeface="Times New Roman" panose="02020603050405020304" pitchFamily="18" charset="0"/>
                <a:cs typeface="Times New Roman" panose="02020603050405020304" pitchFamily="18" charset="0"/>
              </a:rPr>
              <a:t>Precision</a:t>
            </a:r>
            <a:endParaRPr lang="en-IN" sz="2000" dirty="0">
              <a:latin typeface="Times New Roman" panose="02020603050405020304" pitchFamily="18" charset="0"/>
              <a:cs typeface="Times New Roman" panose="02020603050405020304" pitchFamily="18" charset="0"/>
            </a:endParaRPr>
          </a:p>
          <a:p>
            <a:pPr algn="just">
              <a:lnSpc>
                <a:spcPct val="150000"/>
              </a:lnSpc>
            </a:pPr>
            <a:r>
              <a:rPr lang="en-IN" sz="2000" dirty="0">
                <a:latin typeface="Times New Roman" panose="02020603050405020304" pitchFamily="18" charset="0"/>
                <a:cs typeface="Times New Roman" panose="02020603050405020304" pitchFamily="18" charset="0"/>
              </a:rPr>
              <a:t> Precision is defined as the number of true positives divided by the number of true positives plus the number of false positives.</a:t>
            </a:r>
          </a:p>
          <a:p>
            <a:pPr marL="0" indent="0" algn="ctr">
              <a:lnSpc>
                <a:spcPct val="150000"/>
              </a:lnSpc>
              <a:buNone/>
            </a:pPr>
            <a:r>
              <a:rPr lang="en-IN" sz="2000" b="1" dirty="0">
                <a:latin typeface="Times New Roman" panose="02020603050405020304" pitchFamily="18" charset="0"/>
                <a:cs typeface="Times New Roman" panose="02020603050405020304" pitchFamily="18" charset="0"/>
              </a:rPr>
              <a:t>Precision=TP/ (TP+FP)</a:t>
            </a:r>
          </a:p>
          <a:p>
            <a:pPr marL="0" lvl="0" indent="0">
              <a:buNone/>
            </a:pPr>
            <a:r>
              <a:rPr lang="en-US" sz="2000" b="1" dirty="0">
                <a:latin typeface="Times New Roman" panose="02020603050405020304" pitchFamily="18" charset="0"/>
                <a:cs typeface="Times New Roman" panose="02020603050405020304" pitchFamily="18" charset="0"/>
              </a:rPr>
              <a:t>Recall</a:t>
            </a:r>
            <a:endParaRPr lang="en-IN" sz="2000" dirty="0">
              <a:latin typeface="Times New Roman" panose="02020603050405020304" pitchFamily="18" charset="0"/>
              <a:cs typeface="Times New Roman" panose="02020603050405020304" pitchFamily="18" charset="0"/>
            </a:endParaRPr>
          </a:p>
          <a:p>
            <a:pPr algn="just">
              <a:lnSpc>
                <a:spcPct val="150000"/>
              </a:lnSpc>
            </a:pPr>
            <a:r>
              <a:rPr lang="en-IN" sz="2000" dirty="0">
                <a:latin typeface="Times New Roman" panose="02020603050405020304" pitchFamily="18" charset="0"/>
                <a:cs typeface="Times New Roman" panose="02020603050405020304" pitchFamily="18" charset="0"/>
              </a:rPr>
              <a:t>Recall is the number of correct results divided by the number of results that should have been returned.  In binary classification, recall is called sensitivity. It can be viewed as the probability that a relevant document is retrieved by the query.</a:t>
            </a:r>
          </a:p>
          <a:p>
            <a:pPr marL="0" indent="0" algn="ctr">
              <a:lnSpc>
                <a:spcPct val="150000"/>
              </a:lnSpc>
              <a:buNone/>
            </a:pPr>
            <a:r>
              <a:rPr lang="en-IN" sz="2000" b="1" dirty="0">
                <a:latin typeface="Times New Roman" panose="02020603050405020304" pitchFamily="18" charset="0"/>
                <a:cs typeface="Times New Roman" panose="02020603050405020304" pitchFamily="18" charset="0"/>
              </a:rPr>
              <a:t>Recall=TP/ (TP+FN)</a:t>
            </a:r>
          </a:p>
          <a:p>
            <a:pPr marL="0" indent="0" algn="ctr">
              <a:lnSpc>
                <a:spcPct val="150000"/>
              </a:lnSpc>
              <a:buNone/>
            </a:pPr>
            <a:endParaRPr lang="en-US" sz="20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4159300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276" y="450761"/>
            <a:ext cx="10851524" cy="1239927"/>
          </a:xfrm>
        </p:spPr>
        <p:txBody>
          <a:bodyPr>
            <a:normAutofit/>
          </a:bodyPr>
          <a:lstStyle/>
          <a:p>
            <a:pPr algn="ctr"/>
            <a:r>
              <a:rPr lang="en-US" b="1" dirty="0">
                <a:latin typeface="Times New Roman" panose="02020603050405020304" pitchFamily="18" charset="0"/>
                <a:cs typeface="Times New Roman" panose="02020603050405020304" pitchFamily="18" charset="0"/>
              </a:rPr>
              <a:t>Prediction</a:t>
            </a:r>
            <a:endParaRPr lang="en-IN" b="1"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3" name="Rectangle 2"/>
          <p:cNvSpPr/>
          <p:nvPr/>
        </p:nvSpPr>
        <p:spPr>
          <a:xfrm>
            <a:off x="412123" y="1690688"/>
            <a:ext cx="11230377" cy="1938992"/>
          </a:xfrm>
          <a:prstGeom prst="rect">
            <a:avLst/>
          </a:prstGeom>
        </p:spPr>
        <p:txBody>
          <a:bodyPr wrap="square">
            <a:spAutoFit/>
          </a:bodyPr>
          <a:lstStyle/>
          <a:p>
            <a:pPr marL="342900" lvl="0" indent="-342900" algn="just">
              <a:lnSpc>
                <a:spcPct val="150000"/>
              </a:lnSpc>
              <a:spcAft>
                <a:spcPts val="0"/>
              </a:spcAft>
              <a:buFont typeface="Symbol" panose="05050102010706020507" pitchFamily="18" charset="2"/>
              <a:buChar char=""/>
              <a:tabLst>
                <a:tab pos="2435225" algn="l"/>
              </a:tabLst>
            </a:pPr>
            <a:r>
              <a:rPr lang="en-IN" sz="2000" dirty="0">
                <a:latin typeface="Times New Roman" panose="02020603050405020304" pitchFamily="18" charset="0"/>
                <a:ea typeface="Times New Roman" panose="02020603050405020304" pitchFamily="18" charset="0"/>
                <a:cs typeface="Times New Roman" panose="02020603050405020304" pitchFamily="18" charset="0"/>
              </a:rPr>
              <a:t>After training and evaluating the models, the system is used to predict fake or real based on users review.</a:t>
            </a:r>
          </a:p>
          <a:p>
            <a:pPr marL="342900" lvl="0" indent="-342900" algn="just">
              <a:lnSpc>
                <a:spcPct val="150000"/>
              </a:lnSpc>
              <a:spcAft>
                <a:spcPts val="0"/>
              </a:spcAft>
              <a:buFont typeface="Symbol" panose="05050102010706020507" pitchFamily="18" charset="2"/>
              <a:buChar char=""/>
              <a:tabLst>
                <a:tab pos="2435225" algn="l"/>
              </a:tabLst>
            </a:pPr>
            <a:r>
              <a:rPr lang="en-IN" sz="2000" dirty="0">
                <a:latin typeface="Times New Roman" panose="02020603050405020304" pitchFamily="18" charset="0"/>
                <a:ea typeface="Times New Roman" panose="02020603050405020304" pitchFamily="18" charset="0"/>
                <a:cs typeface="Times New Roman" panose="02020603050405020304" pitchFamily="18" charset="0"/>
              </a:rPr>
              <a:t>Then, delete the fake reviews from dataset. </a:t>
            </a:r>
          </a:p>
          <a:p>
            <a:pPr marL="342900" lvl="0" indent="-342900" algn="just">
              <a:lnSpc>
                <a:spcPct val="150000"/>
              </a:lnSpc>
              <a:spcAft>
                <a:spcPts val="0"/>
              </a:spcAft>
              <a:buFont typeface="Symbol" panose="05050102010706020507" pitchFamily="18" charset="2"/>
              <a:buChar char=""/>
              <a:tabLst>
                <a:tab pos="2435225" algn="l"/>
              </a:tabLst>
            </a:pPr>
            <a:r>
              <a:rPr lang="en-IN" sz="2000" dirty="0">
                <a:latin typeface="Times New Roman" panose="02020603050405020304" pitchFamily="18" charset="0"/>
                <a:ea typeface="Times New Roman" panose="02020603050405020304" pitchFamily="18" charset="0"/>
                <a:cs typeface="Times New Roman" panose="02020603050405020304" pitchFamily="18" charset="0"/>
              </a:rPr>
              <a:t>The final model is deployed to classify incoming comments, providing insights into user reviews and enabling the development of personalized content strategies.</a:t>
            </a:r>
          </a:p>
        </p:txBody>
      </p:sp>
    </p:spTree>
    <p:extLst>
      <p:ext uri="{BB962C8B-B14F-4D97-AF65-F5344CB8AC3E}">
        <p14:creationId xmlns:p14="http://schemas.microsoft.com/office/powerpoint/2010/main" val="33215349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0774" y="2351691"/>
            <a:ext cx="10515600" cy="1325563"/>
          </a:xfrm>
        </p:spPr>
        <p:txBody>
          <a:bodyPr/>
          <a:lstStyle/>
          <a:p>
            <a:pPr algn="ctr"/>
            <a:r>
              <a:rPr lang="en-US" b="1" dirty="0">
                <a:latin typeface="Times New Roman" panose="02020603050405020304" pitchFamily="18" charset="0"/>
                <a:cs typeface="Times New Roman" panose="02020603050405020304" pitchFamily="18" charset="0"/>
              </a:rPr>
              <a:t>Screenshots</a:t>
            </a:r>
            <a:endParaRPr lang="en-IN" b="1"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27169284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pic>
        <p:nvPicPr>
          <p:cNvPr id="2" name="Picture 1">
            <a:extLst>
              <a:ext uri="{FF2B5EF4-FFF2-40B4-BE49-F238E27FC236}">
                <a16:creationId xmlns:a16="http://schemas.microsoft.com/office/drawing/2014/main" id="{ED3846DB-892A-9ED4-2F15-62554A59A868}"/>
              </a:ext>
            </a:extLst>
          </p:cNvPr>
          <p:cNvPicPr>
            <a:picLocks noChangeAspect="1"/>
          </p:cNvPicPr>
          <p:nvPr/>
        </p:nvPicPr>
        <p:blipFill>
          <a:blip r:embed="rId2"/>
          <a:stretch>
            <a:fillRect/>
          </a:stretch>
        </p:blipFill>
        <p:spPr>
          <a:xfrm>
            <a:off x="1175657" y="597159"/>
            <a:ext cx="4599992" cy="3965510"/>
          </a:xfrm>
          <a:prstGeom prst="rect">
            <a:avLst/>
          </a:prstGeom>
        </p:spPr>
      </p:pic>
      <p:pic>
        <p:nvPicPr>
          <p:cNvPr id="3" name="Picture 2">
            <a:extLst>
              <a:ext uri="{FF2B5EF4-FFF2-40B4-BE49-F238E27FC236}">
                <a16:creationId xmlns:a16="http://schemas.microsoft.com/office/drawing/2014/main" id="{90836CB1-59B2-D866-0B3C-7ADEB31F4DEC}"/>
              </a:ext>
            </a:extLst>
          </p:cNvPr>
          <p:cNvPicPr>
            <a:picLocks noChangeAspect="1"/>
          </p:cNvPicPr>
          <p:nvPr/>
        </p:nvPicPr>
        <p:blipFill>
          <a:blip r:embed="rId3"/>
          <a:stretch>
            <a:fillRect/>
          </a:stretch>
        </p:blipFill>
        <p:spPr>
          <a:xfrm>
            <a:off x="6416352" y="3603763"/>
            <a:ext cx="5161349" cy="2815697"/>
          </a:xfrm>
          <a:prstGeom prst="rect">
            <a:avLst/>
          </a:prstGeom>
        </p:spPr>
      </p:pic>
    </p:spTree>
    <p:extLst>
      <p:ext uri="{BB962C8B-B14F-4D97-AF65-F5344CB8AC3E}">
        <p14:creationId xmlns:p14="http://schemas.microsoft.com/office/powerpoint/2010/main" val="26279500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pic>
        <p:nvPicPr>
          <p:cNvPr id="2" name="Picture 1">
            <a:extLst>
              <a:ext uri="{FF2B5EF4-FFF2-40B4-BE49-F238E27FC236}">
                <a16:creationId xmlns:a16="http://schemas.microsoft.com/office/drawing/2014/main" id="{6FF97365-301A-8579-734D-29334BBC3556}"/>
              </a:ext>
            </a:extLst>
          </p:cNvPr>
          <p:cNvPicPr>
            <a:picLocks noChangeAspect="1"/>
          </p:cNvPicPr>
          <p:nvPr/>
        </p:nvPicPr>
        <p:blipFill>
          <a:blip r:embed="rId2"/>
          <a:stretch>
            <a:fillRect/>
          </a:stretch>
        </p:blipFill>
        <p:spPr>
          <a:xfrm>
            <a:off x="689368" y="923731"/>
            <a:ext cx="9434346" cy="5384138"/>
          </a:xfrm>
          <a:prstGeom prst="rect">
            <a:avLst/>
          </a:prstGeom>
        </p:spPr>
      </p:pic>
    </p:spTree>
    <p:extLst>
      <p:ext uri="{BB962C8B-B14F-4D97-AF65-F5344CB8AC3E}">
        <p14:creationId xmlns:p14="http://schemas.microsoft.com/office/powerpoint/2010/main" val="37542225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pic>
        <p:nvPicPr>
          <p:cNvPr id="2" name="Picture 1">
            <a:extLst>
              <a:ext uri="{FF2B5EF4-FFF2-40B4-BE49-F238E27FC236}">
                <a16:creationId xmlns:a16="http://schemas.microsoft.com/office/drawing/2014/main" id="{4609AEC5-46CF-F4DC-B14C-D43A31E78BA0}"/>
              </a:ext>
            </a:extLst>
          </p:cNvPr>
          <p:cNvPicPr>
            <a:picLocks noChangeAspect="1"/>
          </p:cNvPicPr>
          <p:nvPr/>
        </p:nvPicPr>
        <p:blipFill>
          <a:blip r:embed="rId2"/>
          <a:stretch>
            <a:fillRect/>
          </a:stretch>
        </p:blipFill>
        <p:spPr>
          <a:xfrm>
            <a:off x="513751" y="533860"/>
            <a:ext cx="5327212" cy="3468974"/>
          </a:xfrm>
          <a:prstGeom prst="rect">
            <a:avLst/>
          </a:prstGeom>
        </p:spPr>
      </p:pic>
      <p:pic>
        <p:nvPicPr>
          <p:cNvPr id="3" name="Picture 2">
            <a:extLst>
              <a:ext uri="{FF2B5EF4-FFF2-40B4-BE49-F238E27FC236}">
                <a16:creationId xmlns:a16="http://schemas.microsoft.com/office/drawing/2014/main" id="{3AFDF8D9-74B1-28BC-BFD2-0D636A1D4B99}"/>
              </a:ext>
            </a:extLst>
          </p:cNvPr>
          <p:cNvPicPr>
            <a:picLocks noChangeAspect="1"/>
          </p:cNvPicPr>
          <p:nvPr/>
        </p:nvPicPr>
        <p:blipFill>
          <a:blip r:embed="rId3"/>
          <a:stretch>
            <a:fillRect/>
          </a:stretch>
        </p:blipFill>
        <p:spPr>
          <a:xfrm>
            <a:off x="6351039" y="1670180"/>
            <a:ext cx="5327210" cy="4952739"/>
          </a:xfrm>
          <a:prstGeom prst="rect">
            <a:avLst/>
          </a:prstGeom>
        </p:spPr>
      </p:pic>
    </p:spTree>
    <p:extLst>
      <p:ext uri="{BB962C8B-B14F-4D97-AF65-F5344CB8AC3E}">
        <p14:creationId xmlns:p14="http://schemas.microsoft.com/office/powerpoint/2010/main" val="24242564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pic>
        <p:nvPicPr>
          <p:cNvPr id="3" name="Picture 2"/>
          <p:cNvPicPr/>
          <p:nvPr/>
        </p:nvPicPr>
        <p:blipFill>
          <a:blip r:embed="rId2"/>
          <a:stretch>
            <a:fillRect/>
          </a:stretch>
        </p:blipFill>
        <p:spPr>
          <a:xfrm>
            <a:off x="512803" y="403944"/>
            <a:ext cx="5731510" cy="2907665"/>
          </a:xfrm>
          <a:prstGeom prst="rect">
            <a:avLst/>
          </a:prstGeom>
        </p:spPr>
      </p:pic>
      <p:pic>
        <p:nvPicPr>
          <p:cNvPr id="4" name="Picture 3"/>
          <p:cNvPicPr/>
          <p:nvPr/>
        </p:nvPicPr>
        <p:blipFill>
          <a:blip r:embed="rId3"/>
          <a:stretch>
            <a:fillRect/>
          </a:stretch>
        </p:blipFill>
        <p:spPr>
          <a:xfrm>
            <a:off x="5818898" y="3436144"/>
            <a:ext cx="5731510" cy="2884805"/>
          </a:xfrm>
          <a:prstGeom prst="rect">
            <a:avLst/>
          </a:prstGeom>
        </p:spPr>
      </p:pic>
    </p:spTree>
    <p:extLst>
      <p:ext uri="{BB962C8B-B14F-4D97-AF65-F5344CB8AC3E}">
        <p14:creationId xmlns:p14="http://schemas.microsoft.com/office/powerpoint/2010/main" val="30238510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pic>
        <p:nvPicPr>
          <p:cNvPr id="5" name="Picture 4"/>
          <p:cNvPicPr/>
          <p:nvPr/>
        </p:nvPicPr>
        <p:blipFill>
          <a:blip r:embed="rId2"/>
          <a:stretch>
            <a:fillRect/>
          </a:stretch>
        </p:blipFill>
        <p:spPr>
          <a:xfrm>
            <a:off x="590076" y="431428"/>
            <a:ext cx="5731510" cy="2878455"/>
          </a:xfrm>
          <a:prstGeom prst="rect">
            <a:avLst/>
          </a:prstGeom>
        </p:spPr>
      </p:pic>
      <p:pic>
        <p:nvPicPr>
          <p:cNvPr id="7" name="Picture 6"/>
          <p:cNvPicPr/>
          <p:nvPr/>
        </p:nvPicPr>
        <p:blipFill>
          <a:blip r:embed="rId3"/>
          <a:stretch>
            <a:fillRect/>
          </a:stretch>
        </p:blipFill>
        <p:spPr>
          <a:xfrm>
            <a:off x="5844656" y="3517714"/>
            <a:ext cx="5731510" cy="2903855"/>
          </a:xfrm>
          <a:prstGeom prst="rect">
            <a:avLst/>
          </a:prstGeom>
        </p:spPr>
      </p:pic>
    </p:spTree>
    <p:extLst>
      <p:ext uri="{BB962C8B-B14F-4D97-AF65-F5344CB8AC3E}">
        <p14:creationId xmlns:p14="http://schemas.microsoft.com/office/powerpoint/2010/main" val="25492751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p:cNvSpPr>
            <a:spLocks noGrp="1"/>
          </p:cNvSpPr>
          <p:nvPr>
            <p:ph type="title"/>
          </p:nvPr>
        </p:nvSpPr>
        <p:spPr>
          <a:xfrm>
            <a:off x="709411" y="0"/>
            <a:ext cx="10515600" cy="1325563"/>
          </a:xfrm>
        </p:spPr>
        <p:txBody>
          <a:bodyPr>
            <a:normAutofit/>
          </a:bodyPr>
          <a:lstStyle/>
          <a:p>
            <a:pPr algn="ctr">
              <a:lnSpc>
                <a:spcPct val="150000"/>
              </a:lnSpc>
            </a:pPr>
            <a:r>
              <a:rPr lang="en-US" sz="4400" b="1" dirty="0">
                <a:latin typeface="Times New Roman" pitchFamily="18" charset="0"/>
                <a:cs typeface="Times New Roman" pitchFamily="18" charset="0"/>
              </a:rPr>
              <a:t>System requirements</a:t>
            </a:r>
          </a:p>
        </p:txBody>
      </p:sp>
      <p:sp>
        <p:nvSpPr>
          <p:cNvPr id="5" name="Content Placeholder 1"/>
          <p:cNvSpPr>
            <a:spLocks noGrp="1"/>
          </p:cNvSpPr>
          <p:nvPr>
            <p:ph idx="1"/>
          </p:nvPr>
        </p:nvSpPr>
        <p:spPr>
          <a:xfrm>
            <a:off x="593501" y="1183897"/>
            <a:ext cx="10515600" cy="5371450"/>
          </a:xfrm>
        </p:spPr>
        <p:txBody>
          <a:bodyPr>
            <a:normAutofit/>
          </a:bodyPr>
          <a:lstStyle/>
          <a:p>
            <a:pPr algn="just">
              <a:lnSpc>
                <a:spcPct val="150000"/>
              </a:lnSpc>
              <a:buNone/>
            </a:pPr>
            <a:r>
              <a:rPr lang="en-US" sz="2000" b="1" dirty="0">
                <a:solidFill>
                  <a:schemeClr val="tx1"/>
                </a:solidFill>
                <a:latin typeface="Times New Roman" pitchFamily="18" charset="0"/>
                <a:cs typeface="Times New Roman" pitchFamily="18" charset="0"/>
              </a:rPr>
              <a:t>SOFTWARE REQUIREMENTS:</a:t>
            </a:r>
          </a:p>
          <a:p>
            <a:pPr lvl="0" algn="just">
              <a:lnSpc>
                <a:spcPct val="150000"/>
              </a:lnSpc>
            </a:pPr>
            <a:r>
              <a:rPr lang="en-US" sz="2000" dirty="0">
                <a:latin typeface="Times New Roman" panose="02020603050405020304" pitchFamily="18" charset="0"/>
                <a:cs typeface="Times New Roman" panose="02020603050405020304" pitchFamily="18" charset="0"/>
              </a:rPr>
              <a:t>O/S                    :  Windows 7.</a:t>
            </a:r>
            <a:endParaRPr lang="en-IN" sz="2000" dirty="0">
              <a:latin typeface="Times New Roman" panose="02020603050405020304" pitchFamily="18" charset="0"/>
              <a:cs typeface="Times New Roman" panose="02020603050405020304" pitchFamily="18" charset="0"/>
            </a:endParaRPr>
          </a:p>
          <a:p>
            <a:pPr lvl="0" algn="just">
              <a:lnSpc>
                <a:spcPct val="150000"/>
              </a:lnSpc>
            </a:pPr>
            <a:r>
              <a:rPr lang="en-US" sz="2000" dirty="0">
                <a:latin typeface="Times New Roman" panose="02020603050405020304" pitchFamily="18" charset="0"/>
                <a:cs typeface="Times New Roman" panose="02020603050405020304" pitchFamily="18" charset="0"/>
              </a:rPr>
              <a:t>Language	 :  Python</a:t>
            </a:r>
            <a:endParaRPr lang="en-IN" sz="2000" dirty="0">
              <a:latin typeface="Times New Roman" panose="02020603050405020304" pitchFamily="18" charset="0"/>
              <a:cs typeface="Times New Roman" panose="02020603050405020304" pitchFamily="18" charset="0"/>
            </a:endParaRPr>
          </a:p>
          <a:p>
            <a:pPr lvl="0" algn="just">
              <a:lnSpc>
                <a:spcPct val="150000"/>
              </a:lnSpc>
            </a:pPr>
            <a:r>
              <a:rPr lang="en-US" sz="2000" dirty="0">
                <a:latin typeface="Times New Roman" panose="02020603050405020304" pitchFamily="18" charset="0"/>
                <a:cs typeface="Times New Roman" panose="02020603050405020304" pitchFamily="18" charset="0"/>
              </a:rPr>
              <a:t>Software used   : Anaconda Navigator – Spyder</a:t>
            </a:r>
          </a:p>
          <a:p>
            <a:pPr algn="just">
              <a:lnSpc>
                <a:spcPct val="150000"/>
              </a:lnSpc>
            </a:pPr>
            <a:r>
              <a:rPr lang="en-US" sz="2000" dirty="0">
                <a:latin typeface="Times New Roman" panose="02020603050405020304" pitchFamily="18" charset="0"/>
                <a:cs typeface="Times New Roman" panose="02020603050405020304" pitchFamily="18" charset="0"/>
              </a:rPr>
              <a:t>Front End          : </a:t>
            </a:r>
            <a:r>
              <a:rPr lang="en-US" sz="2000" dirty="0" err="1">
                <a:latin typeface="Times New Roman" panose="02020603050405020304" pitchFamily="18" charset="0"/>
                <a:cs typeface="Times New Roman" panose="02020603050405020304" pitchFamily="18" charset="0"/>
              </a:rPr>
              <a:t>Django</a:t>
            </a:r>
            <a:r>
              <a:rPr lang="en-US" sz="2000" dirty="0">
                <a:latin typeface="Times New Roman" panose="02020603050405020304" pitchFamily="18" charset="0"/>
                <a:cs typeface="Times New Roman" panose="02020603050405020304" pitchFamily="18" charset="0"/>
              </a:rPr>
              <a:t>- Framework</a:t>
            </a:r>
            <a:endParaRPr lang="en-IN" sz="2000" dirty="0">
              <a:latin typeface="Times New Roman" panose="02020603050405020304" pitchFamily="18" charset="0"/>
              <a:cs typeface="Times New Roman" panose="02020603050405020304" pitchFamily="18" charset="0"/>
            </a:endParaRPr>
          </a:p>
          <a:p>
            <a:pPr algn="just">
              <a:lnSpc>
                <a:spcPct val="150000"/>
              </a:lnSpc>
              <a:buNone/>
            </a:pPr>
            <a:r>
              <a:rPr lang="en-US" sz="2000" b="1" dirty="0">
                <a:solidFill>
                  <a:schemeClr val="tx1"/>
                </a:solidFill>
                <a:latin typeface="Times New Roman" pitchFamily="18" charset="0"/>
                <a:cs typeface="Times New Roman" pitchFamily="18" charset="0"/>
              </a:rPr>
              <a:t>HARDWARE  REQUIREMENTS:</a:t>
            </a:r>
          </a:p>
          <a:p>
            <a:pPr lvl="0" algn="just">
              <a:lnSpc>
                <a:spcPct val="150000"/>
              </a:lnSpc>
            </a:pPr>
            <a:r>
              <a:rPr lang="en-US" sz="2000" dirty="0">
                <a:latin typeface="Times New Roman" panose="02020603050405020304" pitchFamily="18" charset="0"/>
                <a:cs typeface="Times New Roman" panose="02020603050405020304" pitchFamily="18" charset="0"/>
              </a:rPr>
              <a:t>System	:   Pentium IV 2.4 GHz </a:t>
            </a:r>
            <a:endParaRPr lang="en-IN" sz="2000" dirty="0">
              <a:latin typeface="Times New Roman" panose="02020603050405020304" pitchFamily="18" charset="0"/>
              <a:cs typeface="Times New Roman" panose="02020603050405020304" pitchFamily="18" charset="0"/>
            </a:endParaRPr>
          </a:p>
          <a:p>
            <a:pPr lvl="0" algn="just">
              <a:lnSpc>
                <a:spcPct val="150000"/>
              </a:lnSpc>
            </a:pPr>
            <a:r>
              <a:rPr lang="en-US" sz="2000" dirty="0">
                <a:latin typeface="Times New Roman" panose="02020603050405020304" pitchFamily="18" charset="0"/>
                <a:cs typeface="Times New Roman" panose="02020603050405020304" pitchFamily="18" charset="0"/>
              </a:rPr>
              <a:t>Hard Disk	:   200 GB</a:t>
            </a:r>
            <a:endParaRPr lang="en-IN" sz="2000" dirty="0">
              <a:latin typeface="Times New Roman" panose="02020603050405020304" pitchFamily="18" charset="0"/>
              <a:cs typeface="Times New Roman" panose="02020603050405020304" pitchFamily="18" charset="0"/>
            </a:endParaRPr>
          </a:p>
          <a:p>
            <a:pPr lvl="0" algn="just">
              <a:lnSpc>
                <a:spcPct val="150000"/>
              </a:lnSpc>
            </a:pPr>
            <a:r>
              <a:rPr lang="en-US" sz="2000" dirty="0">
                <a:latin typeface="Times New Roman" panose="02020603050405020304" pitchFamily="18" charset="0"/>
                <a:cs typeface="Times New Roman" panose="02020603050405020304" pitchFamily="18" charset="0"/>
              </a:rPr>
              <a:t>Ram		:      4GB</a:t>
            </a:r>
            <a:endParaRPr lang="en-IN" sz="2000" dirty="0">
              <a:latin typeface="Times New Roman" panose="02020603050405020304" pitchFamily="18" charset="0"/>
              <a:cs typeface="Times New Roman" panose="02020603050405020304" pitchFamily="18" charset="0"/>
            </a:endParaRPr>
          </a:p>
        </p:txBody>
      </p:sp>
      <p:sp>
        <p:nvSpPr>
          <p:cNvPr id="6" name="Rectangle 5"/>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211538460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0774" y="2351691"/>
            <a:ext cx="10515600" cy="1325563"/>
          </a:xfrm>
        </p:spPr>
        <p:txBody>
          <a:bodyPr/>
          <a:lstStyle/>
          <a:p>
            <a:pPr algn="ctr"/>
            <a:r>
              <a:rPr lang="en-US" b="1" dirty="0">
                <a:latin typeface="Times New Roman" panose="02020603050405020304" pitchFamily="18" charset="0"/>
                <a:cs typeface="Times New Roman" panose="02020603050405020304" pitchFamily="18" charset="0"/>
              </a:rPr>
              <a:t>Literature survey</a:t>
            </a:r>
            <a:endParaRPr lang="en-IN" b="1"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3603223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1848" y="174056"/>
            <a:ext cx="10515600" cy="1325563"/>
          </a:xfrm>
        </p:spPr>
        <p:txBody>
          <a:bodyPr>
            <a:normAutofit/>
          </a:bodyPr>
          <a:lstStyle/>
          <a:p>
            <a:r>
              <a:rPr lang="en-US" sz="2400" b="1" dirty="0">
                <a:latin typeface="Times New Roman" panose="02020603050405020304" pitchFamily="18" charset="0"/>
                <a:cs typeface="Times New Roman" panose="02020603050405020304" pitchFamily="18" charset="0"/>
              </a:rPr>
              <a:t>LITERATURE SURVEY</a:t>
            </a:r>
            <a:endParaRPr lang="en-IN" sz="2400" b="1" dirty="0">
              <a:latin typeface="Times New Roman" panose="02020603050405020304" pitchFamily="18" charset="0"/>
              <a:cs typeface="Times New Roman" panose="02020603050405020304" pitchFamily="18" charset="0"/>
            </a:endParaRPr>
          </a:p>
        </p:txBody>
      </p:sp>
      <p:graphicFrame>
        <p:nvGraphicFramePr>
          <p:cNvPr id="4" name="Table 3"/>
          <p:cNvGraphicFramePr>
            <a:graphicFrameLocks noGrp="1"/>
          </p:cNvGraphicFramePr>
          <p:nvPr>
            <p:extLst>
              <p:ext uri="{D42A27DB-BD31-4B8C-83A1-F6EECF244321}">
                <p14:modId xmlns:p14="http://schemas.microsoft.com/office/powerpoint/2010/main" val="2677030411"/>
              </p:ext>
            </p:extLst>
          </p:nvPr>
        </p:nvGraphicFramePr>
        <p:xfrm>
          <a:off x="579548" y="1499619"/>
          <a:ext cx="10959920" cy="4798149"/>
        </p:xfrm>
        <a:graphic>
          <a:graphicData uri="http://schemas.openxmlformats.org/drawingml/2006/table">
            <a:tbl>
              <a:tblPr firstRow="1" bandRow="1">
                <a:tableStyleId>{F5AB1C69-6EDB-4FF4-983F-18BD219EF322}</a:tableStyleId>
              </a:tblPr>
              <a:tblGrid>
                <a:gridCol w="2191984">
                  <a:extLst>
                    <a:ext uri="{9D8B030D-6E8A-4147-A177-3AD203B41FA5}">
                      <a16:colId xmlns:a16="http://schemas.microsoft.com/office/drawing/2014/main" val="20000"/>
                    </a:ext>
                  </a:extLst>
                </a:gridCol>
                <a:gridCol w="2191984">
                  <a:extLst>
                    <a:ext uri="{9D8B030D-6E8A-4147-A177-3AD203B41FA5}">
                      <a16:colId xmlns:a16="http://schemas.microsoft.com/office/drawing/2014/main" val="20001"/>
                    </a:ext>
                  </a:extLst>
                </a:gridCol>
                <a:gridCol w="2191984">
                  <a:extLst>
                    <a:ext uri="{9D8B030D-6E8A-4147-A177-3AD203B41FA5}">
                      <a16:colId xmlns:a16="http://schemas.microsoft.com/office/drawing/2014/main" val="20002"/>
                    </a:ext>
                  </a:extLst>
                </a:gridCol>
                <a:gridCol w="2191984">
                  <a:extLst>
                    <a:ext uri="{9D8B030D-6E8A-4147-A177-3AD203B41FA5}">
                      <a16:colId xmlns:a16="http://schemas.microsoft.com/office/drawing/2014/main" val="20003"/>
                    </a:ext>
                  </a:extLst>
                </a:gridCol>
                <a:gridCol w="2191984">
                  <a:extLst>
                    <a:ext uri="{9D8B030D-6E8A-4147-A177-3AD203B41FA5}">
                      <a16:colId xmlns:a16="http://schemas.microsoft.com/office/drawing/2014/main" val="20004"/>
                    </a:ext>
                  </a:extLst>
                </a:gridCol>
              </a:tblGrid>
              <a:tr h="528830">
                <a:tc>
                  <a:txBody>
                    <a:bodyPr/>
                    <a:lstStyle/>
                    <a:p>
                      <a:pPr algn="ctr"/>
                      <a:r>
                        <a:rPr lang="en-US" sz="1800" dirty="0">
                          <a:latin typeface="Times New Roman" panose="02020603050405020304" pitchFamily="18" charset="0"/>
                          <a:cs typeface="Times New Roman" panose="02020603050405020304" pitchFamily="18" charset="0"/>
                        </a:rPr>
                        <a:t>Title</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Year</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Author</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Methology</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Merits/demerits</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0"/>
                  </a:ext>
                </a:extLst>
              </a:tr>
              <a:tr h="4269319">
                <a:tc>
                  <a:txBody>
                    <a:bodyPr/>
                    <a:lstStyle/>
                    <a:p>
                      <a:pPr algn="just"/>
                      <a:r>
                        <a:rPr lang="en-IN" sz="1600" b="1" kern="1200" dirty="0">
                          <a:solidFill>
                            <a:schemeClr val="dk1"/>
                          </a:solidFill>
                          <a:effectLst/>
                          <a:latin typeface="Times New Roman" panose="02020603050405020304" pitchFamily="18" charset="0"/>
                          <a:ea typeface="+mn-ea"/>
                          <a:cs typeface="Times New Roman" panose="02020603050405020304" pitchFamily="18" charset="0"/>
                        </a:rPr>
                        <a:t>Fake consumer review detection using deep neural networks integrating word embedding’s and emotion mining</a:t>
                      </a:r>
                      <a:endParaRPr lang="en-IN" sz="1600" dirty="0">
                        <a:latin typeface="Times New Roman" panose="02020603050405020304" pitchFamily="18" charset="0"/>
                        <a:cs typeface="Times New Roman" panose="02020603050405020304" pitchFamily="18" charset="0"/>
                      </a:endParaRPr>
                    </a:p>
                  </a:txBody>
                  <a:tcPr/>
                </a:tc>
                <a:tc>
                  <a:txBody>
                    <a:bodyPr/>
                    <a:lstStyle/>
                    <a:p>
                      <a:pPr algn="just"/>
                      <a:r>
                        <a:rPr lang="en-IN" sz="1600" b="1" kern="1200" dirty="0">
                          <a:solidFill>
                            <a:schemeClr val="dk1"/>
                          </a:solidFill>
                          <a:effectLst/>
                          <a:latin typeface="Times New Roman" panose="02020603050405020304" pitchFamily="18" charset="0"/>
                          <a:ea typeface="+mn-ea"/>
                          <a:cs typeface="Times New Roman" panose="02020603050405020304" pitchFamily="18" charset="0"/>
                        </a:rPr>
                        <a:t>2020</a:t>
                      </a:r>
                      <a:endParaRPr lang="en-IN" sz="1600" dirty="0">
                        <a:latin typeface="Times New Roman" panose="02020603050405020304" pitchFamily="18" charset="0"/>
                        <a:cs typeface="Times New Roman" panose="02020603050405020304" pitchFamily="18" charset="0"/>
                      </a:endParaRPr>
                    </a:p>
                  </a:txBody>
                  <a:tcPr/>
                </a:tc>
                <a:tc>
                  <a:txBody>
                    <a:bodyPr/>
                    <a:lstStyle/>
                    <a:p>
                      <a:pPr algn="just"/>
                      <a:r>
                        <a:rPr lang="en-IN" sz="1600" kern="1200" dirty="0">
                          <a:solidFill>
                            <a:schemeClr val="dk1"/>
                          </a:solidFill>
                          <a:effectLst/>
                          <a:latin typeface="Times New Roman" panose="02020603050405020304" pitchFamily="18" charset="0"/>
                          <a:ea typeface="+mn-ea"/>
                          <a:cs typeface="Times New Roman" panose="02020603050405020304" pitchFamily="18" charset="0"/>
                        </a:rPr>
                        <a:t>Michal </a:t>
                      </a:r>
                      <a:r>
                        <a:rPr lang="en-IN" sz="1600" kern="1200" dirty="0" err="1">
                          <a:solidFill>
                            <a:schemeClr val="dk1"/>
                          </a:solidFill>
                          <a:effectLst/>
                          <a:latin typeface="Times New Roman" panose="02020603050405020304" pitchFamily="18" charset="0"/>
                          <a:ea typeface="+mn-ea"/>
                          <a:cs typeface="Times New Roman" panose="02020603050405020304" pitchFamily="18" charset="0"/>
                        </a:rPr>
                        <a:t>Munk</a:t>
                      </a:r>
                      <a:r>
                        <a:rPr lang="en-IN" sz="1600" kern="1200" dirty="0">
                          <a:solidFill>
                            <a:schemeClr val="dk1"/>
                          </a:solidFill>
                          <a:effectLst/>
                          <a:latin typeface="Times New Roman" panose="02020603050405020304" pitchFamily="18" charset="0"/>
                          <a:ea typeface="+mn-ea"/>
                          <a:cs typeface="Times New Roman" panose="02020603050405020304" pitchFamily="18" charset="0"/>
                        </a:rPr>
                        <a:t>, </a:t>
                      </a:r>
                      <a:r>
                        <a:rPr lang="en-IN" sz="1600" kern="1200" dirty="0" err="1">
                          <a:solidFill>
                            <a:schemeClr val="dk1"/>
                          </a:solidFill>
                          <a:effectLst/>
                          <a:latin typeface="Times New Roman" panose="02020603050405020304" pitchFamily="18" charset="0"/>
                          <a:ea typeface="+mn-ea"/>
                          <a:cs typeface="Times New Roman" panose="02020603050405020304" pitchFamily="18" charset="0"/>
                        </a:rPr>
                        <a:t>Aliaksandr</a:t>
                      </a:r>
                      <a:r>
                        <a:rPr lang="en-IN" sz="1600" kern="1200" dirty="0">
                          <a:solidFill>
                            <a:schemeClr val="dk1"/>
                          </a:solidFill>
                          <a:effectLst/>
                          <a:latin typeface="Times New Roman" panose="02020603050405020304" pitchFamily="18" charset="0"/>
                          <a:ea typeface="+mn-ea"/>
                          <a:cs typeface="Times New Roman" panose="02020603050405020304" pitchFamily="18" charset="0"/>
                        </a:rPr>
                        <a:t> </a:t>
                      </a:r>
                      <a:r>
                        <a:rPr lang="en-IN" sz="1600" kern="1200" dirty="0" err="1">
                          <a:solidFill>
                            <a:schemeClr val="dk1"/>
                          </a:solidFill>
                          <a:effectLst/>
                          <a:latin typeface="Times New Roman" panose="02020603050405020304" pitchFamily="18" charset="0"/>
                          <a:ea typeface="+mn-ea"/>
                          <a:cs typeface="Times New Roman" panose="02020603050405020304" pitchFamily="18" charset="0"/>
                        </a:rPr>
                        <a:t>Barushka</a:t>
                      </a:r>
                      <a:r>
                        <a:rPr lang="en-IN" sz="1600" kern="1200" dirty="0">
                          <a:solidFill>
                            <a:schemeClr val="dk1"/>
                          </a:solidFill>
                          <a:effectLst/>
                          <a:latin typeface="Times New Roman" panose="02020603050405020304" pitchFamily="18" charset="0"/>
                          <a:ea typeface="+mn-ea"/>
                          <a:cs typeface="Times New Roman" panose="02020603050405020304" pitchFamily="18" charset="0"/>
                        </a:rPr>
                        <a:t>, </a:t>
                      </a:r>
                      <a:r>
                        <a:rPr lang="en-IN" sz="1600" kern="1200" dirty="0" err="1">
                          <a:solidFill>
                            <a:schemeClr val="dk1"/>
                          </a:solidFill>
                          <a:effectLst/>
                          <a:latin typeface="Times New Roman" panose="02020603050405020304" pitchFamily="18" charset="0"/>
                          <a:ea typeface="+mn-ea"/>
                          <a:cs typeface="Times New Roman" panose="02020603050405020304" pitchFamily="18" charset="0"/>
                        </a:rPr>
                        <a:t>Petr</a:t>
                      </a:r>
                      <a:r>
                        <a:rPr lang="en-IN" sz="1600" kern="1200" dirty="0">
                          <a:solidFill>
                            <a:schemeClr val="dk1"/>
                          </a:solidFill>
                          <a:effectLst/>
                          <a:latin typeface="Times New Roman" panose="02020603050405020304" pitchFamily="18" charset="0"/>
                          <a:ea typeface="+mn-ea"/>
                          <a:cs typeface="Times New Roman" panose="02020603050405020304" pitchFamily="18" charset="0"/>
                        </a:rPr>
                        <a:t> </a:t>
                      </a:r>
                      <a:r>
                        <a:rPr lang="en-IN" sz="1600" kern="1200" dirty="0" err="1">
                          <a:solidFill>
                            <a:schemeClr val="dk1"/>
                          </a:solidFill>
                          <a:effectLst/>
                          <a:latin typeface="Times New Roman" panose="02020603050405020304" pitchFamily="18" charset="0"/>
                          <a:ea typeface="+mn-ea"/>
                          <a:cs typeface="Times New Roman" panose="02020603050405020304" pitchFamily="18" charset="0"/>
                        </a:rPr>
                        <a:t>Hajek</a:t>
                      </a:r>
                      <a:endParaRPr lang="en-IN" sz="1600" dirty="0">
                        <a:latin typeface="Times New Roman" panose="02020603050405020304" pitchFamily="18" charset="0"/>
                        <a:cs typeface="Times New Roman" panose="02020603050405020304" pitchFamily="18" charset="0"/>
                      </a:endParaRPr>
                    </a:p>
                  </a:txBody>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IN" sz="1600" kern="1200" dirty="0">
                          <a:solidFill>
                            <a:schemeClr val="dk1"/>
                          </a:solidFill>
                          <a:effectLst/>
                          <a:latin typeface="Times New Roman" panose="02020603050405020304" pitchFamily="18" charset="0"/>
                          <a:ea typeface="+mn-ea"/>
                          <a:cs typeface="Times New Roman" panose="02020603050405020304" pitchFamily="18" charset="0"/>
                        </a:rPr>
                        <a:t>To demonstrate the effectiveness of the presented detection systems, we compare their classification performance with several state-of-the-art methods for fake review detection. The proposed systems perform well on all datasets, irrespective of their sentiment polarity and product category.</a:t>
                      </a:r>
                    </a:p>
                    <a:p>
                      <a:pPr algn="just"/>
                      <a:endParaRPr lang="en-IN" sz="1600" dirty="0">
                        <a:latin typeface="Times New Roman" panose="02020603050405020304" pitchFamily="18" charset="0"/>
                        <a:cs typeface="Times New Roman" panose="02020603050405020304" pitchFamily="18" charset="0"/>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600" kern="1200" dirty="0">
                          <a:solidFill>
                            <a:schemeClr val="dk1"/>
                          </a:solidFill>
                          <a:effectLst/>
                          <a:latin typeface="Times New Roman" panose="02020603050405020304" pitchFamily="18" charset="0"/>
                          <a:ea typeface="+mn-ea"/>
                          <a:cs typeface="Times New Roman" panose="02020603050405020304" pitchFamily="18" charset="0"/>
                        </a:rPr>
                        <a:t>Preventive actions can be taken against reviews in the aforementioned platforms.</a:t>
                      </a:r>
                      <a:endParaRPr lang="en-IN" sz="1600" kern="1200" dirty="0">
                        <a:solidFill>
                          <a:schemeClr val="dk1"/>
                        </a:solidFill>
                        <a:effectLst/>
                        <a:latin typeface="Times New Roman" panose="02020603050405020304" pitchFamily="18" charset="0"/>
                        <a:ea typeface="+mn-ea"/>
                        <a:cs typeface="Times New Roman" panose="02020603050405020304" pitchFamily="18" charset="0"/>
                      </a:endParaRPr>
                    </a:p>
                    <a:p>
                      <a:pPr algn="just"/>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bl>
          </a:graphicData>
        </a:graphic>
      </p:graphicFrame>
      <p:sp>
        <p:nvSpPr>
          <p:cNvPr id="5" name="Rectangle 4"/>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278206273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a:latin typeface="Times New Roman" panose="02020603050405020304" pitchFamily="18" charset="0"/>
                <a:cs typeface="Times New Roman" panose="02020603050405020304" pitchFamily="18" charset="0"/>
              </a:rPr>
              <a:t>LITERATURE SURVEY</a:t>
            </a:r>
            <a:endParaRPr lang="en-IN" sz="2400" dirty="0"/>
          </a:p>
        </p:txBody>
      </p:sp>
      <p:graphicFrame>
        <p:nvGraphicFramePr>
          <p:cNvPr id="4" name="Table 3"/>
          <p:cNvGraphicFramePr>
            <a:graphicFrameLocks noGrp="1"/>
          </p:cNvGraphicFramePr>
          <p:nvPr>
            <p:extLst>
              <p:ext uri="{D42A27DB-BD31-4B8C-83A1-F6EECF244321}">
                <p14:modId xmlns:p14="http://schemas.microsoft.com/office/powerpoint/2010/main" val="2095900047"/>
              </p:ext>
            </p:extLst>
          </p:nvPr>
        </p:nvGraphicFramePr>
        <p:xfrm>
          <a:off x="838200" y="1485971"/>
          <a:ext cx="10804300" cy="4966343"/>
        </p:xfrm>
        <a:graphic>
          <a:graphicData uri="http://schemas.openxmlformats.org/drawingml/2006/table">
            <a:tbl>
              <a:tblPr firstRow="1" bandRow="1">
                <a:tableStyleId>{F5AB1C69-6EDB-4FF4-983F-18BD219EF322}</a:tableStyleId>
              </a:tblPr>
              <a:tblGrid>
                <a:gridCol w="2160860">
                  <a:extLst>
                    <a:ext uri="{9D8B030D-6E8A-4147-A177-3AD203B41FA5}">
                      <a16:colId xmlns:a16="http://schemas.microsoft.com/office/drawing/2014/main" val="20000"/>
                    </a:ext>
                  </a:extLst>
                </a:gridCol>
                <a:gridCol w="2160860">
                  <a:extLst>
                    <a:ext uri="{9D8B030D-6E8A-4147-A177-3AD203B41FA5}">
                      <a16:colId xmlns:a16="http://schemas.microsoft.com/office/drawing/2014/main" val="20001"/>
                    </a:ext>
                  </a:extLst>
                </a:gridCol>
                <a:gridCol w="2160860">
                  <a:extLst>
                    <a:ext uri="{9D8B030D-6E8A-4147-A177-3AD203B41FA5}">
                      <a16:colId xmlns:a16="http://schemas.microsoft.com/office/drawing/2014/main" val="20002"/>
                    </a:ext>
                  </a:extLst>
                </a:gridCol>
                <a:gridCol w="2160860">
                  <a:extLst>
                    <a:ext uri="{9D8B030D-6E8A-4147-A177-3AD203B41FA5}">
                      <a16:colId xmlns:a16="http://schemas.microsoft.com/office/drawing/2014/main" val="20003"/>
                    </a:ext>
                  </a:extLst>
                </a:gridCol>
                <a:gridCol w="2160860">
                  <a:extLst>
                    <a:ext uri="{9D8B030D-6E8A-4147-A177-3AD203B41FA5}">
                      <a16:colId xmlns:a16="http://schemas.microsoft.com/office/drawing/2014/main" val="20004"/>
                    </a:ext>
                  </a:extLst>
                </a:gridCol>
              </a:tblGrid>
              <a:tr h="631467">
                <a:tc>
                  <a:txBody>
                    <a:bodyPr/>
                    <a:lstStyle/>
                    <a:p>
                      <a:pPr algn="ctr"/>
                      <a:r>
                        <a:rPr lang="en-US" sz="1800" dirty="0">
                          <a:latin typeface="Times New Roman" panose="02020603050405020304" pitchFamily="18" charset="0"/>
                          <a:cs typeface="Times New Roman" panose="02020603050405020304" pitchFamily="18" charset="0"/>
                        </a:rPr>
                        <a:t>Title</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Year</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Author</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Methology</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Merits/demerits</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0"/>
                  </a:ext>
                </a:extLst>
              </a:tr>
              <a:tr h="4334876">
                <a:tc>
                  <a:txBody>
                    <a:bodyPr/>
                    <a:lstStyle/>
                    <a:p>
                      <a:pPr algn="just"/>
                      <a:r>
                        <a:rPr lang="en-IN" sz="1600" b="1" kern="1200" dirty="0">
                          <a:solidFill>
                            <a:schemeClr val="dk1"/>
                          </a:solidFill>
                          <a:effectLst/>
                          <a:latin typeface="Times New Roman" panose="02020603050405020304" pitchFamily="18" charset="0"/>
                          <a:ea typeface="+mn-ea"/>
                          <a:cs typeface="Times New Roman" panose="02020603050405020304" pitchFamily="18" charset="0"/>
                        </a:rPr>
                        <a:t>Fake online reviews: Literature review, synthesis, and directions for future research</a:t>
                      </a:r>
                      <a:endParaRPr lang="en-IN" sz="1600" dirty="0">
                        <a:latin typeface="Times New Roman" panose="02020603050405020304" pitchFamily="18" charset="0"/>
                        <a:cs typeface="Times New Roman" panose="02020603050405020304" pitchFamily="18" charset="0"/>
                      </a:endParaRPr>
                    </a:p>
                  </a:txBody>
                  <a:tcPr/>
                </a:tc>
                <a:tc>
                  <a:txBody>
                    <a:bodyPr/>
                    <a:lstStyle/>
                    <a:p>
                      <a:pPr algn="just"/>
                      <a:r>
                        <a:rPr lang="en-US" sz="1600" dirty="0">
                          <a:latin typeface="Times New Roman" panose="02020603050405020304" pitchFamily="18" charset="0"/>
                          <a:cs typeface="Times New Roman" panose="02020603050405020304" pitchFamily="18" charset="0"/>
                        </a:rPr>
                        <a:t>2020</a:t>
                      </a:r>
                      <a:endParaRPr lang="en-IN" sz="1600" dirty="0">
                        <a:latin typeface="Times New Roman" panose="02020603050405020304" pitchFamily="18" charset="0"/>
                        <a:cs typeface="Times New Roman" panose="02020603050405020304" pitchFamily="18" charset="0"/>
                      </a:endParaRPr>
                    </a:p>
                  </a:txBody>
                  <a:tcPr/>
                </a:tc>
                <a:tc>
                  <a:txBody>
                    <a:bodyPr/>
                    <a:lstStyle/>
                    <a:p>
                      <a:pPr algn="just"/>
                      <a:r>
                        <a:rPr lang="en-IN" sz="1600" u="none" strike="noStrike" kern="1200" dirty="0" err="1">
                          <a:solidFill>
                            <a:schemeClr val="dk1"/>
                          </a:solidFill>
                          <a:effectLst/>
                          <a:latin typeface="Times New Roman" panose="02020603050405020304" pitchFamily="18" charset="0"/>
                          <a:ea typeface="+mn-ea"/>
                          <a:cs typeface="Times New Roman" panose="02020603050405020304" pitchFamily="18" charset="0"/>
                        </a:rPr>
                        <a:t>YuanyuanWu</a:t>
                      </a:r>
                      <a:r>
                        <a:rPr lang="en-IN" sz="1600" u="none" strike="noStrike" kern="1200" baseline="30000" dirty="0" err="1">
                          <a:solidFill>
                            <a:schemeClr val="dk1"/>
                          </a:solidFill>
                          <a:effectLst/>
                          <a:latin typeface="Times New Roman" panose="02020603050405020304" pitchFamily="18" charset="0"/>
                          <a:ea typeface="+mn-ea"/>
                          <a:cs typeface="Times New Roman" panose="02020603050405020304" pitchFamily="18" charset="0"/>
                        </a:rPr>
                        <a:t>a</a:t>
                      </a:r>
                      <a:r>
                        <a:rPr lang="en-IN" sz="1600" u="sng" kern="1200" baseline="30000" dirty="0" err="1">
                          <a:solidFill>
                            <a:schemeClr val="dk1"/>
                          </a:solidFill>
                          <a:effectLst/>
                          <a:latin typeface="Times New Roman" panose="02020603050405020304" pitchFamily="18" charset="0"/>
                          <a:ea typeface="+mn-ea"/>
                          <a:cs typeface="Times New Roman" panose="02020603050405020304" pitchFamily="18" charset="0"/>
                        </a:rPr>
                        <a:t>b</a:t>
                      </a:r>
                      <a:r>
                        <a:rPr lang="en-IN" sz="1600" u="none" strike="noStrike" kern="1200" dirty="0" err="1">
                          <a:solidFill>
                            <a:schemeClr val="dk1"/>
                          </a:solidFill>
                          <a:effectLst/>
                          <a:latin typeface="Times New Roman" panose="02020603050405020304" pitchFamily="18" charset="0"/>
                          <a:ea typeface="+mn-ea"/>
                          <a:cs typeface="Times New Roman" panose="02020603050405020304" pitchFamily="18" charset="0"/>
                        </a:rPr>
                        <a:t>Eric,W.T.Ngai</a:t>
                      </a:r>
                      <a:r>
                        <a:rPr lang="en-IN" sz="1600" u="none" strike="noStrike" kern="1200" baseline="30000" dirty="0" err="1">
                          <a:solidFill>
                            <a:schemeClr val="dk1"/>
                          </a:solidFill>
                          <a:effectLst/>
                          <a:latin typeface="Times New Roman" panose="02020603050405020304" pitchFamily="18" charset="0"/>
                          <a:ea typeface="+mn-ea"/>
                          <a:cs typeface="Times New Roman" panose="02020603050405020304" pitchFamily="18" charset="0"/>
                        </a:rPr>
                        <a:t>b</a:t>
                      </a:r>
                      <a:r>
                        <a:rPr lang="en-IN" sz="1600" u="sng" kern="1200" dirty="0">
                          <a:solidFill>
                            <a:schemeClr val="dk1"/>
                          </a:solidFill>
                          <a:effectLst/>
                          <a:latin typeface="Times New Roman" panose="02020603050405020304" pitchFamily="18" charset="0"/>
                          <a:ea typeface="+mn-ea"/>
                          <a:cs typeface="Times New Roman" panose="02020603050405020304" pitchFamily="18" charset="0"/>
                        </a:rPr>
                        <a:t>, </a:t>
                      </a:r>
                      <a:r>
                        <a:rPr lang="en-IN" sz="1600" u="none" strike="noStrike" kern="1200" dirty="0" err="1">
                          <a:solidFill>
                            <a:schemeClr val="dk1"/>
                          </a:solidFill>
                          <a:effectLst/>
                          <a:latin typeface="Times New Roman" panose="02020603050405020304" pitchFamily="18" charset="0"/>
                          <a:ea typeface="+mn-ea"/>
                          <a:cs typeface="Times New Roman" panose="02020603050405020304" pitchFamily="18" charset="0"/>
                        </a:rPr>
                        <a:t>PengkunWu</a:t>
                      </a:r>
                      <a:r>
                        <a:rPr lang="en-IN" sz="1600" u="none" strike="noStrike" kern="1200" baseline="30000" dirty="0" err="1">
                          <a:solidFill>
                            <a:schemeClr val="dk1"/>
                          </a:solidFill>
                          <a:effectLst/>
                          <a:latin typeface="Times New Roman" panose="02020603050405020304" pitchFamily="18" charset="0"/>
                          <a:ea typeface="+mn-ea"/>
                          <a:cs typeface="Times New Roman" panose="02020603050405020304" pitchFamily="18" charset="0"/>
                        </a:rPr>
                        <a:t>a</a:t>
                      </a:r>
                      <a:r>
                        <a:rPr lang="en-IN" sz="1600" u="sng" kern="1200" baseline="30000" dirty="0" err="1">
                          <a:solidFill>
                            <a:schemeClr val="dk1"/>
                          </a:solidFill>
                          <a:effectLst/>
                          <a:latin typeface="Times New Roman" panose="02020603050405020304" pitchFamily="18" charset="0"/>
                          <a:ea typeface="+mn-ea"/>
                          <a:cs typeface="Times New Roman" panose="02020603050405020304" pitchFamily="18" charset="0"/>
                        </a:rPr>
                        <a:t>bc</a:t>
                      </a:r>
                      <a:r>
                        <a:rPr lang="en-IN" sz="1600" u="sng" kern="1200" dirty="0" err="1">
                          <a:solidFill>
                            <a:schemeClr val="dk1"/>
                          </a:solidFill>
                          <a:effectLst/>
                          <a:latin typeface="Times New Roman" panose="02020603050405020304" pitchFamily="18" charset="0"/>
                          <a:ea typeface="+mn-ea"/>
                          <a:cs typeface="Times New Roman" panose="02020603050405020304" pitchFamily="18" charset="0"/>
                        </a:rPr>
                        <a:t>,</a:t>
                      </a:r>
                      <a:r>
                        <a:rPr lang="en-IN" sz="1600" u="none" strike="noStrike" kern="1200" dirty="0" err="1">
                          <a:solidFill>
                            <a:schemeClr val="dk1"/>
                          </a:solidFill>
                          <a:effectLst/>
                          <a:latin typeface="Times New Roman" panose="02020603050405020304" pitchFamily="18" charset="0"/>
                          <a:ea typeface="+mn-ea"/>
                          <a:cs typeface="Times New Roman" panose="02020603050405020304" pitchFamily="18" charset="0"/>
                        </a:rPr>
                        <a:t>ChongWu</a:t>
                      </a:r>
                      <a:r>
                        <a:rPr lang="en-IN" sz="1600" u="none" strike="noStrike" kern="1200" baseline="30000" dirty="0" err="1">
                          <a:solidFill>
                            <a:schemeClr val="dk1"/>
                          </a:solidFill>
                          <a:effectLst/>
                          <a:latin typeface="Times New Roman" panose="02020603050405020304" pitchFamily="18" charset="0"/>
                          <a:ea typeface="+mn-ea"/>
                          <a:cs typeface="Times New Roman" panose="02020603050405020304" pitchFamily="18" charset="0"/>
                        </a:rPr>
                        <a:t>a</a:t>
                      </a:r>
                      <a:endParaRPr lang="en-IN" sz="1600" dirty="0">
                        <a:latin typeface="Times New Roman" panose="02020603050405020304" pitchFamily="18" charset="0"/>
                        <a:cs typeface="Times New Roman" panose="02020603050405020304" pitchFamily="18" charset="0"/>
                      </a:endParaRPr>
                    </a:p>
                  </a:txBody>
                  <a:tcPr/>
                </a:tc>
                <a:tc>
                  <a:txBody>
                    <a:bodyPr/>
                    <a:lstStyle/>
                    <a:p>
                      <a:pPr algn="just"/>
                      <a:r>
                        <a:rPr lang="en-IN" sz="1600" kern="1200" dirty="0">
                          <a:solidFill>
                            <a:schemeClr val="dk1"/>
                          </a:solidFill>
                          <a:effectLst/>
                          <a:latin typeface="Times New Roman" panose="02020603050405020304" pitchFamily="18" charset="0"/>
                          <a:ea typeface="+mn-ea"/>
                          <a:cs typeface="Times New Roman" panose="02020603050405020304" pitchFamily="18" charset="0"/>
                        </a:rPr>
                        <a:t>This study proposes an antecedent–consequence–intervention conceptual framework to develop an initial research agenda for investigating fake reviews. Based on a review of the extant literature on this issue, we identify 20 future research questions and suggest 18 propositions. </a:t>
                      </a:r>
                      <a:endParaRPr lang="en-IN" sz="1600" dirty="0">
                        <a:latin typeface="Times New Roman" panose="02020603050405020304" pitchFamily="18" charset="0"/>
                        <a:cs typeface="Times New Roman" panose="02020603050405020304" pitchFamily="18" charset="0"/>
                      </a:endParaRPr>
                    </a:p>
                  </a:txBody>
                  <a:tcPr/>
                </a:tc>
                <a:tc>
                  <a:txBody>
                    <a:bodyPr/>
                    <a:lstStyle/>
                    <a:p>
                      <a:pPr lvl="0"/>
                      <a:r>
                        <a:rPr lang="en-US" sz="1600" kern="1200" dirty="0">
                          <a:solidFill>
                            <a:schemeClr val="dk1"/>
                          </a:solidFill>
                          <a:effectLst/>
                          <a:latin typeface="Times New Roman" panose="02020603050405020304" pitchFamily="18" charset="0"/>
                          <a:ea typeface="+mn-ea"/>
                          <a:cs typeface="Times New Roman" panose="02020603050405020304" pitchFamily="18" charset="0"/>
                        </a:rPr>
                        <a:t>The antecedent–consequence–intervention (ACI) conceptual framework is proposed.</a:t>
                      </a:r>
                      <a:endParaRPr lang="en-IN" sz="1600" kern="1200" dirty="0">
                        <a:solidFill>
                          <a:schemeClr val="dk1"/>
                        </a:solidFill>
                        <a:effectLst/>
                        <a:latin typeface="Times New Roman" panose="02020603050405020304" pitchFamily="18" charset="0"/>
                        <a:ea typeface="+mn-ea"/>
                        <a:cs typeface="Times New Roman" panose="02020603050405020304" pitchFamily="18" charset="0"/>
                      </a:endParaRPr>
                    </a:p>
                    <a:p>
                      <a:pPr lvl="0"/>
                      <a:r>
                        <a:rPr lang="en-US" sz="1600" kern="1200" dirty="0">
                          <a:solidFill>
                            <a:schemeClr val="dk1"/>
                          </a:solidFill>
                          <a:effectLst/>
                          <a:latin typeface="Times New Roman" panose="02020603050405020304" pitchFamily="18" charset="0"/>
                          <a:ea typeface="+mn-ea"/>
                          <a:cs typeface="Times New Roman" panose="02020603050405020304" pitchFamily="18" charset="0"/>
                        </a:rPr>
                        <a:t>A review of fake online reviews is presented.</a:t>
                      </a:r>
                      <a:endParaRPr lang="en-IN" sz="1600" kern="1200" dirty="0">
                        <a:solidFill>
                          <a:schemeClr val="dk1"/>
                        </a:solidFill>
                        <a:effectLst/>
                        <a:latin typeface="Times New Roman" panose="02020603050405020304" pitchFamily="18" charset="0"/>
                        <a:ea typeface="+mn-ea"/>
                        <a:cs typeface="Times New Roman" panose="02020603050405020304" pitchFamily="18" charset="0"/>
                      </a:endParaRPr>
                    </a:p>
                    <a:p>
                      <a:pPr lvl="0"/>
                      <a:r>
                        <a:rPr lang="en-US" sz="1600" kern="1200" dirty="0">
                          <a:solidFill>
                            <a:schemeClr val="dk1"/>
                          </a:solidFill>
                          <a:effectLst/>
                          <a:latin typeface="Times New Roman" panose="02020603050405020304" pitchFamily="18" charset="0"/>
                          <a:ea typeface="+mn-ea"/>
                          <a:cs typeface="Times New Roman" panose="02020603050405020304" pitchFamily="18" charset="0"/>
                        </a:rPr>
                        <a:t>Twenty future research questions are identified.</a:t>
                      </a:r>
                      <a:endParaRPr lang="en-IN" sz="1600" kern="1200" dirty="0">
                        <a:solidFill>
                          <a:schemeClr val="dk1"/>
                        </a:solidFill>
                        <a:effectLst/>
                        <a:latin typeface="Times New Roman" panose="02020603050405020304" pitchFamily="18" charset="0"/>
                        <a:ea typeface="+mn-ea"/>
                        <a:cs typeface="Times New Roman" panose="02020603050405020304" pitchFamily="18" charset="0"/>
                      </a:endParaRPr>
                    </a:p>
                    <a:p>
                      <a:pPr algn="just"/>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bl>
          </a:graphicData>
        </a:graphic>
      </p:graphicFrame>
      <p:sp>
        <p:nvSpPr>
          <p:cNvPr id="5" name="Rectangle 4"/>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341216161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a:latin typeface="Times New Roman" panose="02020603050405020304" pitchFamily="18" charset="0"/>
                <a:cs typeface="Times New Roman" panose="02020603050405020304" pitchFamily="18" charset="0"/>
              </a:rPr>
              <a:t>LITERATURE SURVEY</a:t>
            </a:r>
            <a:endParaRPr lang="en-IN" sz="2400" dirty="0"/>
          </a:p>
        </p:txBody>
      </p:sp>
      <p:graphicFrame>
        <p:nvGraphicFramePr>
          <p:cNvPr id="4" name="Table 3"/>
          <p:cNvGraphicFramePr>
            <a:graphicFrameLocks noGrp="1"/>
          </p:cNvGraphicFramePr>
          <p:nvPr>
            <p:extLst>
              <p:ext uri="{D42A27DB-BD31-4B8C-83A1-F6EECF244321}">
                <p14:modId xmlns:p14="http://schemas.microsoft.com/office/powerpoint/2010/main" val="3964749538"/>
              </p:ext>
            </p:extLst>
          </p:nvPr>
        </p:nvGraphicFramePr>
        <p:xfrm>
          <a:off x="618188" y="1493949"/>
          <a:ext cx="10972800" cy="4919730"/>
        </p:xfrm>
        <a:graphic>
          <a:graphicData uri="http://schemas.openxmlformats.org/drawingml/2006/table">
            <a:tbl>
              <a:tblPr firstRow="1" bandRow="1">
                <a:tableStyleId>{F5AB1C69-6EDB-4FF4-983F-18BD219EF322}</a:tableStyleId>
              </a:tblPr>
              <a:tblGrid>
                <a:gridCol w="219456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gridCol w="2194560">
                  <a:extLst>
                    <a:ext uri="{9D8B030D-6E8A-4147-A177-3AD203B41FA5}">
                      <a16:colId xmlns:a16="http://schemas.microsoft.com/office/drawing/2014/main" val="20004"/>
                    </a:ext>
                  </a:extLst>
                </a:gridCol>
              </a:tblGrid>
              <a:tr h="629085">
                <a:tc>
                  <a:txBody>
                    <a:bodyPr/>
                    <a:lstStyle/>
                    <a:p>
                      <a:pPr algn="ctr"/>
                      <a:r>
                        <a:rPr lang="en-US" sz="1800" dirty="0">
                          <a:latin typeface="Times New Roman" panose="02020603050405020304" pitchFamily="18" charset="0"/>
                          <a:cs typeface="Times New Roman" panose="02020603050405020304" pitchFamily="18" charset="0"/>
                        </a:rPr>
                        <a:t>Title</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Year</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Author</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Methology</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Merits/demerits</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0"/>
                  </a:ext>
                </a:extLst>
              </a:tr>
              <a:tr h="4290645">
                <a:tc>
                  <a:txBody>
                    <a:bodyPr/>
                    <a:lstStyle/>
                    <a:p>
                      <a:pPr algn="just"/>
                      <a:r>
                        <a:rPr lang="en-IN" sz="1600" b="1" kern="1200" dirty="0">
                          <a:solidFill>
                            <a:schemeClr val="dk1"/>
                          </a:solidFill>
                          <a:effectLst/>
                          <a:latin typeface="Times New Roman" panose="02020603050405020304" pitchFamily="18" charset="0"/>
                          <a:ea typeface="+mn-ea"/>
                          <a:cs typeface="Times New Roman" panose="02020603050405020304" pitchFamily="18" charset="0"/>
                        </a:rPr>
                        <a:t>One Methodology for Spam Review Detection Based on Review Coherence Metrics</a:t>
                      </a:r>
                      <a:endParaRPr lang="en-IN" sz="1600" dirty="0">
                        <a:latin typeface="Times New Roman" panose="02020603050405020304" pitchFamily="18" charset="0"/>
                        <a:cs typeface="Times New Roman" panose="02020603050405020304" pitchFamily="18" charset="0"/>
                      </a:endParaRPr>
                    </a:p>
                  </a:txBody>
                  <a:tcPr/>
                </a:tc>
                <a:tc>
                  <a:txBody>
                    <a:bodyPr/>
                    <a:lstStyle/>
                    <a:p>
                      <a:pPr algn="just"/>
                      <a:r>
                        <a:rPr lang="en-US" sz="1600" dirty="0">
                          <a:latin typeface="Times New Roman" panose="02020603050405020304" pitchFamily="18" charset="0"/>
                          <a:cs typeface="Times New Roman" panose="02020603050405020304" pitchFamily="18" charset="0"/>
                        </a:rPr>
                        <a:t>2003</a:t>
                      </a:r>
                      <a:endParaRPr lang="en-IN" sz="1600" dirty="0">
                        <a:latin typeface="Times New Roman" panose="02020603050405020304" pitchFamily="18" charset="0"/>
                        <a:cs typeface="Times New Roman" panose="02020603050405020304" pitchFamily="18" charset="0"/>
                      </a:endParaRPr>
                    </a:p>
                  </a:txBody>
                  <a:tcPr/>
                </a:tc>
                <a:tc>
                  <a:txBody>
                    <a:bodyPr/>
                    <a:lstStyle/>
                    <a:p>
                      <a:pPr fontAlgn="ctr"/>
                      <a:r>
                        <a:rPr lang="en-IN" sz="1600" kern="1200" dirty="0" err="1">
                          <a:solidFill>
                            <a:schemeClr val="dk1"/>
                          </a:solidFill>
                          <a:effectLst/>
                          <a:latin typeface="Times New Roman" panose="02020603050405020304" pitchFamily="18" charset="0"/>
                          <a:ea typeface="+mn-ea"/>
                          <a:cs typeface="Times New Roman" panose="02020603050405020304" pitchFamily="18" charset="0"/>
                        </a:rPr>
                        <a:t>Xinkai</a:t>
                      </a:r>
                      <a:r>
                        <a:rPr lang="en-IN" sz="1600" kern="1200" dirty="0">
                          <a:solidFill>
                            <a:schemeClr val="dk1"/>
                          </a:solidFill>
                          <a:effectLst/>
                          <a:latin typeface="Times New Roman" panose="02020603050405020304" pitchFamily="18" charset="0"/>
                          <a:ea typeface="+mn-ea"/>
                          <a:cs typeface="Times New Roman" panose="02020603050405020304" pitchFamily="18" charset="0"/>
                        </a:rPr>
                        <a:t> Yang</a:t>
                      </a:r>
                    </a:p>
                  </a:txBody>
                  <a:tcPr/>
                </a:tc>
                <a:tc>
                  <a:txBody>
                    <a:bodyPr/>
                    <a:lstStyle/>
                    <a:p>
                      <a:pPr algn="just"/>
                      <a:r>
                        <a:rPr lang="en-IN" sz="1600" kern="1200" dirty="0">
                          <a:solidFill>
                            <a:schemeClr val="dk1"/>
                          </a:solidFill>
                          <a:effectLst/>
                          <a:latin typeface="Times New Roman" panose="02020603050405020304" pitchFamily="18" charset="0"/>
                          <a:ea typeface="+mn-ea"/>
                          <a:cs typeface="Times New Roman" panose="02020603050405020304" pitchFamily="18" charset="0"/>
                        </a:rPr>
                        <a:t>Our proposed model tries to </a:t>
                      </a:r>
                      <a:r>
                        <a:rPr lang="en-IN" sz="1600" kern="1200" dirty="0" err="1">
                          <a:solidFill>
                            <a:schemeClr val="dk1"/>
                          </a:solidFill>
                          <a:effectLst/>
                          <a:latin typeface="Times New Roman" panose="02020603050405020304" pitchFamily="18" charset="0"/>
                          <a:ea typeface="+mn-ea"/>
                          <a:cs typeface="Times New Roman" panose="02020603050405020304" pitchFamily="18" charset="0"/>
                        </a:rPr>
                        <a:t>analyze</a:t>
                      </a:r>
                      <a:r>
                        <a:rPr lang="en-IN" sz="1600" kern="1200" dirty="0">
                          <a:solidFill>
                            <a:schemeClr val="dk1"/>
                          </a:solidFill>
                          <a:effectLst/>
                          <a:latin typeface="Times New Roman" panose="02020603050405020304" pitchFamily="18" charset="0"/>
                          <a:ea typeface="+mn-ea"/>
                          <a:cs typeface="Times New Roman" panose="02020603050405020304" pitchFamily="18" charset="0"/>
                        </a:rPr>
                        <a:t> review coherence in the granularity of sentence. We define some metrics to investigate the coherence between sentiment words and other related words based on the flow smoothness between sentences: word transition probability and word concurrence probability.</a:t>
                      </a:r>
                      <a:endParaRPr lang="en-IN" sz="1600" dirty="0">
                        <a:latin typeface="Times New Roman" panose="02020603050405020304" pitchFamily="18" charset="0"/>
                        <a:cs typeface="Times New Roman" panose="02020603050405020304" pitchFamily="18" charset="0"/>
                      </a:endParaRPr>
                    </a:p>
                  </a:txBody>
                  <a:tcPr/>
                </a:tc>
                <a:tc>
                  <a:txBody>
                    <a:bodyPr/>
                    <a:lstStyle/>
                    <a:p>
                      <a:pPr lvl="0"/>
                      <a:r>
                        <a:rPr lang="en-US" sz="1600" kern="1200" dirty="0">
                          <a:solidFill>
                            <a:schemeClr val="dk1"/>
                          </a:solidFill>
                          <a:effectLst/>
                          <a:latin typeface="Times New Roman" panose="02020603050405020304" pitchFamily="18" charset="0"/>
                          <a:ea typeface="+mn-ea"/>
                          <a:cs typeface="Times New Roman" panose="02020603050405020304" pitchFamily="18" charset="0"/>
                        </a:rPr>
                        <a:t>The review ratings are clustered into unfairly high ratings and unfairly low ratings by using third party ratings products.</a:t>
                      </a:r>
                      <a:endParaRPr lang="en-IN" sz="1600" kern="1200" dirty="0">
                        <a:solidFill>
                          <a:schemeClr val="dk1"/>
                        </a:solidFill>
                        <a:effectLst/>
                        <a:latin typeface="Times New Roman" panose="02020603050405020304" pitchFamily="18" charset="0"/>
                        <a:ea typeface="+mn-ea"/>
                        <a:cs typeface="Times New Roman" panose="02020603050405020304" pitchFamily="18" charset="0"/>
                      </a:endParaRPr>
                    </a:p>
                    <a:p>
                      <a:pPr lvl="0"/>
                      <a:r>
                        <a:rPr lang="en-US" sz="1600" kern="1200" dirty="0">
                          <a:solidFill>
                            <a:schemeClr val="dk1"/>
                          </a:solidFill>
                          <a:effectLst/>
                          <a:latin typeface="Times New Roman" panose="02020603050405020304" pitchFamily="18" charset="0"/>
                          <a:ea typeface="+mn-ea"/>
                          <a:cs typeface="Times New Roman" panose="02020603050405020304" pitchFamily="18" charset="0"/>
                        </a:rPr>
                        <a:t>The sentence concurrence measure for two consecutive sentences can be defined by using the highest word concurrence measure.</a:t>
                      </a:r>
                      <a:endParaRPr lang="en-IN" sz="1600" kern="1200" dirty="0">
                        <a:solidFill>
                          <a:schemeClr val="dk1"/>
                        </a:solidFill>
                        <a:effectLst/>
                        <a:latin typeface="Times New Roman" panose="02020603050405020304" pitchFamily="18" charset="0"/>
                        <a:ea typeface="+mn-ea"/>
                        <a:cs typeface="Times New Roman" panose="02020603050405020304" pitchFamily="18" charset="0"/>
                      </a:endParaRPr>
                    </a:p>
                    <a:p>
                      <a:pPr lvl="0"/>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bl>
          </a:graphicData>
        </a:graphic>
      </p:graphicFrame>
      <p:sp>
        <p:nvSpPr>
          <p:cNvPr id="5" name="Rectangle 4"/>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9510087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9962" y="245659"/>
            <a:ext cx="10515600" cy="1325563"/>
          </a:xfrm>
        </p:spPr>
        <p:txBody>
          <a:bodyPr>
            <a:normAutofit/>
          </a:bodyPr>
          <a:lstStyle/>
          <a:p>
            <a:r>
              <a:rPr lang="en-US" sz="2400" b="1" dirty="0">
                <a:latin typeface="Times New Roman" panose="02020603050405020304" pitchFamily="18" charset="0"/>
                <a:cs typeface="Times New Roman" panose="02020603050405020304" pitchFamily="18" charset="0"/>
              </a:rPr>
              <a:t>LITERATURE SURVEY</a:t>
            </a:r>
            <a:endParaRPr lang="en-IN" sz="2400" dirty="0"/>
          </a:p>
        </p:txBody>
      </p:sp>
      <p:graphicFrame>
        <p:nvGraphicFramePr>
          <p:cNvPr id="4" name="Table 3"/>
          <p:cNvGraphicFramePr>
            <a:graphicFrameLocks noGrp="1"/>
          </p:cNvGraphicFramePr>
          <p:nvPr>
            <p:extLst>
              <p:ext uri="{D42A27DB-BD31-4B8C-83A1-F6EECF244321}">
                <p14:modId xmlns:p14="http://schemas.microsoft.com/office/powerpoint/2010/main" val="1991388289"/>
              </p:ext>
            </p:extLst>
          </p:nvPr>
        </p:nvGraphicFramePr>
        <p:xfrm>
          <a:off x="528034" y="1390918"/>
          <a:ext cx="11127345" cy="4984124"/>
        </p:xfrm>
        <a:graphic>
          <a:graphicData uri="http://schemas.openxmlformats.org/drawingml/2006/table">
            <a:tbl>
              <a:tblPr firstRow="1" bandRow="1">
                <a:tableStyleId>{F5AB1C69-6EDB-4FF4-983F-18BD219EF322}</a:tableStyleId>
              </a:tblPr>
              <a:tblGrid>
                <a:gridCol w="2225469">
                  <a:extLst>
                    <a:ext uri="{9D8B030D-6E8A-4147-A177-3AD203B41FA5}">
                      <a16:colId xmlns:a16="http://schemas.microsoft.com/office/drawing/2014/main" val="20000"/>
                    </a:ext>
                  </a:extLst>
                </a:gridCol>
                <a:gridCol w="2225469">
                  <a:extLst>
                    <a:ext uri="{9D8B030D-6E8A-4147-A177-3AD203B41FA5}">
                      <a16:colId xmlns:a16="http://schemas.microsoft.com/office/drawing/2014/main" val="20001"/>
                    </a:ext>
                  </a:extLst>
                </a:gridCol>
                <a:gridCol w="2225469">
                  <a:extLst>
                    <a:ext uri="{9D8B030D-6E8A-4147-A177-3AD203B41FA5}">
                      <a16:colId xmlns:a16="http://schemas.microsoft.com/office/drawing/2014/main" val="20002"/>
                    </a:ext>
                  </a:extLst>
                </a:gridCol>
                <a:gridCol w="2225469">
                  <a:extLst>
                    <a:ext uri="{9D8B030D-6E8A-4147-A177-3AD203B41FA5}">
                      <a16:colId xmlns:a16="http://schemas.microsoft.com/office/drawing/2014/main" val="20003"/>
                    </a:ext>
                  </a:extLst>
                </a:gridCol>
                <a:gridCol w="2225469">
                  <a:extLst>
                    <a:ext uri="{9D8B030D-6E8A-4147-A177-3AD203B41FA5}">
                      <a16:colId xmlns:a16="http://schemas.microsoft.com/office/drawing/2014/main" val="20004"/>
                    </a:ext>
                  </a:extLst>
                </a:gridCol>
              </a:tblGrid>
              <a:tr h="580891">
                <a:tc>
                  <a:txBody>
                    <a:bodyPr/>
                    <a:lstStyle/>
                    <a:p>
                      <a:pPr algn="ctr"/>
                      <a:r>
                        <a:rPr lang="en-US" sz="1800" dirty="0">
                          <a:latin typeface="Times New Roman" panose="02020603050405020304" pitchFamily="18" charset="0"/>
                          <a:cs typeface="Times New Roman" panose="02020603050405020304" pitchFamily="18" charset="0"/>
                        </a:rPr>
                        <a:t>Title</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Year</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Author</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Methology</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Merits/demerits</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0"/>
                  </a:ext>
                </a:extLst>
              </a:tr>
              <a:tr h="4403233">
                <a:tc>
                  <a:txBody>
                    <a:bodyPr/>
                    <a:lstStyle/>
                    <a:p>
                      <a:pPr algn="just"/>
                      <a:r>
                        <a:rPr lang="en-IN" sz="1600" b="1" kern="1200" dirty="0">
                          <a:solidFill>
                            <a:schemeClr val="dk1"/>
                          </a:solidFill>
                          <a:effectLst/>
                          <a:latin typeface="Times New Roman" panose="02020603050405020304" pitchFamily="18" charset="0"/>
                          <a:ea typeface="+mn-ea"/>
                          <a:cs typeface="Times New Roman" panose="02020603050405020304" pitchFamily="18" charset="0"/>
                        </a:rPr>
                        <a:t>New Avenues in Opinion Mining and Sentiment Analysis</a:t>
                      </a:r>
                      <a:endParaRPr lang="en-IN" sz="1600" dirty="0">
                        <a:latin typeface="Times New Roman" panose="02020603050405020304" pitchFamily="18" charset="0"/>
                        <a:cs typeface="Times New Roman" panose="02020603050405020304" pitchFamily="18" charset="0"/>
                      </a:endParaRPr>
                    </a:p>
                  </a:txBody>
                  <a:tcPr/>
                </a:tc>
                <a:tc>
                  <a:txBody>
                    <a:bodyPr/>
                    <a:lstStyle/>
                    <a:p>
                      <a:pPr algn="just"/>
                      <a:r>
                        <a:rPr lang="en-US" sz="1600" dirty="0">
                          <a:latin typeface="Times New Roman" panose="02020603050405020304" pitchFamily="18" charset="0"/>
                          <a:cs typeface="Times New Roman" panose="02020603050405020304" pitchFamily="18" charset="0"/>
                        </a:rPr>
                        <a:t>2013</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IN" sz="1600" kern="1200" dirty="0">
                          <a:solidFill>
                            <a:schemeClr val="dk1"/>
                          </a:solidFill>
                          <a:effectLst/>
                          <a:latin typeface="Times New Roman" panose="02020603050405020304" pitchFamily="18" charset="0"/>
                          <a:ea typeface="+mn-ea"/>
                          <a:cs typeface="Times New Roman" panose="02020603050405020304" pitchFamily="18" charset="0"/>
                        </a:rPr>
                        <a:t>Erik Cambria, </a:t>
                      </a:r>
                      <a:r>
                        <a:rPr lang="en-IN" sz="1600" kern="1200" dirty="0" err="1">
                          <a:solidFill>
                            <a:schemeClr val="dk1"/>
                          </a:solidFill>
                          <a:effectLst/>
                          <a:latin typeface="Times New Roman" panose="02020603050405020304" pitchFamily="18" charset="0"/>
                          <a:ea typeface="+mn-ea"/>
                          <a:cs typeface="Times New Roman" panose="02020603050405020304" pitchFamily="18" charset="0"/>
                        </a:rPr>
                        <a:t>Björn</a:t>
                      </a:r>
                      <a:r>
                        <a:rPr lang="en-IN" sz="1600" kern="1200" dirty="0">
                          <a:solidFill>
                            <a:schemeClr val="dk1"/>
                          </a:solidFill>
                          <a:effectLst/>
                          <a:latin typeface="Times New Roman" panose="02020603050405020304" pitchFamily="18" charset="0"/>
                          <a:ea typeface="+mn-ea"/>
                          <a:cs typeface="Times New Roman" panose="02020603050405020304" pitchFamily="18" charset="0"/>
                        </a:rPr>
                        <a:t> </a:t>
                      </a:r>
                      <a:r>
                        <a:rPr lang="en-IN" sz="1600" kern="1200" dirty="0" err="1">
                          <a:solidFill>
                            <a:schemeClr val="dk1"/>
                          </a:solidFill>
                          <a:effectLst/>
                          <a:latin typeface="Times New Roman" panose="02020603050405020304" pitchFamily="18" charset="0"/>
                          <a:ea typeface="+mn-ea"/>
                          <a:cs typeface="Times New Roman" panose="02020603050405020304" pitchFamily="18" charset="0"/>
                        </a:rPr>
                        <a:t>Schuller</a:t>
                      </a:r>
                      <a:r>
                        <a:rPr lang="en-IN" sz="1600" kern="1200" dirty="0">
                          <a:solidFill>
                            <a:schemeClr val="dk1"/>
                          </a:solidFill>
                          <a:effectLst/>
                          <a:latin typeface="Times New Roman" panose="02020603050405020304" pitchFamily="18" charset="0"/>
                          <a:ea typeface="+mn-ea"/>
                          <a:cs typeface="Times New Roman" panose="02020603050405020304" pitchFamily="18" charset="0"/>
                        </a:rPr>
                        <a:t>, </a:t>
                      </a:r>
                      <a:r>
                        <a:rPr lang="en-IN" sz="1600" kern="1200" dirty="0" err="1">
                          <a:solidFill>
                            <a:schemeClr val="dk1"/>
                          </a:solidFill>
                          <a:effectLst/>
                          <a:latin typeface="Times New Roman" panose="02020603050405020304" pitchFamily="18" charset="0"/>
                          <a:ea typeface="+mn-ea"/>
                          <a:cs typeface="Times New Roman" panose="02020603050405020304" pitchFamily="18" charset="0"/>
                        </a:rPr>
                        <a:t>Yunqing</a:t>
                      </a:r>
                      <a:r>
                        <a:rPr lang="en-IN" sz="1600" kern="1200" dirty="0">
                          <a:solidFill>
                            <a:schemeClr val="dk1"/>
                          </a:solidFill>
                          <a:effectLst/>
                          <a:latin typeface="Times New Roman" panose="02020603050405020304" pitchFamily="18" charset="0"/>
                          <a:ea typeface="+mn-ea"/>
                          <a:cs typeface="Times New Roman" panose="02020603050405020304" pitchFamily="18" charset="0"/>
                        </a:rPr>
                        <a:t> Xia, Catherine </a:t>
                      </a:r>
                      <a:r>
                        <a:rPr lang="en-IN" sz="1600" kern="1200" dirty="0" err="1">
                          <a:solidFill>
                            <a:schemeClr val="dk1"/>
                          </a:solidFill>
                          <a:effectLst/>
                          <a:latin typeface="Times New Roman" panose="02020603050405020304" pitchFamily="18" charset="0"/>
                          <a:ea typeface="+mn-ea"/>
                          <a:cs typeface="Times New Roman" panose="02020603050405020304" pitchFamily="18" charset="0"/>
                        </a:rPr>
                        <a:t>Havasi</a:t>
                      </a:r>
                      <a:r>
                        <a:rPr lang="en-IN" sz="1600" kern="1200" dirty="0">
                          <a:solidFill>
                            <a:schemeClr val="dk1"/>
                          </a:solidFill>
                          <a:effectLst/>
                          <a:latin typeface="Times New Roman" panose="02020603050405020304" pitchFamily="18" charset="0"/>
                          <a:ea typeface="+mn-ea"/>
                          <a:cs typeface="Times New Roman" panose="02020603050405020304" pitchFamily="18" charset="0"/>
                        </a:rPr>
                        <a:t>,</a:t>
                      </a:r>
                    </a:p>
                  </a:txBody>
                  <a:tcPr/>
                </a:tc>
                <a:tc>
                  <a:txBody>
                    <a:bodyPr/>
                    <a:lstStyle/>
                    <a:p>
                      <a:pPr algn="just"/>
                      <a:r>
                        <a:rPr lang="en-IN" sz="1600" kern="1200" dirty="0">
                          <a:solidFill>
                            <a:schemeClr val="dk1"/>
                          </a:solidFill>
                          <a:effectLst/>
                          <a:latin typeface="Times New Roman" panose="02020603050405020304" pitchFamily="18" charset="0"/>
                          <a:ea typeface="+mn-ea"/>
                          <a:cs typeface="Times New Roman" panose="02020603050405020304" pitchFamily="18" charset="0"/>
                        </a:rPr>
                        <a:t>Others’ opinions can be crucial when it’s time to make a decision or choose among multiple options. When those choices involve valuable resources (for example, spending time and money to buy products or services) people often rely on their peers’ past experiences.</a:t>
                      </a:r>
                      <a:endParaRPr lang="en-IN" sz="16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kern="1200" dirty="0">
                          <a:solidFill>
                            <a:schemeClr val="dk1"/>
                          </a:solidFill>
                          <a:effectLst/>
                          <a:latin typeface="Times New Roman" panose="02020603050405020304" pitchFamily="18" charset="0"/>
                          <a:ea typeface="+mn-ea"/>
                          <a:cs typeface="Times New Roman" panose="02020603050405020304" pitchFamily="18" charset="0"/>
                        </a:rPr>
                        <a:t>The results of a topic-based search engine. However, several studies suggest that managing these two tasks jointly might benefit overall performance.</a:t>
                      </a:r>
                      <a:endParaRPr lang="en-IN" sz="1600" kern="1200" dirty="0">
                        <a:solidFill>
                          <a:schemeClr val="dk1"/>
                        </a:solidFill>
                        <a:effectLst/>
                        <a:latin typeface="Times New Roman" panose="02020603050405020304" pitchFamily="18" charset="0"/>
                        <a:ea typeface="+mn-ea"/>
                        <a:cs typeface="Times New Roman" panose="02020603050405020304" pitchFamily="18" charset="0"/>
                      </a:endParaRPr>
                    </a:p>
                    <a:p>
                      <a:pPr lvl="0"/>
                      <a:endParaRPr lang="en-IN" sz="1600" kern="1200" dirty="0">
                        <a:solidFill>
                          <a:schemeClr val="dk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10001"/>
                  </a:ext>
                </a:extLst>
              </a:tr>
            </a:tbl>
          </a:graphicData>
        </a:graphic>
      </p:graphicFrame>
      <p:sp>
        <p:nvSpPr>
          <p:cNvPr id="5" name="Rectangle 4"/>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584010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a:latin typeface="Times New Roman" panose="02020603050405020304" pitchFamily="18" charset="0"/>
                <a:cs typeface="Times New Roman" panose="02020603050405020304" pitchFamily="18" charset="0"/>
              </a:rPr>
              <a:t>LITERATURE SURVEY</a:t>
            </a:r>
            <a:endParaRPr lang="en-IN" sz="2400" dirty="0"/>
          </a:p>
        </p:txBody>
      </p:sp>
      <p:graphicFrame>
        <p:nvGraphicFramePr>
          <p:cNvPr id="4" name="Table 3"/>
          <p:cNvGraphicFramePr>
            <a:graphicFrameLocks noGrp="1"/>
          </p:cNvGraphicFramePr>
          <p:nvPr>
            <p:extLst>
              <p:ext uri="{D42A27DB-BD31-4B8C-83A1-F6EECF244321}">
                <p14:modId xmlns:p14="http://schemas.microsoft.com/office/powerpoint/2010/main" val="3104747363"/>
              </p:ext>
            </p:extLst>
          </p:nvPr>
        </p:nvGraphicFramePr>
        <p:xfrm>
          <a:off x="502275" y="1287888"/>
          <a:ext cx="11178865" cy="5100033"/>
        </p:xfrm>
        <a:graphic>
          <a:graphicData uri="http://schemas.openxmlformats.org/drawingml/2006/table">
            <a:tbl>
              <a:tblPr firstRow="1" bandRow="1">
                <a:tableStyleId>{F5AB1C69-6EDB-4FF4-983F-18BD219EF322}</a:tableStyleId>
              </a:tblPr>
              <a:tblGrid>
                <a:gridCol w="2235773">
                  <a:extLst>
                    <a:ext uri="{9D8B030D-6E8A-4147-A177-3AD203B41FA5}">
                      <a16:colId xmlns:a16="http://schemas.microsoft.com/office/drawing/2014/main" val="20000"/>
                    </a:ext>
                  </a:extLst>
                </a:gridCol>
                <a:gridCol w="2235773">
                  <a:extLst>
                    <a:ext uri="{9D8B030D-6E8A-4147-A177-3AD203B41FA5}">
                      <a16:colId xmlns:a16="http://schemas.microsoft.com/office/drawing/2014/main" val="20001"/>
                    </a:ext>
                  </a:extLst>
                </a:gridCol>
                <a:gridCol w="2235773">
                  <a:extLst>
                    <a:ext uri="{9D8B030D-6E8A-4147-A177-3AD203B41FA5}">
                      <a16:colId xmlns:a16="http://schemas.microsoft.com/office/drawing/2014/main" val="20002"/>
                    </a:ext>
                  </a:extLst>
                </a:gridCol>
                <a:gridCol w="2235773">
                  <a:extLst>
                    <a:ext uri="{9D8B030D-6E8A-4147-A177-3AD203B41FA5}">
                      <a16:colId xmlns:a16="http://schemas.microsoft.com/office/drawing/2014/main" val="20003"/>
                    </a:ext>
                  </a:extLst>
                </a:gridCol>
                <a:gridCol w="2235773">
                  <a:extLst>
                    <a:ext uri="{9D8B030D-6E8A-4147-A177-3AD203B41FA5}">
                      <a16:colId xmlns:a16="http://schemas.microsoft.com/office/drawing/2014/main" val="20004"/>
                    </a:ext>
                  </a:extLst>
                </a:gridCol>
              </a:tblGrid>
              <a:tr h="507003">
                <a:tc>
                  <a:txBody>
                    <a:bodyPr/>
                    <a:lstStyle/>
                    <a:p>
                      <a:pPr algn="ctr"/>
                      <a:r>
                        <a:rPr lang="en-US" sz="1800" dirty="0">
                          <a:latin typeface="Times New Roman" panose="02020603050405020304" pitchFamily="18" charset="0"/>
                          <a:cs typeface="Times New Roman" panose="02020603050405020304" pitchFamily="18" charset="0"/>
                        </a:rPr>
                        <a:t>Title</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Year</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Author</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Methology</a:t>
                      </a:r>
                      <a:endParaRPr lang="en-IN" sz="1800" dirty="0">
                        <a:latin typeface="Times New Roman" panose="02020603050405020304" pitchFamily="18" charset="0"/>
                        <a:cs typeface="Times New Roman" panose="02020603050405020304" pitchFamily="18" charset="0"/>
                      </a:endParaRPr>
                    </a:p>
                  </a:txBody>
                  <a:tcPr/>
                </a:tc>
                <a:tc>
                  <a:txBody>
                    <a:bodyPr/>
                    <a:lstStyle/>
                    <a:p>
                      <a:pPr algn="ctr"/>
                      <a:r>
                        <a:rPr lang="en-US" sz="1800" dirty="0">
                          <a:latin typeface="Times New Roman" panose="02020603050405020304" pitchFamily="18" charset="0"/>
                          <a:cs typeface="Times New Roman" panose="02020603050405020304" pitchFamily="18" charset="0"/>
                        </a:rPr>
                        <a:t>Merits/demerits</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0"/>
                  </a:ext>
                </a:extLst>
              </a:tr>
              <a:tr h="4593030">
                <a:tc>
                  <a:txBody>
                    <a:bodyPr/>
                    <a:lstStyle/>
                    <a:p>
                      <a:pPr algn="just"/>
                      <a:r>
                        <a:rPr lang="en-IN" sz="1600" b="1" kern="1200" dirty="0">
                          <a:solidFill>
                            <a:schemeClr val="dk1"/>
                          </a:solidFill>
                          <a:effectLst/>
                          <a:latin typeface="Times New Roman" panose="02020603050405020304" pitchFamily="18" charset="0"/>
                          <a:ea typeface="+mn-ea"/>
                          <a:cs typeface="Times New Roman" panose="02020603050405020304" pitchFamily="18" charset="0"/>
                        </a:rPr>
                        <a:t>Sentiment analysis using product review data</a:t>
                      </a:r>
                      <a:endParaRPr lang="en-IN" sz="1600" dirty="0">
                        <a:latin typeface="Times New Roman" panose="02020603050405020304" pitchFamily="18" charset="0"/>
                        <a:cs typeface="Times New Roman" panose="02020603050405020304" pitchFamily="18" charset="0"/>
                      </a:endParaRPr>
                    </a:p>
                  </a:txBody>
                  <a:tcPr/>
                </a:tc>
                <a:tc>
                  <a:txBody>
                    <a:bodyPr/>
                    <a:lstStyle/>
                    <a:p>
                      <a:pPr algn="just"/>
                      <a:r>
                        <a:rPr lang="en-US" sz="1600" dirty="0">
                          <a:latin typeface="Times New Roman" panose="02020603050405020304" pitchFamily="18" charset="0"/>
                          <a:cs typeface="Times New Roman" panose="02020603050405020304" pitchFamily="18" charset="0"/>
                        </a:rPr>
                        <a:t>2015</a:t>
                      </a:r>
                    </a:p>
                    <a:p>
                      <a:pPr algn="just"/>
                      <a:endParaRPr lang="en-IN" sz="1600" dirty="0">
                        <a:latin typeface="Times New Roman" panose="02020603050405020304" pitchFamily="18" charset="0"/>
                        <a:cs typeface="Times New Roman" panose="020206030504050203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600" b="0" kern="1200" dirty="0">
                          <a:solidFill>
                            <a:schemeClr val="dk1"/>
                          </a:solidFill>
                          <a:effectLst/>
                          <a:latin typeface="Times New Roman" panose="02020603050405020304" pitchFamily="18" charset="0"/>
                          <a:ea typeface="+mn-ea"/>
                          <a:cs typeface="Times New Roman" panose="02020603050405020304" pitchFamily="18" charset="0"/>
                        </a:rPr>
                        <a:t>Xing Fang* and Justin Zhan</a:t>
                      </a:r>
                    </a:p>
                    <a:p>
                      <a:endParaRPr lang="en-IN" sz="160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algn="just"/>
                      <a:r>
                        <a:rPr lang="en-IN" sz="1600" kern="1200" dirty="0">
                          <a:solidFill>
                            <a:schemeClr val="dk1"/>
                          </a:solidFill>
                          <a:effectLst/>
                          <a:latin typeface="Times New Roman" panose="02020603050405020304" pitchFamily="18" charset="0"/>
                          <a:ea typeface="+mn-ea"/>
                          <a:cs typeface="Times New Roman" panose="02020603050405020304" pitchFamily="18" charset="0"/>
                        </a:rPr>
                        <a:t>Sentiment analysis, which is also known as opinion mining, studies people’s sentiments towards certain entities. Internet is a resourceful place with respect to sentiment information. From a user’s perspective, people are able to post their own content through various social media, such as forums, micro-blogs, or online social networking sites.</a:t>
                      </a:r>
                      <a:endParaRPr lang="en-IN" sz="1600" dirty="0">
                        <a:latin typeface="Times New Roman" panose="02020603050405020304" pitchFamily="18" charset="0"/>
                        <a:cs typeface="Times New Roman" panose="02020603050405020304" pitchFamily="18" charset="0"/>
                      </a:endParaRPr>
                    </a:p>
                  </a:txBody>
                  <a:tcPr/>
                </a:tc>
                <a:tc>
                  <a:txBody>
                    <a:bodyPr/>
                    <a:lstStyle/>
                    <a:p>
                      <a:pPr lvl="0"/>
                      <a:r>
                        <a:rPr lang="en-IN" sz="1600" kern="1200" dirty="0">
                          <a:solidFill>
                            <a:schemeClr val="dk1"/>
                          </a:solidFill>
                          <a:effectLst/>
                          <a:latin typeface="Times New Roman" panose="02020603050405020304" pitchFamily="18" charset="0"/>
                          <a:ea typeface="+mn-ea"/>
                          <a:cs typeface="Times New Roman" panose="02020603050405020304" pitchFamily="18" charset="0"/>
                        </a:rPr>
                        <a:t>With the help of the ROC curves, it is clear to see that all three models performed quite well for testing data that have high posterior probability.</a:t>
                      </a:r>
                    </a:p>
                  </a:txBody>
                  <a:tcPr/>
                </a:tc>
                <a:extLst>
                  <a:ext uri="{0D108BD9-81ED-4DB2-BD59-A6C34878D82A}">
                    <a16:rowId xmlns:a16="http://schemas.microsoft.com/office/drawing/2014/main" val="10001"/>
                  </a:ext>
                </a:extLst>
              </a:tr>
            </a:tbl>
          </a:graphicData>
        </a:graphic>
      </p:graphicFrame>
      <p:sp>
        <p:nvSpPr>
          <p:cNvPr id="5" name="Rectangle 4"/>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34839152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6366" y="371476"/>
            <a:ext cx="10967434" cy="852018"/>
          </a:xfrm>
        </p:spPr>
        <p:txBody>
          <a:bodyPr/>
          <a:lstStyle/>
          <a:p>
            <a:pPr algn="ctr"/>
            <a:r>
              <a:rPr lang="en-US" b="1" dirty="0">
                <a:latin typeface="Times New Roman" panose="02020603050405020304" pitchFamily="18" charset="0"/>
                <a:cs typeface="Times New Roman" panose="02020603050405020304" pitchFamily="18" charset="0"/>
              </a:rPr>
              <a:t>Conclusion</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86366" y="1223493"/>
            <a:ext cx="11384924" cy="5280338"/>
          </a:xfrm>
        </p:spPr>
        <p:txBody>
          <a:bodyPr>
            <a:noAutofit/>
          </a:bodyPr>
          <a:lstStyle/>
          <a:p>
            <a:pPr algn="just">
              <a:lnSpc>
                <a:spcPct val="150000"/>
              </a:lnSpc>
            </a:pPr>
            <a:r>
              <a:rPr lang="en-IN" sz="2000" dirty="0">
                <a:latin typeface="Times New Roman" panose="02020603050405020304" pitchFamily="18" charset="0"/>
                <a:cs typeface="Times New Roman" panose="02020603050405020304" pitchFamily="18" charset="0"/>
              </a:rPr>
              <a:t>In conclusion, the detection and removal of fake product reviews is a critical step toward ensuring the integrity of online shopping experiences. By implementing machine learning algorithms such as Logistic Regression and hybrid models combining Decision Trees and Random Forests, this project successfully identifies and classifies fake reviews from legitimate ones. </a:t>
            </a:r>
          </a:p>
          <a:p>
            <a:pPr algn="just">
              <a:lnSpc>
                <a:spcPct val="150000"/>
              </a:lnSpc>
            </a:pPr>
            <a:r>
              <a:rPr lang="en-IN" sz="2000" dirty="0">
                <a:latin typeface="Times New Roman" panose="02020603050405020304" pitchFamily="18" charset="0"/>
                <a:cs typeface="Times New Roman" panose="02020603050405020304" pitchFamily="18" charset="0"/>
              </a:rPr>
              <a:t>The use of these advanced techniques not only improves the accuracy of the classification process but also facilitates the automatic deletion of fraudulent reviews, thereby enhancing the overall reliability of e-commerce platforms.</a:t>
            </a:r>
          </a:p>
          <a:p>
            <a:pPr algn="just">
              <a:lnSpc>
                <a:spcPct val="150000"/>
              </a:lnSpc>
            </a:pPr>
            <a:r>
              <a:rPr lang="en-IN" sz="2000" dirty="0">
                <a:latin typeface="Times New Roman" panose="02020603050405020304" pitchFamily="18" charset="0"/>
                <a:cs typeface="Times New Roman" panose="02020603050405020304" pitchFamily="18" charset="0"/>
              </a:rPr>
              <a:t> As a result, consumers are empowered to make more informed purchasing decisions based on authentic feedback, fostering greater trust in the platform. Ultimately, this work contributes to the broader goal of improving transparency and accountability in online retail, helping to combat the growing issue of fake reviews and supporting a fairer digital marketplace.</a:t>
            </a: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427329647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71475"/>
            <a:ext cx="10515600" cy="1325563"/>
          </a:xfrm>
        </p:spPr>
        <p:txBody>
          <a:bodyPr/>
          <a:lstStyle/>
          <a:p>
            <a:pPr algn="ctr"/>
            <a:r>
              <a:rPr lang="en-US" b="1" dirty="0">
                <a:latin typeface="Times New Roman" panose="02020603050405020304" pitchFamily="18" charset="0"/>
                <a:cs typeface="Times New Roman" panose="02020603050405020304" pitchFamily="18" charset="0"/>
              </a:rPr>
              <a:t>References</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73487" y="1326525"/>
            <a:ext cx="11556576" cy="5164428"/>
          </a:xfrm>
        </p:spPr>
        <p:txBody>
          <a:bodyPr>
            <a:noAutofit/>
          </a:bodyPr>
          <a:lstStyle/>
          <a:p>
            <a:pPr marL="457200" lvl="0" indent="-457200" algn="just">
              <a:lnSpc>
                <a:spcPct val="150000"/>
              </a:lnSpc>
              <a:buFont typeface="+mj-lt"/>
              <a:buAutoNum type="arabicPeriod"/>
            </a:pPr>
            <a:r>
              <a:rPr lang="en-IN" sz="2000" dirty="0">
                <a:latin typeface="Times New Roman" panose="02020603050405020304" pitchFamily="18" charset="0"/>
                <a:cs typeface="Times New Roman" panose="02020603050405020304" pitchFamily="18" charset="0"/>
              </a:rPr>
              <a:t>Liu, Y., Li, X., &amp; Zhang, Z. (2023). "A Deep Learning Approach for Fake Review Detection in E-Commerce." Journal of Artificial Intelligence Research, 78, 115-135.Cheng, T., Zhang, J., &amp; Chen, H. (2023). </a:t>
            </a:r>
          </a:p>
          <a:p>
            <a:pPr marL="457200" lvl="0" indent="-457200" algn="just">
              <a:lnSpc>
                <a:spcPct val="150000"/>
              </a:lnSpc>
              <a:buFont typeface="+mj-lt"/>
              <a:buAutoNum type="arabicPeriod"/>
            </a:pPr>
            <a:r>
              <a:rPr lang="en-IN" sz="2000" dirty="0">
                <a:latin typeface="Times New Roman" panose="02020603050405020304" pitchFamily="18" charset="0"/>
                <a:cs typeface="Times New Roman" panose="02020603050405020304" pitchFamily="18" charset="0"/>
              </a:rPr>
              <a:t>"Detecting Deceptive Reviews Using Hybrid Classification Models." Proceedings of the 2023 IEEE International Conference on Machine Learning and Data Science (MLDS 2023).Wang, H., &amp; Yang, X. (2022).</a:t>
            </a:r>
          </a:p>
          <a:p>
            <a:pPr marL="457200" lvl="0" indent="-457200" algn="just">
              <a:lnSpc>
                <a:spcPct val="150000"/>
              </a:lnSpc>
              <a:buFont typeface="+mj-lt"/>
              <a:buAutoNum type="arabicPeriod"/>
            </a:pPr>
            <a:r>
              <a:rPr lang="en-IN" sz="2000" dirty="0">
                <a:latin typeface="Times New Roman" panose="02020603050405020304" pitchFamily="18" charset="0"/>
                <a:cs typeface="Times New Roman" panose="02020603050405020304" pitchFamily="18" charset="0"/>
              </a:rPr>
              <a:t> "Review Spam Detection with Deep Neural Networks." International Journal of Data Science and Analytics, 10(1), 45-60.Zhang, H., &amp; Wang, Y. (2023). </a:t>
            </a:r>
          </a:p>
          <a:p>
            <a:pPr marL="457200" lvl="0" indent="-457200" algn="just">
              <a:lnSpc>
                <a:spcPct val="150000"/>
              </a:lnSpc>
              <a:buFont typeface="+mj-lt"/>
              <a:buAutoNum type="arabicPeriod"/>
            </a:pPr>
            <a:r>
              <a:rPr lang="en-IN" sz="2000" dirty="0">
                <a:latin typeface="Times New Roman" panose="02020603050405020304" pitchFamily="18" charset="0"/>
                <a:cs typeface="Times New Roman" panose="02020603050405020304" pitchFamily="18" charset="0"/>
              </a:rPr>
              <a:t>"Fake Review Detection Using Multi-Modal Data Fusion." Journal of Computational Social Science, 8(2), 137-152.</a:t>
            </a: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51489638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04007"/>
            <a:ext cx="10515600" cy="1325563"/>
          </a:xfrm>
        </p:spPr>
        <p:txBody>
          <a:bodyPr/>
          <a:lstStyle/>
          <a:p>
            <a:pPr algn="ctr"/>
            <a:r>
              <a:rPr lang="en-US" b="1" dirty="0">
                <a:latin typeface="Times New Roman" panose="02020603050405020304" pitchFamily="18" charset="0"/>
                <a:cs typeface="Times New Roman" panose="02020603050405020304" pitchFamily="18" charset="0"/>
              </a:rPr>
              <a:t>References</a:t>
            </a:r>
            <a:endParaRPr lang="en-IN" b="1" dirty="0"/>
          </a:p>
        </p:txBody>
      </p:sp>
      <p:sp>
        <p:nvSpPr>
          <p:cNvPr id="3" name="Content Placeholder 2"/>
          <p:cNvSpPr>
            <a:spLocks noGrp="1"/>
          </p:cNvSpPr>
          <p:nvPr>
            <p:ph idx="1"/>
          </p:nvPr>
        </p:nvSpPr>
        <p:spPr>
          <a:xfrm>
            <a:off x="403538" y="1387701"/>
            <a:ext cx="11384924" cy="4987342"/>
          </a:xfrm>
        </p:spPr>
        <p:txBody>
          <a:bodyPr>
            <a:noAutofit/>
          </a:bodyPr>
          <a:lstStyle/>
          <a:p>
            <a:pPr marL="0" lvl="0" indent="0" algn="just">
              <a:lnSpc>
                <a:spcPct val="150000"/>
              </a:lnSpc>
              <a:buNone/>
            </a:pPr>
            <a:r>
              <a:rPr lang="en-IN" sz="2000" dirty="0">
                <a:latin typeface="Times New Roman" panose="02020603050405020304" pitchFamily="18" charset="0"/>
                <a:cs typeface="Times New Roman" panose="02020603050405020304" pitchFamily="18" charset="0"/>
              </a:rPr>
              <a:t>5. Zhu, J., &amp; Liu, X. (2022). "Unsupervised Fake Review Detection Using Textual and </a:t>
            </a:r>
            <a:r>
              <a:rPr lang="en-IN" sz="2000" dirty="0" err="1">
                <a:latin typeface="Times New Roman" panose="02020603050405020304" pitchFamily="18" charset="0"/>
                <a:cs typeface="Times New Roman" panose="02020603050405020304" pitchFamily="18" charset="0"/>
              </a:rPr>
              <a:t>Behavioral</a:t>
            </a:r>
            <a:r>
              <a:rPr lang="en-IN" sz="2000" dirty="0">
                <a:latin typeface="Times New Roman" panose="02020603050405020304" pitchFamily="18" charset="0"/>
                <a:cs typeface="Times New Roman" panose="02020603050405020304" pitchFamily="18" charset="0"/>
              </a:rPr>
              <a:t> Features." Proceedings of the 2022 International Conference on Data Mining (ICDM 2022).</a:t>
            </a:r>
          </a:p>
          <a:p>
            <a:pPr marL="0" lvl="0" indent="0" algn="just">
              <a:lnSpc>
                <a:spcPct val="150000"/>
              </a:lnSpc>
              <a:buNone/>
            </a:pPr>
            <a:r>
              <a:rPr lang="en-IN" sz="2000" dirty="0">
                <a:latin typeface="Times New Roman" panose="02020603050405020304" pitchFamily="18" charset="0"/>
                <a:cs typeface="Times New Roman" panose="02020603050405020304" pitchFamily="18" charset="0"/>
              </a:rPr>
              <a:t>6. Kumar, V., &amp; Gupta, R. (2022). "A Hybrid Model for Fake Review Detection in E-Commerce Platforms." Journal of Computer Science and Technology, 37(4), 890-905.Li, Q., &amp; Zhang, J. (2023).</a:t>
            </a:r>
          </a:p>
          <a:p>
            <a:pPr marL="0" lvl="0" indent="0" algn="just">
              <a:lnSpc>
                <a:spcPct val="150000"/>
              </a:lnSpc>
              <a:buNone/>
            </a:pPr>
            <a:r>
              <a:rPr lang="en-IN" sz="2000" dirty="0">
                <a:latin typeface="Times New Roman" panose="02020603050405020304" pitchFamily="18" charset="0"/>
                <a:cs typeface="Times New Roman" panose="02020603050405020304" pitchFamily="18" charset="0"/>
              </a:rPr>
              <a:t> 7. "</a:t>
            </a:r>
            <a:r>
              <a:rPr lang="en-IN" sz="2000" dirty="0" err="1">
                <a:latin typeface="Times New Roman" panose="02020603050405020304" pitchFamily="18" charset="0"/>
                <a:cs typeface="Times New Roman" panose="02020603050405020304" pitchFamily="18" charset="0"/>
              </a:rPr>
              <a:t>Analyzing</a:t>
            </a:r>
            <a:r>
              <a:rPr lang="en-IN" sz="2000" dirty="0">
                <a:latin typeface="Times New Roman" panose="02020603050405020304" pitchFamily="18" charset="0"/>
                <a:cs typeface="Times New Roman" panose="02020603050405020304" pitchFamily="18" charset="0"/>
              </a:rPr>
              <a:t> Fake Reviews on E-Commerce Platforms Using NLP Techniques." ACM Transactions on Internet Technology (TOIT), 23(1), 52-70.Wang, Y., &amp; Yang, S. (2023). </a:t>
            </a:r>
          </a:p>
          <a:p>
            <a:pPr marL="0" lvl="0" indent="0" algn="just">
              <a:lnSpc>
                <a:spcPct val="150000"/>
              </a:lnSpc>
              <a:buNone/>
            </a:pPr>
            <a:r>
              <a:rPr lang="en-IN" sz="2000" dirty="0">
                <a:latin typeface="Times New Roman" panose="02020603050405020304" pitchFamily="18" charset="0"/>
                <a:cs typeface="Times New Roman" panose="02020603050405020304" pitchFamily="18" charset="0"/>
              </a:rPr>
              <a:t>8. "Cross-Domain Fake Review Detection with Transfer Learning." Journal of Machine Learning Research, 24(12), 1-24.</a:t>
            </a: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60532163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04007"/>
            <a:ext cx="10515600" cy="1325563"/>
          </a:xfrm>
        </p:spPr>
        <p:txBody>
          <a:bodyPr/>
          <a:lstStyle/>
          <a:p>
            <a:pPr algn="ctr"/>
            <a:r>
              <a:rPr lang="en-US" b="1" dirty="0">
                <a:latin typeface="Times New Roman" panose="02020603050405020304" pitchFamily="18" charset="0"/>
                <a:cs typeface="Times New Roman" panose="02020603050405020304" pitchFamily="18" charset="0"/>
              </a:rPr>
              <a:t>Bibliography</a:t>
            </a:r>
            <a:endParaRPr lang="en-IN" b="1" dirty="0"/>
          </a:p>
        </p:txBody>
      </p:sp>
      <p:sp>
        <p:nvSpPr>
          <p:cNvPr id="3" name="Content Placeholder 2"/>
          <p:cNvSpPr>
            <a:spLocks noGrp="1"/>
          </p:cNvSpPr>
          <p:nvPr>
            <p:ph idx="1"/>
          </p:nvPr>
        </p:nvSpPr>
        <p:spPr>
          <a:xfrm>
            <a:off x="403538" y="1387701"/>
            <a:ext cx="11384924" cy="4987342"/>
          </a:xfrm>
        </p:spPr>
        <p:txBody>
          <a:bodyPr>
            <a:noAutofit/>
          </a:bodyPr>
          <a:lstStyle/>
          <a:p>
            <a:pPr marL="0" lvl="0" indent="0" algn="just">
              <a:lnSpc>
                <a:spcPct val="150000"/>
              </a:lnSpc>
              <a:buNone/>
            </a:pPr>
            <a:r>
              <a:rPr lang="en-IN" sz="2000" dirty="0">
                <a:latin typeface="Times New Roman" panose="02020603050405020304" pitchFamily="18" charset="0"/>
                <a:cs typeface="Times New Roman" panose="02020603050405020304" pitchFamily="18" charset="0"/>
              </a:rPr>
              <a:t>1.	Google Scholar: </a:t>
            </a:r>
            <a:r>
              <a:rPr lang="en-IN" sz="2000" dirty="0">
                <a:latin typeface="Times New Roman" panose="02020603050405020304" pitchFamily="18" charset="0"/>
                <a:cs typeface="Times New Roman" panose="02020603050405020304" pitchFamily="18" charset="0"/>
                <a:hlinkClick r:id="rId2"/>
              </a:rPr>
              <a:t>https://scholar.google.com</a:t>
            </a:r>
            <a:r>
              <a:rPr lang="en-IN" sz="2000" dirty="0">
                <a:latin typeface="Times New Roman" panose="02020603050405020304" pitchFamily="18" charset="0"/>
                <a:cs typeface="Times New Roman" panose="02020603050405020304" pitchFamily="18" charset="0"/>
              </a:rPr>
              <a:t> </a:t>
            </a:r>
          </a:p>
          <a:p>
            <a:pPr marL="0" lvl="0" indent="0" algn="just">
              <a:lnSpc>
                <a:spcPct val="150000"/>
              </a:lnSpc>
              <a:buNone/>
            </a:pPr>
            <a:r>
              <a:rPr lang="en-IN" sz="2000" dirty="0">
                <a:latin typeface="Times New Roman" panose="02020603050405020304" pitchFamily="18" charset="0"/>
                <a:cs typeface="Times New Roman" panose="02020603050405020304" pitchFamily="18" charset="0"/>
              </a:rPr>
              <a:t>2.	</a:t>
            </a:r>
            <a:r>
              <a:rPr lang="en-IN" sz="2000" dirty="0" err="1">
                <a:latin typeface="Times New Roman" panose="02020603050405020304" pitchFamily="18" charset="0"/>
                <a:cs typeface="Times New Roman" panose="02020603050405020304" pitchFamily="18" charset="0"/>
              </a:rPr>
              <a:t>ResearchGate</a:t>
            </a:r>
            <a:r>
              <a:rPr lang="en-IN" sz="2000"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hlinkClick r:id="rId3"/>
              </a:rPr>
              <a:t>https://www.researchgate.net</a:t>
            </a:r>
            <a:r>
              <a:rPr lang="en-IN" sz="2000" dirty="0">
                <a:latin typeface="Times New Roman" panose="02020603050405020304" pitchFamily="18" charset="0"/>
                <a:cs typeface="Times New Roman" panose="02020603050405020304" pitchFamily="18" charset="0"/>
              </a:rPr>
              <a:t> </a:t>
            </a:r>
          </a:p>
          <a:p>
            <a:pPr marL="0" lvl="0" indent="0" algn="just">
              <a:lnSpc>
                <a:spcPct val="150000"/>
              </a:lnSpc>
              <a:buNone/>
            </a:pPr>
            <a:r>
              <a:rPr lang="en-IN" sz="2000" dirty="0">
                <a:latin typeface="Times New Roman" panose="02020603050405020304" pitchFamily="18" charset="0"/>
                <a:cs typeface="Times New Roman" panose="02020603050405020304" pitchFamily="18" charset="0"/>
              </a:rPr>
              <a:t>3.	</a:t>
            </a:r>
            <a:r>
              <a:rPr lang="en-IN" sz="2000" dirty="0" err="1">
                <a:latin typeface="Times New Roman" panose="02020603050405020304" pitchFamily="18" charset="0"/>
                <a:cs typeface="Times New Roman" panose="02020603050405020304" pitchFamily="18" charset="0"/>
              </a:rPr>
              <a:t>arXiv</a:t>
            </a:r>
            <a:r>
              <a:rPr lang="en-IN" sz="2000"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hlinkClick r:id="rId4"/>
              </a:rPr>
              <a:t>https://arxiv.org</a:t>
            </a:r>
            <a:r>
              <a:rPr lang="en-IN" sz="2000" dirty="0">
                <a:latin typeface="Times New Roman" panose="02020603050405020304" pitchFamily="18" charset="0"/>
                <a:cs typeface="Times New Roman" panose="02020603050405020304" pitchFamily="18" charset="0"/>
              </a:rPr>
              <a:t> </a:t>
            </a:r>
          </a:p>
          <a:p>
            <a:pPr marL="0" lvl="0" indent="0" algn="just">
              <a:lnSpc>
                <a:spcPct val="150000"/>
              </a:lnSpc>
              <a:buNone/>
            </a:pPr>
            <a:r>
              <a:rPr lang="en-IN" sz="2000" dirty="0">
                <a:latin typeface="Times New Roman" panose="02020603050405020304" pitchFamily="18" charset="0"/>
                <a:cs typeface="Times New Roman" panose="02020603050405020304" pitchFamily="18" charset="0"/>
              </a:rPr>
              <a:t>4.	</a:t>
            </a:r>
            <a:r>
              <a:rPr lang="en-IN" sz="2000" dirty="0" err="1">
                <a:latin typeface="Times New Roman" panose="02020603050405020304" pitchFamily="18" charset="0"/>
                <a:cs typeface="Times New Roman" panose="02020603050405020304" pitchFamily="18" charset="0"/>
              </a:rPr>
              <a:t>SpringerLink</a:t>
            </a:r>
            <a:r>
              <a:rPr lang="en-IN" sz="2000"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hlinkClick r:id="rId5"/>
              </a:rPr>
              <a:t>https://link.springer.com</a:t>
            </a:r>
            <a:r>
              <a:rPr lang="en-IN" sz="2000" dirty="0">
                <a:latin typeface="Times New Roman" panose="02020603050405020304" pitchFamily="18" charset="0"/>
                <a:cs typeface="Times New Roman" panose="02020603050405020304" pitchFamily="18" charset="0"/>
              </a:rPr>
              <a:t> </a:t>
            </a:r>
          </a:p>
          <a:p>
            <a:pPr marL="0" lvl="0" indent="0" algn="just">
              <a:lnSpc>
                <a:spcPct val="150000"/>
              </a:lnSpc>
              <a:buNone/>
            </a:pPr>
            <a:r>
              <a:rPr lang="en-IN" sz="2000" dirty="0">
                <a:latin typeface="Times New Roman" panose="02020603050405020304" pitchFamily="18" charset="0"/>
                <a:cs typeface="Times New Roman" panose="02020603050405020304" pitchFamily="18" charset="0"/>
              </a:rPr>
              <a:t>5.	</a:t>
            </a:r>
            <a:r>
              <a:rPr lang="en-IN" sz="2000" dirty="0" err="1">
                <a:latin typeface="Times New Roman" panose="02020603050405020304" pitchFamily="18" charset="0"/>
                <a:cs typeface="Times New Roman" panose="02020603050405020304" pitchFamily="18" charset="0"/>
              </a:rPr>
              <a:t>ScienceDirect</a:t>
            </a:r>
            <a:r>
              <a:rPr lang="en-IN" sz="2000"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hlinkClick r:id="rId6"/>
              </a:rPr>
              <a:t>https://www.sciencedirect.com</a:t>
            </a:r>
            <a:r>
              <a:rPr lang="en-IN" sz="2000" dirty="0">
                <a:latin typeface="Times New Roman" panose="02020603050405020304" pitchFamily="18" charset="0"/>
                <a:cs typeface="Times New Roman" panose="02020603050405020304" pitchFamily="18" charset="0"/>
              </a:rPr>
              <a:t> </a:t>
            </a: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382235955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675731"/>
            <a:ext cx="10515600" cy="1325563"/>
          </a:xfrm>
        </p:spPr>
        <p:txBody>
          <a:bodyPr>
            <a:normAutofit/>
          </a:bodyPr>
          <a:lstStyle/>
          <a:p>
            <a:pPr algn="ctr"/>
            <a:r>
              <a:rPr lang="en-US" sz="5200" b="1"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Thank You…</a:t>
            </a:r>
            <a:endParaRPr lang="en-IN" sz="2200" dirty="0">
              <a:latin typeface="Times New Roman" panose="02020603050405020304" pitchFamily="18" charset="0"/>
              <a:cs typeface="Times New Roman" panose="02020603050405020304" pitchFamily="18" charset="0"/>
            </a:endParaRPr>
          </a:p>
        </p:txBody>
      </p:sp>
      <p:sp>
        <p:nvSpPr>
          <p:cNvPr id="4" name="Rectangle 3"/>
          <p:cNvSpPr/>
          <p:nvPr/>
        </p:nvSpPr>
        <p:spPr>
          <a:xfrm>
            <a:off x="271463" y="242888"/>
            <a:ext cx="11658600" cy="6386512"/>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15976344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2429</TotalTime>
  <Words>3530</Words>
  <Application>Microsoft Office PowerPoint</Application>
  <PresentationFormat>Widescreen</PresentationFormat>
  <Paragraphs>331</Paragraphs>
  <Slides>50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50</vt:i4>
      </vt:variant>
    </vt:vector>
  </HeadingPairs>
  <TitlesOfParts>
    <vt:vector size="56" baseType="lpstr">
      <vt:lpstr>Arial</vt:lpstr>
      <vt:lpstr>Calibri</vt:lpstr>
      <vt:lpstr>Calibri Light</vt:lpstr>
      <vt:lpstr>Symbol</vt:lpstr>
      <vt:lpstr>Times New Roman</vt:lpstr>
      <vt:lpstr>Office Theme</vt:lpstr>
      <vt:lpstr>E-Commerce Detection and Deletion of Fake Product and Service Review</vt:lpstr>
      <vt:lpstr>Domain Introduction</vt:lpstr>
      <vt:lpstr>Abstract</vt:lpstr>
      <vt:lpstr>Objectives</vt:lpstr>
      <vt:lpstr>Introduction</vt:lpstr>
      <vt:lpstr>Existing system</vt:lpstr>
      <vt:lpstr>Disadvantages</vt:lpstr>
      <vt:lpstr>Proposed system</vt:lpstr>
      <vt:lpstr>Proposed system contd..</vt:lpstr>
      <vt:lpstr>Advantages</vt:lpstr>
      <vt:lpstr>Architecture diagram</vt:lpstr>
      <vt:lpstr>Flow diagram</vt:lpstr>
      <vt:lpstr>DFD diagram – Level 0</vt:lpstr>
      <vt:lpstr>DFD diagram – Level 1</vt:lpstr>
      <vt:lpstr>DFD diagram – Level 2</vt:lpstr>
      <vt:lpstr>PowerPoint Presentation</vt:lpstr>
      <vt:lpstr>PowerPoint Presentation</vt:lpstr>
      <vt:lpstr>PowerPoint Presentation</vt:lpstr>
      <vt:lpstr>PowerPoint Presentation</vt:lpstr>
      <vt:lpstr>PowerPoint Presentation</vt:lpstr>
      <vt:lpstr>Modules</vt:lpstr>
      <vt:lpstr>Modules description</vt:lpstr>
      <vt:lpstr>Data Selection</vt:lpstr>
      <vt:lpstr>Data Pre-Processing</vt:lpstr>
      <vt:lpstr>Text Preprocessing</vt:lpstr>
      <vt:lpstr>Text Preprocessing</vt:lpstr>
      <vt:lpstr>Vectorization</vt:lpstr>
      <vt:lpstr>Data Splitting</vt:lpstr>
      <vt:lpstr>Classification</vt:lpstr>
      <vt:lpstr>Estimate Performance</vt:lpstr>
      <vt:lpstr>Estimate Performance</vt:lpstr>
      <vt:lpstr>Prediction</vt:lpstr>
      <vt:lpstr>Screenshots</vt:lpstr>
      <vt:lpstr>PowerPoint Presentation</vt:lpstr>
      <vt:lpstr>PowerPoint Presentation</vt:lpstr>
      <vt:lpstr>PowerPoint Presentation</vt:lpstr>
      <vt:lpstr>PowerPoint Presentation</vt:lpstr>
      <vt:lpstr>PowerPoint Presentation</vt:lpstr>
      <vt:lpstr>System requirements</vt:lpstr>
      <vt:lpstr>Literature survey</vt:lpstr>
      <vt:lpstr>LITERATURE SURVEY</vt:lpstr>
      <vt:lpstr>LITERATURE SURVEY</vt:lpstr>
      <vt:lpstr>LITERATURE SURVEY</vt:lpstr>
      <vt:lpstr>LITERATURE SURVEY</vt:lpstr>
      <vt:lpstr>LITERATURE SURVEY</vt:lpstr>
      <vt:lpstr>Conclusion</vt:lpstr>
      <vt:lpstr>References</vt:lpstr>
      <vt:lpstr>References</vt:lpstr>
      <vt:lpstr>Bibliography</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new method for flow-based network intrusion detection using the inverse Potts model </dc:title>
  <dc:creator>EGC</dc:creator>
  <cp:lastModifiedBy>Surekha M</cp:lastModifiedBy>
  <cp:revision>828</cp:revision>
  <dcterms:created xsi:type="dcterms:W3CDTF">2021-12-17T07:36:29Z</dcterms:created>
  <dcterms:modified xsi:type="dcterms:W3CDTF">2025-02-25T07:31:09Z</dcterms:modified>
</cp:coreProperties>
</file>